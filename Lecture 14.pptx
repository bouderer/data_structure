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91" r:id="rId3"/>
    <p:sldId id="264" r:id="rId4"/>
    <p:sldId id="265" r:id="rId5"/>
    <p:sldId id="266" r:id="rId6"/>
    <p:sldId id="267" r:id="rId7"/>
    <p:sldId id="269" r:id="rId8"/>
    <p:sldId id="270" r:id="rId9"/>
    <p:sldId id="271" r:id="rId10"/>
    <p:sldId id="272" r:id="rId11"/>
    <p:sldId id="275" r:id="rId12"/>
    <p:sldId id="292" r:id="rId13"/>
    <p:sldId id="273" r:id="rId14"/>
    <p:sldId id="276" r:id="rId15"/>
    <p:sldId id="277" r:id="rId16"/>
    <p:sldId id="279" r:id="rId17"/>
    <p:sldId id="278" r:id="rId18"/>
    <p:sldId id="280" r:id="rId19"/>
    <p:sldId id="281" r:id="rId20"/>
    <p:sldId id="282" r:id="rId21"/>
    <p:sldId id="263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699" autoAdjust="0"/>
  </p:normalViewPr>
  <p:slideViewPr>
    <p:cSldViewPr>
      <p:cViewPr varScale="1">
        <p:scale>
          <a:sx n="87" d="100"/>
          <a:sy n="87" d="100"/>
        </p:scale>
        <p:origin x="399" y="4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1D4C8-AD22-4880-9484-3393AAEA21B4}" type="datetimeFigureOut">
              <a:rPr lang="zh-CN" altLang="en-US" smtClean="0"/>
              <a:pPr/>
              <a:t>2025/11/04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5F2AC-91B5-4045-8919-6468876986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BEC3C-C740-4938-B957-964D0E0312A7}" type="datetimeFigureOut">
              <a:rPr lang="zh-CN" altLang="en-US" smtClean="0"/>
              <a:pPr/>
              <a:t>2025/11/04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86499-B8C4-4393-BB2B-FE4804D7EC6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kumimoji="0"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CA728A-43F0-49BF-8B8D-B1697E3B1699}" type="slidenum">
              <a:rPr lang="en-US" altLang="zh-CN" smtClean="0">
                <a:latin typeface="Arial" charset="0"/>
              </a:rPr>
              <a:pPr/>
              <a:t>1</a:t>
            </a:fld>
            <a:endParaRPr lang="en-US" altLang="zh-CN" smtClean="0">
              <a:latin typeface="Arial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zizhen@gmail.com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 userDrawn="1"/>
        </p:nvSpPr>
        <p:spPr bwMode="auto">
          <a:xfrm>
            <a:off x="304800" y="381001"/>
            <a:ext cx="11582400" cy="6048375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white">
          <a:xfrm>
            <a:off x="436034" y="488950"/>
            <a:ext cx="11247967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blackWhite">
          <a:xfrm>
            <a:off x="1828800" y="4500563"/>
            <a:ext cx="8534400" cy="13573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800">
              <a:latin typeface="Arial" pitchFamily="34" charset="0"/>
            </a:endParaRPr>
          </a:p>
        </p:txBody>
      </p:sp>
      <p:pic>
        <p:nvPicPr>
          <p:cNvPr id="6" name="Picture 11" descr="sysu_logo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300" y="94901"/>
            <a:ext cx="2373412" cy="67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2095530" y="4500570"/>
            <a:ext cx="8191500" cy="1027974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48" charset="2"/>
              <a:buNone/>
              <a:defRPr/>
            </a:pPr>
            <a:r>
              <a:rPr lang="en-US" altLang="zh-CN" sz="1800" b="1" dirty="0" smtClean="0">
                <a:solidFill>
                  <a:srgbClr val="3A7877"/>
                </a:solidFill>
              </a:rPr>
              <a:t>Data Structures and Algorithms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itchFamily="48" charset="2"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Zizhen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Zhang, School of Computer Science and Engineering, Sun </a:t>
            </a: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Yat-sen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University</a:t>
            </a:r>
            <a:endParaRPr kumimoji="0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itchFamily="48" charset="2"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/>
                <a:ea typeface="宋体"/>
                <a:cs typeface="+mn-cs"/>
                <a:hlinkClick r:id="rId3"/>
              </a:rPr>
              <a:t>zhangzizhen@gmail.com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1519240"/>
            <a:ext cx="103632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51" y="214314"/>
            <a:ext cx="112395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1" y="928688"/>
            <a:ext cx="112395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pic>
        <p:nvPicPr>
          <p:cNvPr id="1028" name="Picture 15" descr="C:\Documents and Settings\Administrator\桌面\Briefcase\Web程序设计与AJAX 课程\gif图片下载\英文校名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3751" y="6581776"/>
            <a:ext cx="3302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接连接符 20"/>
          <p:cNvCxnSpPr/>
          <p:nvPr/>
        </p:nvCxnSpPr>
        <p:spPr>
          <a:xfrm>
            <a:off x="476251" y="855664"/>
            <a:ext cx="11239500" cy="1587"/>
          </a:xfrm>
          <a:prstGeom prst="line">
            <a:avLst/>
          </a:prstGeom>
          <a:ln w="381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26"/>
          <p:cNvSpPr txBox="1">
            <a:spLocks noChangeArrowheads="1"/>
          </p:cNvSpPr>
          <p:nvPr/>
        </p:nvSpPr>
        <p:spPr bwMode="auto">
          <a:xfrm>
            <a:off x="5143501" y="71439"/>
            <a:ext cx="66675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1100" i="1" dirty="0" smtClean="0">
                <a:solidFill>
                  <a:srgbClr val="3A7877"/>
                </a:solidFill>
                <a:latin typeface="Arial" pitchFamily="34" charset="0"/>
              </a:rPr>
              <a:t>Data structures</a:t>
            </a:r>
            <a:r>
              <a:rPr lang="en-US" altLang="zh-CN" sz="1100" i="1" baseline="0" dirty="0" smtClean="0">
                <a:solidFill>
                  <a:srgbClr val="3A7877"/>
                </a:solidFill>
                <a:latin typeface="Arial" pitchFamily="34" charset="0"/>
              </a:rPr>
              <a:t> and algorithms</a:t>
            </a:r>
            <a:endParaRPr lang="zh-CN" altLang="en-US" sz="1100" i="1" dirty="0">
              <a:solidFill>
                <a:srgbClr val="3A7877"/>
              </a:solidFill>
              <a:latin typeface="Arial" pitchFamily="34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6868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FED218EC-7653-412D-96B2-7145C570315F}" type="slidenum">
              <a:rPr lang="en-US" altLang="zh-CN" sz="1000" b="1">
                <a:solidFill>
                  <a:srgbClr val="3A7877"/>
                </a:solidFill>
                <a:latin typeface="Arial" pitchFamily="34" charset="0"/>
              </a:rPr>
              <a:pPr algn="ctr">
                <a:defRPr/>
              </a:pPr>
              <a:t>‹#›</a:t>
            </a:fld>
            <a:r>
              <a:rPr lang="en-US" altLang="zh-CN" sz="1000" b="1" dirty="0">
                <a:solidFill>
                  <a:srgbClr val="3A7877"/>
                </a:solidFill>
                <a:latin typeface="Arial" pitchFamily="34" charset="0"/>
              </a:rPr>
              <a:t> </a:t>
            </a:r>
            <a:r>
              <a:rPr lang="en-US" altLang="zh-CN" sz="1000" b="1" dirty="0" smtClean="0">
                <a:solidFill>
                  <a:srgbClr val="3A7877"/>
                </a:solidFill>
                <a:latin typeface="Arial" pitchFamily="34" charset="0"/>
              </a:rPr>
              <a:t>/</a:t>
            </a:r>
            <a:endParaRPr lang="en-US" altLang="zh-CN" sz="1000" b="1" dirty="0">
              <a:solidFill>
                <a:srgbClr val="3A7877"/>
              </a:solidFill>
              <a:latin typeface="Arial" pitchFamily="34" charset="0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9525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28F2FBAF-9894-4EB8-8AC6-3F534D888B82}" type="datetime4">
              <a:rPr lang="en-US" altLang="zh-CN" sz="1000" b="1">
                <a:solidFill>
                  <a:srgbClr val="3A7877"/>
                </a:solidFill>
                <a:latin typeface="Arial" pitchFamily="34" charset="0"/>
              </a:rPr>
              <a:pPr algn="ctr">
                <a:defRPr/>
              </a:pPr>
              <a:t>November 4, 2025</a:t>
            </a:fld>
            <a:endParaRPr lang="en-US" altLang="zh-CN" sz="1000" b="1" dirty="0">
              <a:solidFill>
                <a:srgbClr val="3A7877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ransition spd="slow"/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itchFamily="34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宋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altLang="zh-CN" i="0" dirty="0" smtClean="0"/>
              <a:t>Lecture </a:t>
            </a:r>
            <a:r>
              <a:rPr kumimoji="0" lang="en-US" altLang="zh-CN" i="0" dirty="0" smtClean="0"/>
              <a:t>14</a:t>
            </a:r>
            <a:r>
              <a:rPr kumimoji="0" lang="en-US" altLang="zh-CN" i="0" dirty="0" smtClean="0"/>
              <a:t/>
            </a:r>
            <a:br>
              <a:rPr kumimoji="0" lang="en-US" altLang="zh-CN" i="0" dirty="0" smtClean="0"/>
            </a:br>
            <a:r>
              <a:rPr kumimoji="0" lang="en-US" altLang="zh-CN" i="0" dirty="0" smtClean="0"/>
              <a:t>Binary Trees</a:t>
            </a:r>
            <a:endParaRPr kumimoji="0" lang="zh-CN" altLang="en-US" i="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Tree Structure</a:t>
            </a:r>
          </a:p>
          <a:p>
            <a:r>
              <a:rPr lang="en-US" altLang="zh-CN" dirty="0" smtClean="0"/>
              <a:t>Binary Trees</a:t>
            </a:r>
          </a:p>
          <a:p>
            <a:pPr lvl="1"/>
            <a:r>
              <a:rPr lang="en-US" altLang="zh-CN" dirty="0" smtClean="0"/>
              <a:t>Definition</a:t>
            </a:r>
          </a:p>
          <a:p>
            <a:pPr lvl="1"/>
            <a:r>
              <a:rPr lang="en-US" altLang="zh-CN" dirty="0" smtClean="0"/>
              <a:t>Implementation of Binary Trees</a:t>
            </a:r>
          </a:p>
          <a:p>
            <a:pPr lvl="1"/>
            <a:r>
              <a:rPr lang="en-US" altLang="zh-CN" dirty="0" smtClean="0"/>
              <a:t>Traversal of Binary Trees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Tree Structure</a:t>
            </a:r>
            <a:endParaRPr lang="zh-CN" altLang="en-US" dirty="0"/>
          </a:p>
        </p:txBody>
      </p:sp>
      <p:graphicFrame>
        <p:nvGraphicFramePr>
          <p:cNvPr id="64514" name="Object 2"/>
          <p:cNvGraphicFramePr>
            <a:graphicFrameLocks noGrp="1" noChangeAspect="1"/>
          </p:cNvGraphicFramePr>
          <p:nvPr/>
        </p:nvGraphicFramePr>
        <p:xfrm>
          <a:off x="2881290" y="1142985"/>
          <a:ext cx="5857916" cy="4903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31" name="SmartDraw" r:id="rId3" imgW="2148840" imgH="1801368" progId="SmartDraw.2">
                  <p:embed/>
                </p:oleObj>
              </mc:Choice>
              <mc:Fallback>
                <p:oleObj name="SmartDraw" r:id="rId3" imgW="2148840" imgH="1801368" progId="SmartDraw.2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290" y="1142985"/>
                        <a:ext cx="5857916" cy="4903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Terminologies</a:t>
            </a:r>
            <a:endParaRPr lang="zh-CN" altLang="en-US" dirty="0"/>
          </a:p>
        </p:txBody>
      </p:sp>
      <p:graphicFrame>
        <p:nvGraphicFramePr>
          <p:cNvPr id="4" name="Object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68861728"/>
              </p:ext>
            </p:extLst>
          </p:nvPr>
        </p:nvGraphicFramePr>
        <p:xfrm>
          <a:off x="1559496" y="1052736"/>
          <a:ext cx="4895850" cy="470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5" name="SmartDraw" r:id="rId3" imgW="2633472" imgH="2528316" progId="SmartDraw.2">
                  <p:embed/>
                </p:oleObj>
              </mc:Choice>
              <mc:Fallback>
                <p:oleObj name="SmartDraw" r:id="rId3" imgW="2633472" imgH="2528316" progId="SmartDraw.2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6" y="1052736"/>
                        <a:ext cx="4895850" cy="4700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919885" y="1573198"/>
            <a:ext cx="352901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root, child, parent, leaves, siblings, </a:t>
            </a:r>
            <a:r>
              <a:rPr lang="en-US" altLang="zh-CN" sz="2400" dirty="0" err="1"/>
              <a:t>subtree</a:t>
            </a:r>
            <a:r>
              <a:rPr lang="en-US" altLang="zh-CN" sz="2400" dirty="0"/>
              <a:t>, grandparent, grandchild, ancestor, descendant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Terminologies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sz="3200" dirty="0"/>
          </a:p>
          <a:p>
            <a:endParaRPr lang="en-US" altLang="zh-CN" sz="2800" dirty="0"/>
          </a:p>
          <a:p>
            <a:endParaRPr lang="en-US" altLang="zh-CN" dirty="0" smtClean="0"/>
          </a:p>
          <a:p>
            <a:r>
              <a:rPr lang="en-US" altLang="zh-CN" sz="2000" dirty="0"/>
              <a:t>A </a:t>
            </a:r>
            <a:r>
              <a:rPr lang="en-US" altLang="zh-CN" sz="2000" b="1" i="1" dirty="0">
                <a:solidFill>
                  <a:srgbClr val="FF0000"/>
                </a:solidFill>
              </a:rPr>
              <a:t>path</a:t>
            </a:r>
            <a:r>
              <a:rPr lang="en-US" altLang="zh-CN" sz="2000" dirty="0"/>
              <a:t> from node 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to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 is defined as a sequence of nodes 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...,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 such that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is the parent of n</a:t>
            </a:r>
            <a:r>
              <a:rPr lang="en-US" altLang="zh-CN" sz="2000" baseline="-25000" dirty="0"/>
              <a:t>i+1</a:t>
            </a:r>
            <a:r>
              <a:rPr lang="en-US" altLang="zh-CN" sz="2000" dirty="0"/>
              <a:t> for 1≤i&lt;k. The </a:t>
            </a:r>
            <a:r>
              <a:rPr lang="en-US" altLang="zh-CN" sz="2000" b="1" i="1" dirty="0">
                <a:solidFill>
                  <a:srgbClr val="FF0000"/>
                </a:solidFill>
              </a:rPr>
              <a:t>length</a:t>
            </a:r>
            <a:r>
              <a:rPr lang="en-US" altLang="zh-CN" sz="2000" dirty="0"/>
              <a:t> of this path is the number of edges on the path, namely k-1. </a:t>
            </a:r>
          </a:p>
          <a:p>
            <a:pPr>
              <a:spcBef>
                <a:spcPct val="50000"/>
              </a:spcBef>
            </a:pPr>
            <a:r>
              <a:rPr lang="en-US" altLang="zh-CN" sz="2000" dirty="0"/>
              <a:t>For any node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, the </a:t>
            </a:r>
            <a:r>
              <a:rPr lang="en-US" altLang="zh-CN" sz="2000" b="1" i="1" dirty="0">
                <a:solidFill>
                  <a:srgbClr val="FF0000"/>
                </a:solidFill>
              </a:rPr>
              <a:t>depth</a:t>
            </a:r>
            <a:r>
              <a:rPr lang="en-US" altLang="zh-CN" sz="2000" b="1" i="1" dirty="0"/>
              <a:t> </a:t>
            </a:r>
            <a:r>
              <a:rPr lang="en-US" altLang="zh-CN" sz="2000" dirty="0"/>
              <a:t>of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is the length of the unique path from the root to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. The root is at depth 0. The </a:t>
            </a:r>
            <a:r>
              <a:rPr lang="en-US" altLang="zh-CN" sz="2000" b="1" i="1" dirty="0">
                <a:solidFill>
                  <a:srgbClr val="FF0000"/>
                </a:solidFill>
              </a:rPr>
              <a:t>height</a:t>
            </a:r>
            <a:r>
              <a:rPr lang="en-US" altLang="zh-CN" sz="2000" dirty="0"/>
              <a:t> of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is the length of the longest path from 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i</a:t>
            </a:r>
            <a:r>
              <a:rPr lang="en-US" altLang="zh-CN" sz="2000" dirty="0"/>
              <a:t> to a leaf. All leaves are of height 0. The height of a tree is equal to the height of the root.</a:t>
            </a:r>
            <a:endParaRPr lang="zh-CN" altLang="en-US" dirty="0"/>
          </a:p>
        </p:txBody>
      </p:sp>
      <p:graphicFrame>
        <p:nvGraphicFramePr>
          <p:cNvPr id="66562" name="Object 2"/>
          <p:cNvGraphicFramePr>
            <a:graphicFrameLocks noGrp="1" noChangeAspect="1"/>
          </p:cNvGraphicFramePr>
          <p:nvPr/>
        </p:nvGraphicFramePr>
        <p:xfrm>
          <a:off x="2166910" y="928670"/>
          <a:ext cx="8018158" cy="321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79" name="SmartDraw" r:id="rId3" imgW="4279392" imgH="1717548" progId="SmartDraw.2">
                  <p:embed/>
                </p:oleObj>
              </mc:Choice>
              <mc:Fallback>
                <p:oleObj name="SmartDraw" r:id="rId3" imgW="4279392" imgH="1717548" progId="SmartDraw.2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10" y="928670"/>
                        <a:ext cx="8018158" cy="32147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Binary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There is one empty binary tree, one binary tree with one node, and two with two nodes:</a:t>
            </a:r>
          </a:p>
          <a:p>
            <a:endParaRPr lang="en-US" altLang="zh-CN" dirty="0" smtClean="0"/>
          </a:p>
          <a:p>
            <a:endParaRPr lang="en-US" altLang="zh-CN" sz="2000" dirty="0"/>
          </a:p>
          <a:p>
            <a:endParaRPr lang="en-US" altLang="zh-CN" dirty="0" smtClean="0"/>
          </a:p>
          <a:p>
            <a:r>
              <a:rPr lang="en-US" altLang="zh-CN" dirty="0" smtClean="0"/>
              <a:t>The binary trees with three nodes are:</a:t>
            </a:r>
            <a:endParaRPr lang="zh-CN" altLang="en-US" dirty="0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4034" y="966780"/>
            <a:ext cx="80962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7043" y="3068960"/>
            <a:ext cx="50196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1224" y="4714884"/>
            <a:ext cx="7286676" cy="1792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Expression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i="1" dirty="0" smtClean="0">
                <a:solidFill>
                  <a:srgbClr val="FF0000"/>
                </a:solidFill>
              </a:rPr>
              <a:t>An expression tree </a:t>
            </a:r>
            <a:r>
              <a:rPr lang="en-US" altLang="zh-CN" dirty="0" smtClean="0"/>
              <a:t>is a binary tree such that every node is labeled by a binary operator or unary operator, its left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 denotes its left operand and right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 its right operand.</a:t>
            </a:r>
          </a:p>
          <a:p>
            <a:endParaRPr lang="zh-CN" altLang="en-US" dirty="0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38414" y="2204864"/>
            <a:ext cx="6643734" cy="415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Binary Trees: Sequential Storage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The root of the tree is in position 0 of the list, then the left and right children of the node in position </a:t>
            </a:r>
            <a:r>
              <a:rPr lang="en-US" altLang="zh-CN" i="1" dirty="0" smtClean="0"/>
              <a:t>k</a:t>
            </a:r>
            <a:r>
              <a:rPr lang="en-US" altLang="zh-CN" dirty="0" smtClean="0"/>
              <a:t> are in positions 2</a:t>
            </a:r>
            <a:r>
              <a:rPr lang="en-US" altLang="zh-CN" i="1" dirty="0" smtClean="0"/>
              <a:t>k</a:t>
            </a:r>
            <a:r>
              <a:rPr lang="en-US" altLang="zh-CN" dirty="0" smtClean="0"/>
              <a:t>+1 and 2</a:t>
            </a:r>
            <a:r>
              <a:rPr lang="en-US" altLang="zh-CN" i="1" dirty="0" smtClean="0"/>
              <a:t>k</a:t>
            </a:r>
            <a:r>
              <a:rPr lang="en-US" altLang="zh-CN" dirty="0" smtClean="0"/>
              <a:t>+2 of the list, respectively.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sz="2000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The tree of height </a:t>
            </a:r>
            <a:r>
              <a:rPr lang="en-US" altLang="zh-CN" i="1" dirty="0" smtClean="0"/>
              <a:t>k</a:t>
            </a:r>
            <a:r>
              <a:rPr lang="en-US" altLang="zh-CN" dirty="0" smtClean="0"/>
              <a:t> needs 2</a:t>
            </a:r>
            <a:r>
              <a:rPr lang="en-US" altLang="zh-CN" i="1" baseline="30000" dirty="0" smtClean="0"/>
              <a:t>k</a:t>
            </a:r>
            <a:r>
              <a:rPr lang="en-US" altLang="zh-CN" dirty="0" smtClean="0"/>
              <a:t> spaces. </a:t>
            </a:r>
            <a:r>
              <a:rPr lang="en-US" altLang="zh-CN" dirty="0" smtClean="0">
                <a:solidFill>
                  <a:srgbClr val="FF0000"/>
                </a:solidFill>
              </a:rPr>
              <a:t>Not effective!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025518"/>
              </p:ext>
            </p:extLst>
          </p:nvPr>
        </p:nvGraphicFramePr>
        <p:xfrm>
          <a:off x="2644746" y="1851664"/>
          <a:ext cx="635798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579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^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^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^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^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CN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7688" y="2708920"/>
            <a:ext cx="4357718" cy="295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/>
              <a:t>Linked Implementation of Binary Trees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 natural implementation is in linked storage. A node has two pointers that denote its left and right </a:t>
            </a:r>
            <a:r>
              <a:rPr lang="en-US" altLang="zh-CN" dirty="0" err="1" smtClean="0"/>
              <a:t>subtrees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35960" y="1933592"/>
            <a:ext cx="5688632" cy="41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1384" y="1933592"/>
            <a:ext cx="4464496" cy="2505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Linked Binary Tree Specifications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b="1" dirty="0" smtClean="0"/>
              <a:t>	Binary tree class:			Binary node class:</a:t>
            </a:r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endParaRPr lang="en-US" altLang="zh-CN" b="1" dirty="0" smtClean="0"/>
          </a:p>
          <a:p>
            <a:pPr>
              <a:buNone/>
            </a:pPr>
            <a:r>
              <a:rPr lang="en-US" altLang="zh-CN" b="1" dirty="0" smtClean="0"/>
              <a:t>	Node structure:</a:t>
            </a:r>
            <a:endParaRPr lang="zh-CN" altLang="en-US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0886" y="1452697"/>
            <a:ext cx="3923595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3190" y="1500174"/>
            <a:ext cx="3571900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70886" y="4941168"/>
            <a:ext cx="3259689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9376" y="214314"/>
            <a:ext cx="11233248" cy="642937"/>
          </a:xfrm>
        </p:spPr>
        <p:txBody>
          <a:bodyPr/>
          <a:lstStyle/>
          <a:p>
            <a:r>
              <a:rPr lang="en-US" altLang="zh-CN" dirty="0" smtClean="0"/>
              <a:t>Binary Tree with/without Head Node</a:t>
            </a:r>
            <a:endParaRPr lang="zh-CN" altLang="en-US" dirty="0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79776" y="980728"/>
            <a:ext cx="3286148" cy="237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9786" y="3526997"/>
            <a:ext cx="6462810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Traversal of Binary Trees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At a given node there are three tasks to do in some order: Visit the node itself (</a:t>
            </a:r>
            <a:r>
              <a:rPr lang="en-US" altLang="zh-CN" i="1" dirty="0" smtClean="0"/>
              <a:t>V)</a:t>
            </a:r>
            <a:r>
              <a:rPr lang="en-US" altLang="zh-CN" dirty="0" smtClean="0"/>
              <a:t>; traverse its left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 </a:t>
            </a:r>
            <a:r>
              <a:rPr lang="en-US" altLang="zh-CN" i="1" dirty="0" smtClean="0"/>
              <a:t>(L); </a:t>
            </a:r>
            <a:r>
              <a:rPr lang="en-US" altLang="zh-CN" dirty="0" smtClean="0"/>
              <a:t>traverse its right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 (</a:t>
            </a:r>
            <a:r>
              <a:rPr lang="en-US" altLang="zh-CN" i="1" dirty="0" smtClean="0"/>
              <a:t>R).</a:t>
            </a:r>
            <a:r>
              <a:rPr lang="en-US" altLang="zh-CN" dirty="0" smtClean="0"/>
              <a:t> There are six ways to arrange these tasks:</a:t>
            </a:r>
          </a:p>
          <a:p>
            <a:pPr>
              <a:buNone/>
            </a:pPr>
            <a:r>
              <a:rPr lang="pt-BR" altLang="zh-CN" i="1" dirty="0" smtClean="0"/>
              <a:t>	(V L R)  (L V R)  (L R V)  (V R L)  (R V L)  (R L V)</a:t>
            </a:r>
          </a:p>
          <a:p>
            <a:r>
              <a:rPr lang="en-US" altLang="zh-CN" dirty="0" smtClean="0"/>
              <a:t>By standard convention, these are reduced to three by considering only the ways in which the left </a:t>
            </a:r>
            <a:r>
              <a:rPr lang="en-US" altLang="zh-CN" dirty="0" err="1" smtClean="0"/>
              <a:t>subtree</a:t>
            </a:r>
            <a:r>
              <a:rPr lang="en-US" altLang="zh-CN" dirty="0" smtClean="0"/>
              <a:t> is traversed before the right.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These three names are chosen according to the step at which the given node is visited.</a:t>
            </a:r>
          </a:p>
          <a:p>
            <a:endParaRPr lang="zh-CN" altLang="en-US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1624" y="3356992"/>
            <a:ext cx="6115050" cy="1262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Tree Traversal (in-order)</a:t>
            </a:r>
            <a:endParaRPr lang="zh-CN" altLang="en-US" dirty="0"/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4868" y="1193032"/>
            <a:ext cx="6547446" cy="350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78"/>
          <p:cNvSpPr txBox="1">
            <a:spLocks noChangeArrowheads="1"/>
          </p:cNvSpPr>
          <p:nvPr/>
        </p:nvSpPr>
        <p:spPr bwMode="auto">
          <a:xfrm>
            <a:off x="7289859" y="4740989"/>
            <a:ext cx="4833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in-order: G, D, H, B, A, E, I, C, F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7536160" y="1556792"/>
            <a:ext cx="3594869" cy="2827321"/>
            <a:chOff x="477065" y="3571878"/>
            <a:chExt cx="3594869" cy="2827321"/>
          </a:xfrm>
        </p:grpSpPr>
        <p:grpSp>
          <p:nvGrpSpPr>
            <p:cNvPr id="8" name="Group 5"/>
            <p:cNvGrpSpPr>
              <a:grpSpLocks/>
            </p:cNvGrpSpPr>
            <p:nvPr/>
          </p:nvGrpSpPr>
          <p:grpSpPr bwMode="auto">
            <a:xfrm>
              <a:off x="2280612" y="3571878"/>
              <a:ext cx="451597" cy="433718"/>
              <a:chOff x="1020" y="2387"/>
              <a:chExt cx="318" cy="305"/>
            </a:xfrm>
          </p:grpSpPr>
          <p:sp>
            <p:nvSpPr>
              <p:cNvPr id="41" name="Oval 6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Text Box 7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</p:grpSp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1571974" y="4410872"/>
              <a:ext cx="451597" cy="433718"/>
              <a:chOff x="1020" y="2387"/>
              <a:chExt cx="318" cy="305"/>
            </a:xfrm>
          </p:grpSpPr>
          <p:sp>
            <p:nvSpPr>
              <p:cNvPr id="39" name="Oval 9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Text Box 10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</p:grpSp>
        <p:grpSp>
          <p:nvGrpSpPr>
            <p:cNvPr id="10" name="Group 14"/>
            <p:cNvGrpSpPr>
              <a:grpSpLocks/>
            </p:cNvGrpSpPr>
            <p:nvPr/>
          </p:nvGrpSpPr>
          <p:grpSpPr bwMode="auto">
            <a:xfrm>
              <a:off x="928662" y="5184453"/>
              <a:ext cx="451597" cy="433718"/>
              <a:chOff x="1020" y="2387"/>
              <a:chExt cx="318" cy="305"/>
            </a:xfrm>
          </p:grpSpPr>
          <p:sp>
            <p:nvSpPr>
              <p:cNvPr id="37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11" name="Group 17"/>
            <p:cNvGrpSpPr>
              <a:grpSpLocks/>
            </p:cNvGrpSpPr>
            <p:nvPr/>
          </p:nvGrpSpPr>
          <p:grpSpPr bwMode="auto">
            <a:xfrm>
              <a:off x="3118481" y="4410872"/>
              <a:ext cx="451597" cy="433718"/>
              <a:chOff x="1020" y="2387"/>
              <a:chExt cx="318" cy="305"/>
            </a:xfrm>
          </p:grpSpPr>
          <p:sp>
            <p:nvSpPr>
              <p:cNvPr id="35" name="Oval 18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Text Box 19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  <p:grpSp>
          <p:nvGrpSpPr>
            <p:cNvPr id="12" name="Group 20"/>
            <p:cNvGrpSpPr>
              <a:grpSpLocks/>
            </p:cNvGrpSpPr>
            <p:nvPr/>
          </p:nvGrpSpPr>
          <p:grpSpPr bwMode="auto">
            <a:xfrm>
              <a:off x="3000364" y="5965481"/>
              <a:ext cx="451597" cy="433718"/>
              <a:chOff x="1020" y="2387"/>
              <a:chExt cx="318" cy="305"/>
            </a:xfrm>
          </p:grpSpPr>
          <p:sp>
            <p:nvSpPr>
              <p:cNvPr id="33" name="Oval 21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22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I</a:t>
                </a:r>
              </a:p>
            </p:txBody>
          </p:sp>
        </p:grpSp>
        <p:grpSp>
          <p:nvGrpSpPr>
            <p:cNvPr id="13" name="Group 26"/>
            <p:cNvGrpSpPr>
              <a:grpSpLocks/>
            </p:cNvGrpSpPr>
            <p:nvPr/>
          </p:nvGrpSpPr>
          <p:grpSpPr bwMode="auto">
            <a:xfrm>
              <a:off x="2763081" y="5173114"/>
              <a:ext cx="451597" cy="433718"/>
              <a:chOff x="1020" y="2387"/>
              <a:chExt cx="318" cy="305"/>
            </a:xfrm>
          </p:grpSpPr>
          <p:sp>
            <p:nvSpPr>
              <p:cNvPr id="31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</p:grpSp>
        <p:grpSp>
          <p:nvGrpSpPr>
            <p:cNvPr id="14" name="Group 29"/>
            <p:cNvGrpSpPr>
              <a:grpSpLocks/>
            </p:cNvGrpSpPr>
            <p:nvPr/>
          </p:nvGrpSpPr>
          <p:grpSpPr bwMode="auto">
            <a:xfrm>
              <a:off x="3620337" y="5143514"/>
              <a:ext cx="451597" cy="433718"/>
              <a:chOff x="1020" y="2387"/>
              <a:chExt cx="318" cy="305"/>
            </a:xfrm>
          </p:grpSpPr>
          <p:sp>
            <p:nvSpPr>
              <p:cNvPr id="29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F</a:t>
                </a:r>
              </a:p>
            </p:txBody>
          </p:sp>
        </p:grp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 flipH="1">
              <a:off x="1959666" y="3894675"/>
              <a:ext cx="450177" cy="580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4"/>
            <p:cNvSpPr>
              <a:spLocks noChangeShapeType="1"/>
            </p:cNvSpPr>
            <p:nvPr/>
          </p:nvSpPr>
          <p:spPr bwMode="auto">
            <a:xfrm>
              <a:off x="2668304" y="3894675"/>
              <a:ext cx="643312" cy="516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5"/>
            <p:cNvSpPr>
              <a:spLocks noChangeShapeType="1"/>
            </p:cNvSpPr>
            <p:nvPr/>
          </p:nvSpPr>
          <p:spPr bwMode="auto">
            <a:xfrm flipH="1">
              <a:off x="1251028" y="4732248"/>
              <a:ext cx="450177" cy="452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3064269" y="5584377"/>
              <a:ext cx="258461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8"/>
            <p:cNvSpPr>
              <a:spLocks noChangeShapeType="1"/>
            </p:cNvSpPr>
            <p:nvPr/>
          </p:nvSpPr>
          <p:spPr bwMode="auto">
            <a:xfrm flipH="1">
              <a:off x="2973814" y="4786322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9"/>
            <p:cNvSpPr>
              <a:spLocks noChangeShapeType="1"/>
            </p:cNvSpPr>
            <p:nvPr/>
          </p:nvSpPr>
          <p:spPr bwMode="auto">
            <a:xfrm>
              <a:off x="3489316" y="4786322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Group 26"/>
            <p:cNvGrpSpPr>
              <a:grpSpLocks/>
            </p:cNvGrpSpPr>
            <p:nvPr/>
          </p:nvGrpSpPr>
          <p:grpSpPr bwMode="auto">
            <a:xfrm>
              <a:off x="477065" y="5952383"/>
              <a:ext cx="451597" cy="433718"/>
              <a:chOff x="1020" y="2387"/>
              <a:chExt cx="318" cy="305"/>
            </a:xfrm>
          </p:grpSpPr>
          <p:sp>
            <p:nvSpPr>
              <p:cNvPr id="27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G</a:t>
                </a:r>
              </a:p>
            </p:txBody>
          </p:sp>
        </p:grpSp>
        <p:grpSp>
          <p:nvGrpSpPr>
            <p:cNvPr id="22" name="Group 29"/>
            <p:cNvGrpSpPr>
              <a:grpSpLocks/>
            </p:cNvGrpSpPr>
            <p:nvPr/>
          </p:nvGrpSpPr>
          <p:grpSpPr bwMode="auto">
            <a:xfrm>
              <a:off x="1334321" y="5922783"/>
              <a:ext cx="451597" cy="433718"/>
              <a:chOff x="1020" y="2387"/>
              <a:chExt cx="318" cy="305"/>
            </a:xfrm>
          </p:grpSpPr>
          <p:sp>
            <p:nvSpPr>
              <p:cNvPr id="25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H</a:t>
                </a:r>
              </a:p>
            </p:txBody>
          </p:sp>
        </p:grpSp>
        <p:sp>
          <p:nvSpPr>
            <p:cNvPr id="23" name="Line 38"/>
            <p:cNvSpPr>
              <a:spLocks noChangeShapeType="1"/>
            </p:cNvSpPr>
            <p:nvPr/>
          </p:nvSpPr>
          <p:spPr bwMode="auto">
            <a:xfrm flipH="1">
              <a:off x="687798" y="5572140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39"/>
            <p:cNvSpPr>
              <a:spLocks noChangeShapeType="1"/>
            </p:cNvSpPr>
            <p:nvPr/>
          </p:nvSpPr>
          <p:spPr bwMode="auto">
            <a:xfrm>
              <a:off x="1203300" y="5572140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Tree Traversal (pre-order)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400" y="1165972"/>
            <a:ext cx="6485201" cy="3611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7087415" y="4587611"/>
            <a:ext cx="4792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pre-order: A, B, D, G, H, C, E, I, F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608168" y="1321759"/>
            <a:ext cx="3594869" cy="2827321"/>
            <a:chOff x="477065" y="3571878"/>
            <a:chExt cx="3594869" cy="2827321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2280612" y="3571878"/>
              <a:ext cx="451597" cy="433718"/>
              <a:chOff x="1020" y="2387"/>
              <a:chExt cx="318" cy="305"/>
            </a:xfrm>
          </p:grpSpPr>
          <p:sp>
            <p:nvSpPr>
              <p:cNvPr id="40" name="Oval 6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Text Box 7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</p:grp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1571974" y="4410872"/>
              <a:ext cx="451597" cy="433718"/>
              <a:chOff x="1020" y="2387"/>
              <a:chExt cx="318" cy="305"/>
            </a:xfrm>
          </p:grpSpPr>
          <p:sp>
            <p:nvSpPr>
              <p:cNvPr id="38" name="Oval 9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Text Box 10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</p:grpSp>
        <p:grpSp>
          <p:nvGrpSpPr>
            <p:cNvPr id="9" name="Group 14"/>
            <p:cNvGrpSpPr>
              <a:grpSpLocks/>
            </p:cNvGrpSpPr>
            <p:nvPr/>
          </p:nvGrpSpPr>
          <p:grpSpPr bwMode="auto">
            <a:xfrm>
              <a:off x="928662" y="5184453"/>
              <a:ext cx="451597" cy="433718"/>
              <a:chOff x="1020" y="2387"/>
              <a:chExt cx="318" cy="305"/>
            </a:xfrm>
          </p:grpSpPr>
          <p:sp>
            <p:nvSpPr>
              <p:cNvPr id="36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10" name="Group 17"/>
            <p:cNvGrpSpPr>
              <a:grpSpLocks/>
            </p:cNvGrpSpPr>
            <p:nvPr/>
          </p:nvGrpSpPr>
          <p:grpSpPr bwMode="auto">
            <a:xfrm>
              <a:off x="3118481" y="4410872"/>
              <a:ext cx="451597" cy="433718"/>
              <a:chOff x="1020" y="2387"/>
              <a:chExt cx="318" cy="305"/>
            </a:xfrm>
          </p:grpSpPr>
          <p:sp>
            <p:nvSpPr>
              <p:cNvPr id="34" name="Oval 18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19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  <p:grpSp>
          <p:nvGrpSpPr>
            <p:cNvPr id="11" name="Group 20"/>
            <p:cNvGrpSpPr>
              <a:grpSpLocks/>
            </p:cNvGrpSpPr>
            <p:nvPr/>
          </p:nvGrpSpPr>
          <p:grpSpPr bwMode="auto">
            <a:xfrm>
              <a:off x="3000364" y="5965481"/>
              <a:ext cx="451597" cy="433718"/>
              <a:chOff x="1020" y="2387"/>
              <a:chExt cx="318" cy="305"/>
            </a:xfrm>
          </p:grpSpPr>
          <p:sp>
            <p:nvSpPr>
              <p:cNvPr id="32" name="Oval 21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Text Box 22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I</a:t>
                </a:r>
              </a:p>
            </p:txBody>
          </p:sp>
        </p:grpSp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2763081" y="5173114"/>
              <a:ext cx="451597" cy="433718"/>
              <a:chOff x="1020" y="2387"/>
              <a:chExt cx="318" cy="305"/>
            </a:xfrm>
          </p:grpSpPr>
          <p:sp>
            <p:nvSpPr>
              <p:cNvPr id="30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</p:grpSp>
        <p:grpSp>
          <p:nvGrpSpPr>
            <p:cNvPr id="13" name="Group 29"/>
            <p:cNvGrpSpPr>
              <a:grpSpLocks/>
            </p:cNvGrpSpPr>
            <p:nvPr/>
          </p:nvGrpSpPr>
          <p:grpSpPr bwMode="auto">
            <a:xfrm>
              <a:off x="3620337" y="5143514"/>
              <a:ext cx="451597" cy="433718"/>
              <a:chOff x="1020" y="2387"/>
              <a:chExt cx="318" cy="305"/>
            </a:xfrm>
          </p:grpSpPr>
          <p:sp>
            <p:nvSpPr>
              <p:cNvPr id="28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F</a:t>
                </a:r>
              </a:p>
            </p:txBody>
          </p:sp>
        </p:grp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 flipH="1">
              <a:off x="1959666" y="3894675"/>
              <a:ext cx="450177" cy="580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34"/>
            <p:cNvSpPr>
              <a:spLocks noChangeShapeType="1"/>
            </p:cNvSpPr>
            <p:nvPr/>
          </p:nvSpPr>
          <p:spPr bwMode="auto">
            <a:xfrm>
              <a:off x="2668304" y="3894675"/>
              <a:ext cx="643312" cy="516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5"/>
            <p:cNvSpPr>
              <a:spLocks noChangeShapeType="1"/>
            </p:cNvSpPr>
            <p:nvPr/>
          </p:nvSpPr>
          <p:spPr bwMode="auto">
            <a:xfrm flipH="1">
              <a:off x="1251028" y="4732248"/>
              <a:ext cx="450177" cy="452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6"/>
            <p:cNvSpPr>
              <a:spLocks noChangeShapeType="1"/>
            </p:cNvSpPr>
            <p:nvPr/>
          </p:nvSpPr>
          <p:spPr bwMode="auto">
            <a:xfrm>
              <a:off x="3064269" y="5584377"/>
              <a:ext cx="258461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8"/>
            <p:cNvSpPr>
              <a:spLocks noChangeShapeType="1"/>
            </p:cNvSpPr>
            <p:nvPr/>
          </p:nvSpPr>
          <p:spPr bwMode="auto">
            <a:xfrm flipH="1">
              <a:off x="2973814" y="4786322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9"/>
            <p:cNvSpPr>
              <a:spLocks noChangeShapeType="1"/>
            </p:cNvSpPr>
            <p:nvPr/>
          </p:nvSpPr>
          <p:spPr bwMode="auto">
            <a:xfrm>
              <a:off x="3489316" y="4786322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6"/>
            <p:cNvGrpSpPr>
              <a:grpSpLocks/>
            </p:cNvGrpSpPr>
            <p:nvPr/>
          </p:nvGrpSpPr>
          <p:grpSpPr bwMode="auto">
            <a:xfrm>
              <a:off x="477065" y="5952383"/>
              <a:ext cx="451597" cy="433718"/>
              <a:chOff x="1020" y="2387"/>
              <a:chExt cx="318" cy="305"/>
            </a:xfrm>
          </p:grpSpPr>
          <p:sp>
            <p:nvSpPr>
              <p:cNvPr id="26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G</a:t>
                </a:r>
              </a:p>
            </p:txBody>
          </p:sp>
        </p:grpSp>
        <p:grpSp>
          <p:nvGrpSpPr>
            <p:cNvPr id="21" name="Group 29"/>
            <p:cNvGrpSpPr>
              <a:grpSpLocks/>
            </p:cNvGrpSpPr>
            <p:nvPr/>
          </p:nvGrpSpPr>
          <p:grpSpPr bwMode="auto">
            <a:xfrm>
              <a:off x="1334321" y="5922783"/>
              <a:ext cx="451597" cy="433718"/>
              <a:chOff x="1020" y="2387"/>
              <a:chExt cx="318" cy="305"/>
            </a:xfrm>
          </p:grpSpPr>
          <p:sp>
            <p:nvSpPr>
              <p:cNvPr id="24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H</a:t>
                </a:r>
              </a:p>
            </p:txBody>
          </p:sp>
        </p:grpSp>
        <p:sp>
          <p:nvSpPr>
            <p:cNvPr id="22" name="Line 38"/>
            <p:cNvSpPr>
              <a:spLocks noChangeShapeType="1"/>
            </p:cNvSpPr>
            <p:nvPr/>
          </p:nvSpPr>
          <p:spPr bwMode="auto">
            <a:xfrm flipH="1">
              <a:off x="687798" y="5572140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9"/>
            <p:cNvSpPr>
              <a:spLocks noChangeShapeType="1"/>
            </p:cNvSpPr>
            <p:nvPr/>
          </p:nvSpPr>
          <p:spPr bwMode="auto">
            <a:xfrm>
              <a:off x="1203300" y="5572140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Tree Traversal (post-order)</a:t>
            </a:r>
            <a:endParaRPr lang="zh-CN" alt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6990" y="1071546"/>
            <a:ext cx="6215106" cy="350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78"/>
          <p:cNvSpPr txBox="1">
            <a:spLocks noChangeArrowheads="1"/>
          </p:cNvSpPr>
          <p:nvPr/>
        </p:nvSpPr>
        <p:spPr bwMode="auto">
          <a:xfrm>
            <a:off x="7015407" y="4485916"/>
            <a:ext cx="50806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post-order: G, H, D, B, I, E, F, C, A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680176" y="1412776"/>
            <a:ext cx="3594869" cy="2827321"/>
            <a:chOff x="477065" y="3571878"/>
            <a:chExt cx="3594869" cy="2827321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2280612" y="3571878"/>
              <a:ext cx="451597" cy="433718"/>
              <a:chOff x="1020" y="2387"/>
              <a:chExt cx="318" cy="305"/>
            </a:xfrm>
          </p:grpSpPr>
          <p:sp>
            <p:nvSpPr>
              <p:cNvPr id="40" name="Oval 6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Text Box 7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</p:grp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1571974" y="4410872"/>
              <a:ext cx="451597" cy="433718"/>
              <a:chOff x="1020" y="2387"/>
              <a:chExt cx="318" cy="305"/>
            </a:xfrm>
          </p:grpSpPr>
          <p:sp>
            <p:nvSpPr>
              <p:cNvPr id="38" name="Oval 9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Text Box 10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</p:grpSp>
        <p:grpSp>
          <p:nvGrpSpPr>
            <p:cNvPr id="9" name="Group 14"/>
            <p:cNvGrpSpPr>
              <a:grpSpLocks/>
            </p:cNvGrpSpPr>
            <p:nvPr/>
          </p:nvGrpSpPr>
          <p:grpSpPr bwMode="auto">
            <a:xfrm>
              <a:off x="928662" y="5184453"/>
              <a:ext cx="451597" cy="433718"/>
              <a:chOff x="1020" y="2387"/>
              <a:chExt cx="318" cy="305"/>
            </a:xfrm>
          </p:grpSpPr>
          <p:sp>
            <p:nvSpPr>
              <p:cNvPr id="36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10" name="Group 17"/>
            <p:cNvGrpSpPr>
              <a:grpSpLocks/>
            </p:cNvGrpSpPr>
            <p:nvPr/>
          </p:nvGrpSpPr>
          <p:grpSpPr bwMode="auto">
            <a:xfrm>
              <a:off x="3118481" y="4410872"/>
              <a:ext cx="451597" cy="433718"/>
              <a:chOff x="1020" y="2387"/>
              <a:chExt cx="318" cy="305"/>
            </a:xfrm>
          </p:grpSpPr>
          <p:sp>
            <p:nvSpPr>
              <p:cNvPr id="34" name="Oval 18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19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  <p:grpSp>
          <p:nvGrpSpPr>
            <p:cNvPr id="11" name="Group 20"/>
            <p:cNvGrpSpPr>
              <a:grpSpLocks/>
            </p:cNvGrpSpPr>
            <p:nvPr/>
          </p:nvGrpSpPr>
          <p:grpSpPr bwMode="auto">
            <a:xfrm>
              <a:off x="3000364" y="5965481"/>
              <a:ext cx="451597" cy="433718"/>
              <a:chOff x="1020" y="2387"/>
              <a:chExt cx="318" cy="305"/>
            </a:xfrm>
          </p:grpSpPr>
          <p:sp>
            <p:nvSpPr>
              <p:cNvPr id="32" name="Oval 21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Text Box 22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I</a:t>
                </a:r>
              </a:p>
            </p:txBody>
          </p:sp>
        </p:grpSp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2763081" y="5173114"/>
              <a:ext cx="451597" cy="433718"/>
              <a:chOff x="1020" y="2387"/>
              <a:chExt cx="318" cy="305"/>
            </a:xfrm>
          </p:grpSpPr>
          <p:sp>
            <p:nvSpPr>
              <p:cNvPr id="30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</p:grpSp>
        <p:grpSp>
          <p:nvGrpSpPr>
            <p:cNvPr id="13" name="Group 29"/>
            <p:cNvGrpSpPr>
              <a:grpSpLocks/>
            </p:cNvGrpSpPr>
            <p:nvPr/>
          </p:nvGrpSpPr>
          <p:grpSpPr bwMode="auto">
            <a:xfrm>
              <a:off x="3620337" y="5143514"/>
              <a:ext cx="451597" cy="433718"/>
              <a:chOff x="1020" y="2387"/>
              <a:chExt cx="318" cy="305"/>
            </a:xfrm>
          </p:grpSpPr>
          <p:sp>
            <p:nvSpPr>
              <p:cNvPr id="28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F</a:t>
                </a:r>
              </a:p>
            </p:txBody>
          </p:sp>
        </p:grp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 flipH="1">
              <a:off x="1959666" y="3894675"/>
              <a:ext cx="450177" cy="580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34"/>
            <p:cNvSpPr>
              <a:spLocks noChangeShapeType="1"/>
            </p:cNvSpPr>
            <p:nvPr/>
          </p:nvSpPr>
          <p:spPr bwMode="auto">
            <a:xfrm>
              <a:off x="2668304" y="3894675"/>
              <a:ext cx="643312" cy="516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5"/>
            <p:cNvSpPr>
              <a:spLocks noChangeShapeType="1"/>
            </p:cNvSpPr>
            <p:nvPr/>
          </p:nvSpPr>
          <p:spPr bwMode="auto">
            <a:xfrm flipH="1">
              <a:off x="1251028" y="4732248"/>
              <a:ext cx="450177" cy="452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6"/>
            <p:cNvSpPr>
              <a:spLocks noChangeShapeType="1"/>
            </p:cNvSpPr>
            <p:nvPr/>
          </p:nvSpPr>
          <p:spPr bwMode="auto">
            <a:xfrm>
              <a:off x="3064269" y="5584377"/>
              <a:ext cx="258461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8"/>
            <p:cNvSpPr>
              <a:spLocks noChangeShapeType="1"/>
            </p:cNvSpPr>
            <p:nvPr/>
          </p:nvSpPr>
          <p:spPr bwMode="auto">
            <a:xfrm flipH="1">
              <a:off x="2973814" y="4786322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9"/>
            <p:cNvSpPr>
              <a:spLocks noChangeShapeType="1"/>
            </p:cNvSpPr>
            <p:nvPr/>
          </p:nvSpPr>
          <p:spPr bwMode="auto">
            <a:xfrm>
              <a:off x="3489316" y="4786322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6"/>
            <p:cNvGrpSpPr>
              <a:grpSpLocks/>
            </p:cNvGrpSpPr>
            <p:nvPr/>
          </p:nvGrpSpPr>
          <p:grpSpPr bwMode="auto">
            <a:xfrm>
              <a:off x="477065" y="5952383"/>
              <a:ext cx="451597" cy="433718"/>
              <a:chOff x="1020" y="2387"/>
              <a:chExt cx="318" cy="305"/>
            </a:xfrm>
          </p:grpSpPr>
          <p:sp>
            <p:nvSpPr>
              <p:cNvPr id="26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G</a:t>
                </a:r>
              </a:p>
            </p:txBody>
          </p:sp>
        </p:grpSp>
        <p:grpSp>
          <p:nvGrpSpPr>
            <p:cNvPr id="21" name="Group 29"/>
            <p:cNvGrpSpPr>
              <a:grpSpLocks/>
            </p:cNvGrpSpPr>
            <p:nvPr/>
          </p:nvGrpSpPr>
          <p:grpSpPr bwMode="auto">
            <a:xfrm>
              <a:off x="1334321" y="5922783"/>
              <a:ext cx="451597" cy="433718"/>
              <a:chOff x="1020" y="2387"/>
              <a:chExt cx="318" cy="305"/>
            </a:xfrm>
          </p:grpSpPr>
          <p:sp>
            <p:nvSpPr>
              <p:cNvPr id="24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H</a:t>
                </a:r>
              </a:p>
            </p:txBody>
          </p:sp>
        </p:grpSp>
        <p:sp>
          <p:nvSpPr>
            <p:cNvPr id="22" name="Line 38"/>
            <p:cNvSpPr>
              <a:spLocks noChangeShapeType="1"/>
            </p:cNvSpPr>
            <p:nvPr/>
          </p:nvSpPr>
          <p:spPr bwMode="auto">
            <a:xfrm flipH="1">
              <a:off x="687798" y="5572140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39"/>
            <p:cNvSpPr>
              <a:spLocks noChangeShapeType="1"/>
            </p:cNvSpPr>
            <p:nvPr/>
          </p:nvSpPr>
          <p:spPr bwMode="auto">
            <a:xfrm>
              <a:off x="1203300" y="5572140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Tree Traversal (level-by-level)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层次遍历：若树为空，则空操作返回，否则从树的第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层，也就是根节点开始访问，从上而下逐层遍历，在同一层中，按从左到右手的顺序对结点逐个访问。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3431704" y="1988840"/>
            <a:ext cx="3594869" cy="2827321"/>
            <a:chOff x="477065" y="3571878"/>
            <a:chExt cx="3594869" cy="2827321"/>
          </a:xfrm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2280612" y="3571878"/>
              <a:ext cx="451597" cy="433718"/>
              <a:chOff x="1020" y="2387"/>
              <a:chExt cx="318" cy="305"/>
            </a:xfrm>
          </p:grpSpPr>
          <p:sp>
            <p:nvSpPr>
              <p:cNvPr id="38" name="Oval 6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Text Box 7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</p:grp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1571974" y="4410872"/>
              <a:ext cx="451597" cy="433718"/>
              <a:chOff x="1020" y="2387"/>
              <a:chExt cx="318" cy="305"/>
            </a:xfrm>
          </p:grpSpPr>
          <p:sp>
            <p:nvSpPr>
              <p:cNvPr id="36" name="Oval 9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</p:grpSp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928662" y="5184453"/>
              <a:ext cx="451597" cy="433718"/>
              <a:chOff x="1020" y="2387"/>
              <a:chExt cx="318" cy="305"/>
            </a:xfrm>
          </p:grpSpPr>
          <p:sp>
            <p:nvSpPr>
              <p:cNvPr id="34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3118481" y="4410872"/>
              <a:ext cx="451597" cy="433718"/>
              <a:chOff x="1020" y="2387"/>
              <a:chExt cx="318" cy="305"/>
            </a:xfrm>
          </p:grpSpPr>
          <p:sp>
            <p:nvSpPr>
              <p:cNvPr id="32" name="Oval 18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Text Box 19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  <p:grpSp>
          <p:nvGrpSpPr>
            <p:cNvPr id="9" name="Group 20"/>
            <p:cNvGrpSpPr>
              <a:grpSpLocks/>
            </p:cNvGrpSpPr>
            <p:nvPr/>
          </p:nvGrpSpPr>
          <p:grpSpPr bwMode="auto">
            <a:xfrm>
              <a:off x="3000364" y="5965481"/>
              <a:ext cx="451597" cy="433718"/>
              <a:chOff x="1020" y="2387"/>
              <a:chExt cx="318" cy="305"/>
            </a:xfrm>
          </p:grpSpPr>
          <p:sp>
            <p:nvSpPr>
              <p:cNvPr id="30" name="Oval 21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Text Box 22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I</a:t>
                </a:r>
              </a:p>
            </p:txBody>
          </p:sp>
        </p:grpSp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2763081" y="5173114"/>
              <a:ext cx="451597" cy="433718"/>
              <a:chOff x="1020" y="2387"/>
              <a:chExt cx="318" cy="305"/>
            </a:xfrm>
          </p:grpSpPr>
          <p:sp>
            <p:nvSpPr>
              <p:cNvPr id="28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</p:grpSp>
        <p:grpSp>
          <p:nvGrpSpPr>
            <p:cNvPr id="11" name="Group 29"/>
            <p:cNvGrpSpPr>
              <a:grpSpLocks/>
            </p:cNvGrpSpPr>
            <p:nvPr/>
          </p:nvGrpSpPr>
          <p:grpSpPr bwMode="auto">
            <a:xfrm>
              <a:off x="3620337" y="5143514"/>
              <a:ext cx="451597" cy="433718"/>
              <a:chOff x="1020" y="2387"/>
              <a:chExt cx="318" cy="305"/>
            </a:xfrm>
          </p:grpSpPr>
          <p:sp>
            <p:nvSpPr>
              <p:cNvPr id="26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F</a:t>
                </a:r>
              </a:p>
            </p:txBody>
          </p:sp>
        </p:grpSp>
        <p:sp>
          <p:nvSpPr>
            <p:cNvPr id="12" name="Line 32"/>
            <p:cNvSpPr>
              <a:spLocks noChangeShapeType="1"/>
            </p:cNvSpPr>
            <p:nvPr/>
          </p:nvSpPr>
          <p:spPr bwMode="auto">
            <a:xfrm flipH="1">
              <a:off x="1959666" y="3894675"/>
              <a:ext cx="450177" cy="580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34"/>
            <p:cNvSpPr>
              <a:spLocks noChangeShapeType="1"/>
            </p:cNvSpPr>
            <p:nvPr/>
          </p:nvSpPr>
          <p:spPr bwMode="auto">
            <a:xfrm>
              <a:off x="2668304" y="3894675"/>
              <a:ext cx="643312" cy="516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35"/>
            <p:cNvSpPr>
              <a:spLocks noChangeShapeType="1"/>
            </p:cNvSpPr>
            <p:nvPr/>
          </p:nvSpPr>
          <p:spPr bwMode="auto">
            <a:xfrm flipH="1">
              <a:off x="1251028" y="4732248"/>
              <a:ext cx="450177" cy="452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36"/>
            <p:cNvSpPr>
              <a:spLocks noChangeShapeType="1"/>
            </p:cNvSpPr>
            <p:nvPr/>
          </p:nvSpPr>
          <p:spPr bwMode="auto">
            <a:xfrm>
              <a:off x="3064269" y="5584377"/>
              <a:ext cx="258461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38"/>
            <p:cNvSpPr>
              <a:spLocks noChangeShapeType="1"/>
            </p:cNvSpPr>
            <p:nvPr/>
          </p:nvSpPr>
          <p:spPr bwMode="auto">
            <a:xfrm flipH="1">
              <a:off x="2973814" y="4786322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9"/>
            <p:cNvSpPr>
              <a:spLocks noChangeShapeType="1"/>
            </p:cNvSpPr>
            <p:nvPr/>
          </p:nvSpPr>
          <p:spPr bwMode="auto">
            <a:xfrm>
              <a:off x="3489316" y="4786322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26"/>
            <p:cNvGrpSpPr>
              <a:grpSpLocks/>
            </p:cNvGrpSpPr>
            <p:nvPr/>
          </p:nvGrpSpPr>
          <p:grpSpPr bwMode="auto">
            <a:xfrm>
              <a:off x="477065" y="5952383"/>
              <a:ext cx="451597" cy="433718"/>
              <a:chOff x="1020" y="2387"/>
              <a:chExt cx="318" cy="305"/>
            </a:xfrm>
          </p:grpSpPr>
          <p:sp>
            <p:nvSpPr>
              <p:cNvPr id="24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G</a:t>
                </a:r>
              </a:p>
            </p:txBody>
          </p:sp>
        </p:grpSp>
        <p:grpSp>
          <p:nvGrpSpPr>
            <p:cNvPr id="19" name="Group 29"/>
            <p:cNvGrpSpPr>
              <a:grpSpLocks/>
            </p:cNvGrpSpPr>
            <p:nvPr/>
          </p:nvGrpSpPr>
          <p:grpSpPr bwMode="auto">
            <a:xfrm>
              <a:off x="1334321" y="5922783"/>
              <a:ext cx="451597" cy="433718"/>
              <a:chOff x="1020" y="2387"/>
              <a:chExt cx="318" cy="305"/>
            </a:xfrm>
          </p:grpSpPr>
          <p:sp>
            <p:nvSpPr>
              <p:cNvPr id="22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H</a:t>
                </a:r>
              </a:p>
            </p:txBody>
          </p:sp>
        </p:grpSp>
        <p:sp>
          <p:nvSpPr>
            <p:cNvPr id="20" name="Line 38"/>
            <p:cNvSpPr>
              <a:spLocks noChangeShapeType="1"/>
            </p:cNvSpPr>
            <p:nvPr/>
          </p:nvSpPr>
          <p:spPr bwMode="auto">
            <a:xfrm flipH="1">
              <a:off x="687798" y="5572140"/>
              <a:ext cx="38627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9"/>
            <p:cNvSpPr>
              <a:spLocks noChangeShapeType="1"/>
            </p:cNvSpPr>
            <p:nvPr/>
          </p:nvSpPr>
          <p:spPr bwMode="auto">
            <a:xfrm>
              <a:off x="1203300" y="5572140"/>
              <a:ext cx="322366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" name="Text Box 78"/>
          <p:cNvSpPr txBox="1">
            <a:spLocks noChangeArrowheads="1"/>
          </p:cNvSpPr>
          <p:nvPr/>
        </p:nvSpPr>
        <p:spPr bwMode="auto">
          <a:xfrm>
            <a:off x="2635245" y="4966476"/>
            <a:ext cx="54584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Level traversal: A, B, C, D, E, F, G, H, 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Tree Traversal (level-by-level)</a:t>
            </a:r>
            <a:endParaRPr lang="zh-CN" altLang="en-US" dirty="0"/>
          </a:p>
        </p:txBody>
      </p:sp>
      <p:sp>
        <p:nvSpPr>
          <p:cNvPr id="76801" name="Rectangle 1"/>
          <p:cNvSpPr>
            <a:spLocks noChangeArrowheads="1"/>
          </p:cNvSpPr>
          <p:nvPr/>
        </p:nvSpPr>
        <p:spPr bwMode="auto">
          <a:xfrm>
            <a:off x="767408" y="980728"/>
            <a:ext cx="8032968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 err="1">
                <a:solidFill>
                  <a:srgbClr val="8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struct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BinaryNode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dirty="0" err="1">
                <a:solidFill>
                  <a:srgbClr val="8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data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BinaryNode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left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right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8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void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traversal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BinaryNode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queue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&lt;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BinaryNode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*&gt;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q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BinaryNode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*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!=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NULL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q</a:t>
            </a:r>
            <a:r>
              <a:rPr lang="en-US" altLang="zh-CN" sz="2000" b="1" dirty="0" err="1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push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while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(!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q</a:t>
            </a:r>
            <a:r>
              <a:rPr lang="en-US" altLang="zh-CN" sz="2000" b="1" dirty="0" err="1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empty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())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{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cur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q</a:t>
            </a:r>
            <a:r>
              <a:rPr lang="en-US" altLang="zh-CN" sz="2000" b="1" dirty="0" err="1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front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q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pop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();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printf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808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"%d "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cur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data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left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!=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NULL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q</a:t>
            </a:r>
            <a:r>
              <a:rPr lang="en-US" altLang="zh-CN" sz="2000" b="1" dirty="0" err="1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push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left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   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if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right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!=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NULL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q</a:t>
            </a:r>
            <a:r>
              <a:rPr lang="en-US" altLang="zh-CN" sz="2000" b="1" dirty="0" err="1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.</a:t>
            </a:r>
            <a:r>
              <a:rPr lang="en-US" altLang="zh-CN" sz="2000" dirty="0" err="1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push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cur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-&gt;</a:t>
            </a: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right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);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    </a:t>
            </a: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  <a:endParaRPr lang="en-US" altLang="zh-CN" sz="16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8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}</a:t>
            </a:r>
            <a:endParaRPr lang="en-US" altLang="zh-CN" sz="4400" dirty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200" b="1" dirty="0"/>
              <a:t>Construct Binary Tree from Different Traversal Orders</a:t>
            </a:r>
            <a:endParaRPr lang="zh-CN" altLang="en-US" sz="2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Given </a:t>
            </a:r>
            <a:r>
              <a:rPr lang="en-US" altLang="zh-CN" dirty="0" err="1" smtClean="0"/>
              <a:t>inorder</a:t>
            </a:r>
            <a:r>
              <a:rPr lang="en-US" altLang="zh-CN" dirty="0" smtClean="0"/>
              <a:t> and </a:t>
            </a:r>
            <a:r>
              <a:rPr lang="en-US" altLang="zh-CN" dirty="0" err="1" smtClean="0"/>
              <a:t>postorder</a:t>
            </a:r>
            <a:r>
              <a:rPr lang="en-US" altLang="zh-CN" dirty="0" smtClean="0"/>
              <a:t> traversal of a tree, construct the binary tree.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Preorder: ABCDEF </a:t>
            </a:r>
            <a:r>
              <a:rPr lang="en-US" altLang="zh-CN" dirty="0" smtClean="0">
                <a:sym typeface="Wingdings" pitchFamily="2" charset="2"/>
              </a:rPr>
              <a:t> (A)(BC)(DEF)</a:t>
            </a:r>
            <a:endParaRPr lang="en-US" altLang="zh-CN" dirty="0" smtClean="0"/>
          </a:p>
          <a:p>
            <a:r>
              <a:rPr lang="en-US" altLang="zh-CN" dirty="0" err="1" smtClean="0"/>
              <a:t>Inorder</a:t>
            </a:r>
            <a:r>
              <a:rPr lang="en-US" altLang="zh-CN" dirty="0" smtClean="0"/>
              <a:t>: CBAEDF </a:t>
            </a:r>
            <a:r>
              <a:rPr lang="en-US" altLang="zh-CN" dirty="0" smtClean="0">
                <a:sym typeface="Wingdings" pitchFamily="2" charset="2"/>
              </a:rPr>
              <a:t> (CB)(A)(EDF)</a:t>
            </a:r>
            <a:endParaRPr lang="en-US" altLang="zh-CN" dirty="0" smtClean="0"/>
          </a:p>
          <a:p>
            <a:endParaRPr lang="zh-CN" altLang="en-US" dirty="0"/>
          </a:p>
        </p:txBody>
      </p:sp>
      <p:grpSp>
        <p:nvGrpSpPr>
          <p:cNvPr id="22" name="组合 21"/>
          <p:cNvGrpSpPr/>
          <p:nvPr/>
        </p:nvGrpSpPr>
        <p:grpSpPr>
          <a:xfrm>
            <a:off x="6600056" y="4005064"/>
            <a:ext cx="4214842" cy="2172741"/>
            <a:chOff x="571472" y="4185217"/>
            <a:chExt cx="4286280" cy="2315617"/>
          </a:xfrm>
        </p:grpSpPr>
        <p:sp>
          <p:nvSpPr>
            <p:cNvPr id="4" name="椭圆 3"/>
            <p:cNvSpPr/>
            <p:nvPr/>
          </p:nvSpPr>
          <p:spPr>
            <a:xfrm>
              <a:off x="2786050" y="4786322"/>
              <a:ext cx="2071702" cy="17145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571472" y="4714884"/>
              <a:ext cx="2071702" cy="17145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2614116" y="4185217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7" name="Oval 9"/>
            <p:cNvSpPr>
              <a:spLocks noChangeArrowheads="1"/>
            </p:cNvSpPr>
            <p:nvPr/>
          </p:nvSpPr>
          <p:spPr bwMode="auto">
            <a:xfrm>
              <a:off x="1756860" y="5214950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grpSp>
          <p:nvGrpSpPr>
            <p:cNvPr id="8" name="Group 14"/>
            <p:cNvGrpSpPr>
              <a:grpSpLocks/>
            </p:cNvGrpSpPr>
            <p:nvPr/>
          </p:nvGrpSpPr>
          <p:grpSpPr bwMode="auto">
            <a:xfrm>
              <a:off x="1000100" y="5214947"/>
              <a:ext cx="457686" cy="457892"/>
              <a:chOff x="1020" y="2387"/>
              <a:chExt cx="318" cy="322"/>
            </a:xfrm>
          </p:grpSpPr>
          <p:sp>
            <p:nvSpPr>
              <p:cNvPr id="9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  <p:grpSp>
          <p:nvGrpSpPr>
            <p:cNvPr id="11" name="Group 17"/>
            <p:cNvGrpSpPr>
              <a:grpSpLocks/>
            </p:cNvGrpSpPr>
            <p:nvPr/>
          </p:nvGrpSpPr>
          <p:grpSpPr bwMode="auto">
            <a:xfrm>
              <a:off x="3571868" y="5357823"/>
              <a:ext cx="457686" cy="457892"/>
              <a:chOff x="1020" y="2387"/>
              <a:chExt cx="318" cy="322"/>
            </a:xfrm>
          </p:grpSpPr>
          <p:sp>
            <p:nvSpPr>
              <p:cNvPr id="12" name="Oval 18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Text Box 19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14" name="Group 26"/>
            <p:cNvGrpSpPr>
              <a:grpSpLocks/>
            </p:cNvGrpSpPr>
            <p:nvPr/>
          </p:nvGrpSpPr>
          <p:grpSpPr bwMode="auto">
            <a:xfrm>
              <a:off x="3000364" y="5357823"/>
              <a:ext cx="457686" cy="457892"/>
              <a:chOff x="1020" y="2387"/>
              <a:chExt cx="318" cy="322"/>
            </a:xfrm>
          </p:grpSpPr>
          <p:sp>
            <p:nvSpPr>
              <p:cNvPr id="15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</p:grpSp>
        <p:grpSp>
          <p:nvGrpSpPr>
            <p:cNvPr id="17" name="Group 29"/>
            <p:cNvGrpSpPr>
              <a:grpSpLocks/>
            </p:cNvGrpSpPr>
            <p:nvPr/>
          </p:nvGrpSpPr>
          <p:grpSpPr bwMode="auto">
            <a:xfrm>
              <a:off x="4185752" y="5352733"/>
              <a:ext cx="457686" cy="457892"/>
              <a:chOff x="1020" y="2387"/>
              <a:chExt cx="318" cy="322"/>
            </a:xfrm>
          </p:grpSpPr>
          <p:sp>
            <p:nvSpPr>
              <p:cNvPr id="18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F</a:t>
                </a:r>
              </a:p>
            </p:txBody>
          </p:sp>
        </p:grpSp>
        <p:sp>
          <p:nvSpPr>
            <p:cNvPr id="20" name="Line 32"/>
            <p:cNvSpPr>
              <a:spLocks noChangeShapeType="1"/>
            </p:cNvSpPr>
            <p:nvPr/>
          </p:nvSpPr>
          <p:spPr bwMode="auto">
            <a:xfrm flipH="1">
              <a:off x="2357421" y="4500570"/>
              <a:ext cx="428627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4"/>
            <p:cNvSpPr>
              <a:spLocks noChangeShapeType="1"/>
            </p:cNvSpPr>
            <p:nvPr/>
          </p:nvSpPr>
          <p:spPr bwMode="auto">
            <a:xfrm>
              <a:off x="2935131" y="4496377"/>
              <a:ext cx="422423" cy="4328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组合 39"/>
          <p:cNvGrpSpPr/>
          <p:nvPr/>
        </p:nvGrpSpPr>
        <p:grpSpPr>
          <a:xfrm>
            <a:off x="2925292" y="1484784"/>
            <a:ext cx="3185652" cy="2034655"/>
            <a:chOff x="1172034" y="3899465"/>
            <a:chExt cx="3185652" cy="2034655"/>
          </a:xfrm>
        </p:grpSpPr>
        <p:sp>
          <p:nvSpPr>
            <p:cNvPr id="46" name="Oval 6"/>
            <p:cNvSpPr>
              <a:spLocks noChangeArrowheads="1"/>
            </p:cNvSpPr>
            <p:nvPr/>
          </p:nvSpPr>
          <p:spPr bwMode="auto">
            <a:xfrm>
              <a:off x="2614116" y="3899465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grpSp>
          <p:nvGrpSpPr>
            <p:cNvPr id="47" name="Group 8"/>
            <p:cNvGrpSpPr>
              <a:grpSpLocks/>
            </p:cNvGrpSpPr>
            <p:nvPr/>
          </p:nvGrpSpPr>
          <p:grpSpPr bwMode="auto">
            <a:xfrm>
              <a:off x="1824019" y="4726821"/>
              <a:ext cx="457686" cy="433718"/>
              <a:chOff x="1020" y="2387"/>
              <a:chExt cx="318" cy="305"/>
            </a:xfrm>
          </p:grpSpPr>
          <p:sp>
            <p:nvSpPr>
              <p:cNvPr id="65" name="Oval 9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Text Box 10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</p:grpSp>
        <p:grpSp>
          <p:nvGrpSpPr>
            <p:cNvPr id="48" name="Group 14"/>
            <p:cNvGrpSpPr>
              <a:grpSpLocks/>
            </p:cNvGrpSpPr>
            <p:nvPr/>
          </p:nvGrpSpPr>
          <p:grpSpPr bwMode="auto">
            <a:xfrm>
              <a:off x="1172034" y="5500402"/>
              <a:ext cx="457686" cy="433718"/>
              <a:chOff x="1020" y="2387"/>
              <a:chExt cx="318" cy="305"/>
            </a:xfrm>
          </p:grpSpPr>
          <p:sp>
            <p:nvSpPr>
              <p:cNvPr id="63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  <p:grpSp>
          <p:nvGrpSpPr>
            <p:cNvPr id="49" name="Group 17"/>
            <p:cNvGrpSpPr>
              <a:grpSpLocks/>
            </p:cNvGrpSpPr>
            <p:nvPr/>
          </p:nvGrpSpPr>
          <p:grpSpPr bwMode="auto">
            <a:xfrm>
              <a:off x="3391378" y="4726821"/>
              <a:ext cx="457686" cy="433718"/>
              <a:chOff x="1020" y="2387"/>
              <a:chExt cx="318" cy="305"/>
            </a:xfrm>
          </p:grpSpPr>
          <p:sp>
            <p:nvSpPr>
              <p:cNvPr id="61" name="Oval 18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Text Box 19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50" name="Group 26"/>
            <p:cNvGrpSpPr>
              <a:grpSpLocks/>
            </p:cNvGrpSpPr>
            <p:nvPr/>
          </p:nvGrpSpPr>
          <p:grpSpPr bwMode="auto">
            <a:xfrm>
              <a:off x="3031186" y="5489063"/>
              <a:ext cx="457686" cy="433718"/>
              <a:chOff x="1020" y="2387"/>
              <a:chExt cx="318" cy="305"/>
            </a:xfrm>
          </p:grpSpPr>
          <p:sp>
            <p:nvSpPr>
              <p:cNvPr id="59" name="Oval 27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Text Box 28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</p:grpSp>
        <p:grpSp>
          <p:nvGrpSpPr>
            <p:cNvPr id="51" name="Group 29"/>
            <p:cNvGrpSpPr>
              <a:grpSpLocks/>
            </p:cNvGrpSpPr>
            <p:nvPr/>
          </p:nvGrpSpPr>
          <p:grpSpPr bwMode="auto">
            <a:xfrm>
              <a:off x="3900000" y="5459463"/>
              <a:ext cx="457686" cy="433718"/>
              <a:chOff x="1020" y="2387"/>
              <a:chExt cx="318" cy="305"/>
            </a:xfrm>
          </p:grpSpPr>
          <p:sp>
            <p:nvSpPr>
              <p:cNvPr id="57" name="Oval 30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Text Box 31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F</a:t>
                </a:r>
              </a:p>
            </p:txBody>
          </p:sp>
        </p:grpSp>
        <p:sp>
          <p:nvSpPr>
            <p:cNvPr id="52" name="Line 32"/>
            <p:cNvSpPr>
              <a:spLocks noChangeShapeType="1"/>
            </p:cNvSpPr>
            <p:nvPr/>
          </p:nvSpPr>
          <p:spPr bwMode="auto">
            <a:xfrm flipH="1">
              <a:off x="2216938" y="4214818"/>
              <a:ext cx="569111" cy="575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4"/>
            <p:cNvSpPr>
              <a:spLocks noChangeShapeType="1"/>
            </p:cNvSpPr>
            <p:nvPr/>
          </p:nvSpPr>
          <p:spPr bwMode="auto">
            <a:xfrm>
              <a:off x="2935131" y="4210624"/>
              <a:ext cx="651986" cy="5161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5"/>
            <p:cNvSpPr>
              <a:spLocks noChangeShapeType="1"/>
            </p:cNvSpPr>
            <p:nvPr/>
          </p:nvSpPr>
          <p:spPr bwMode="auto">
            <a:xfrm flipH="1">
              <a:off x="1498746" y="5048197"/>
              <a:ext cx="456247" cy="452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8"/>
            <p:cNvSpPr>
              <a:spLocks noChangeShapeType="1"/>
            </p:cNvSpPr>
            <p:nvPr/>
          </p:nvSpPr>
          <p:spPr bwMode="auto">
            <a:xfrm flipH="1">
              <a:off x="3244760" y="5102271"/>
              <a:ext cx="391480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9"/>
            <p:cNvSpPr>
              <a:spLocks noChangeShapeType="1"/>
            </p:cNvSpPr>
            <p:nvPr/>
          </p:nvSpPr>
          <p:spPr bwMode="auto">
            <a:xfrm>
              <a:off x="3767213" y="5102271"/>
              <a:ext cx="32671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200" b="1" dirty="0"/>
              <a:t>Construct Binary Tree from Different Traversal Orders</a:t>
            </a:r>
            <a:endParaRPr lang="zh-CN" altLang="en-US" sz="2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3544" y="928671"/>
            <a:ext cx="4143374" cy="5572125"/>
          </a:xfrm>
        </p:spPr>
        <p:txBody>
          <a:bodyPr/>
          <a:lstStyle/>
          <a:p>
            <a:r>
              <a:rPr lang="en-US" altLang="zh-CN" dirty="0" smtClean="0"/>
              <a:t>Left </a:t>
            </a:r>
            <a:r>
              <a:rPr lang="en-US" altLang="zh-CN" dirty="0" err="1" smtClean="0"/>
              <a:t>Subtree</a:t>
            </a:r>
            <a:endParaRPr lang="en-US" altLang="zh-CN" dirty="0" smtClean="0"/>
          </a:p>
          <a:p>
            <a:r>
              <a:rPr lang="en-US" altLang="zh-CN" dirty="0" smtClean="0"/>
              <a:t>Preorder: BC </a:t>
            </a:r>
            <a:r>
              <a:rPr lang="en-US" altLang="zh-CN" dirty="0" smtClean="0">
                <a:sym typeface="Wingdings" pitchFamily="2" charset="2"/>
              </a:rPr>
              <a:t> (B)(C)</a:t>
            </a:r>
            <a:endParaRPr lang="en-US" altLang="zh-CN" dirty="0" smtClean="0"/>
          </a:p>
          <a:p>
            <a:r>
              <a:rPr lang="en-US" altLang="zh-CN" dirty="0" err="1" smtClean="0"/>
              <a:t>Inorder</a:t>
            </a:r>
            <a:r>
              <a:rPr lang="en-US" altLang="zh-CN" dirty="0" smtClean="0"/>
              <a:t>: CB </a:t>
            </a:r>
            <a:r>
              <a:rPr lang="en-US" altLang="zh-CN" dirty="0" smtClean="0">
                <a:sym typeface="Wingdings" pitchFamily="2" charset="2"/>
              </a:rPr>
              <a:t> (C)(B)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1176389" y="2500288"/>
            <a:ext cx="2071702" cy="1714512"/>
            <a:chOff x="571472" y="2315593"/>
            <a:chExt cx="2071702" cy="1714512"/>
          </a:xfrm>
        </p:grpSpPr>
        <p:sp>
          <p:nvSpPr>
            <p:cNvPr id="10" name="椭圆 9"/>
            <p:cNvSpPr/>
            <p:nvPr/>
          </p:nvSpPr>
          <p:spPr>
            <a:xfrm>
              <a:off x="571472" y="2315593"/>
              <a:ext cx="2071702" cy="17145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auto">
            <a:xfrm>
              <a:off x="1756860" y="2815659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grpSp>
          <p:nvGrpSpPr>
            <p:cNvPr id="12" name="Group 14"/>
            <p:cNvGrpSpPr>
              <a:grpSpLocks/>
            </p:cNvGrpSpPr>
            <p:nvPr/>
          </p:nvGrpSpPr>
          <p:grpSpPr bwMode="auto">
            <a:xfrm>
              <a:off x="1000100" y="2815659"/>
              <a:ext cx="457686" cy="433718"/>
              <a:chOff x="1020" y="2387"/>
              <a:chExt cx="318" cy="305"/>
            </a:xfrm>
          </p:grpSpPr>
          <p:sp>
            <p:nvSpPr>
              <p:cNvPr id="13" name="Oval 15"/>
              <p:cNvSpPr>
                <a:spLocks noChangeArrowheads="1"/>
              </p:cNvSpPr>
              <p:nvPr/>
            </p:nvSpPr>
            <p:spPr bwMode="auto">
              <a:xfrm>
                <a:off x="1020" y="2387"/>
                <a:ext cx="318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Text Box 16"/>
              <p:cNvSpPr txBox="1">
                <a:spLocks noChangeArrowheads="1"/>
              </p:cNvSpPr>
              <p:nvPr/>
            </p:nvSpPr>
            <p:spPr bwMode="auto">
              <a:xfrm>
                <a:off x="1066" y="2432"/>
                <a:ext cx="272" cy="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C</a:t>
                </a: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3462406" y="2786041"/>
            <a:ext cx="1109671" cy="1207301"/>
            <a:chOff x="4886810" y="5042172"/>
            <a:chExt cx="1109671" cy="1207301"/>
          </a:xfrm>
        </p:grpSpPr>
        <p:sp>
          <p:nvSpPr>
            <p:cNvPr id="19" name="Oval 9"/>
            <p:cNvSpPr>
              <a:spLocks noChangeArrowheads="1"/>
            </p:cNvSpPr>
            <p:nvPr/>
          </p:nvSpPr>
          <p:spPr bwMode="auto">
            <a:xfrm>
              <a:off x="5538795" y="5042172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5605001" y="5106163"/>
              <a:ext cx="39148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B</a:t>
              </a:r>
            </a:p>
          </p:txBody>
        </p:sp>
        <p:sp>
          <p:nvSpPr>
            <p:cNvPr id="21" name="Oval 15"/>
            <p:cNvSpPr>
              <a:spLocks noChangeArrowheads="1"/>
            </p:cNvSpPr>
            <p:nvPr/>
          </p:nvSpPr>
          <p:spPr bwMode="auto">
            <a:xfrm>
              <a:off x="4886810" y="5815755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4953016" y="5879746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C</a:t>
              </a:r>
            </a:p>
          </p:txBody>
        </p: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 flipH="1">
              <a:off x="5213522" y="5363550"/>
              <a:ext cx="456247" cy="452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内容占位符 2"/>
          <p:cNvSpPr txBox="1">
            <a:spLocks/>
          </p:cNvSpPr>
          <p:nvPr/>
        </p:nvSpPr>
        <p:spPr bwMode="auto">
          <a:xfrm>
            <a:off x="6059362" y="928671"/>
            <a:ext cx="4429126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kumimoji="1" lang="en-US" altLang="zh-CN" sz="2400" kern="0" dirty="0">
                <a:cs typeface="宋体" charset="0"/>
              </a:rPr>
              <a:t>Right </a:t>
            </a:r>
            <a:r>
              <a:rPr kumimoji="1" lang="en-US" altLang="zh-CN" sz="2400" kern="0" dirty="0" err="1">
                <a:cs typeface="宋体" charset="0"/>
              </a:rPr>
              <a:t>Subtree</a:t>
            </a:r>
            <a:endParaRPr kumimoji="1" lang="en-US" altLang="zh-CN" sz="2400" kern="0" dirty="0">
              <a:cs typeface="宋体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kumimoji="1" lang="en-US" altLang="zh-CN" sz="2400" kern="0" dirty="0">
                <a:cs typeface="宋体" charset="0"/>
              </a:rPr>
              <a:t>Preorder: DEF </a:t>
            </a:r>
            <a:r>
              <a:rPr kumimoji="1" lang="en-US" altLang="zh-CN" sz="2400" kern="0" dirty="0">
                <a:cs typeface="宋体" charset="0"/>
                <a:sym typeface="Wingdings" pitchFamily="2" charset="2"/>
              </a:rPr>
              <a:t> (D)(E)(F)</a:t>
            </a:r>
            <a:endParaRPr kumimoji="1" lang="en-US" altLang="zh-CN" sz="2400" kern="0" dirty="0">
              <a:cs typeface="宋体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kumimoji="1" lang="en-US" altLang="zh-CN" sz="2400" kern="0" dirty="0" err="1">
                <a:cs typeface="宋体" charset="0"/>
              </a:rPr>
              <a:t>Inorder</a:t>
            </a:r>
            <a:r>
              <a:rPr kumimoji="1" lang="en-US" altLang="zh-CN" sz="2400" kern="0" dirty="0">
                <a:cs typeface="宋体" charset="0"/>
              </a:rPr>
              <a:t>: EDF </a:t>
            </a:r>
            <a:r>
              <a:rPr kumimoji="1" lang="en-US" altLang="zh-CN" sz="2400" kern="0" dirty="0">
                <a:cs typeface="宋体" charset="0"/>
                <a:sym typeface="Wingdings" pitchFamily="2" charset="2"/>
              </a:rPr>
              <a:t> (E)(D)(F)</a:t>
            </a:r>
            <a:endParaRPr kumimoji="1" lang="zh-CN" altLang="en-US" sz="2400" kern="0" dirty="0">
              <a:cs typeface="宋体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453190" y="2643182"/>
            <a:ext cx="2071702" cy="1714512"/>
            <a:chOff x="3929058" y="3000372"/>
            <a:chExt cx="2071702" cy="1714512"/>
          </a:xfrm>
        </p:grpSpPr>
        <p:sp>
          <p:nvSpPr>
            <p:cNvPr id="30" name="椭圆 29"/>
            <p:cNvSpPr/>
            <p:nvPr/>
          </p:nvSpPr>
          <p:spPr>
            <a:xfrm>
              <a:off x="3929058" y="3000372"/>
              <a:ext cx="2071702" cy="171451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Oval 18"/>
            <p:cNvSpPr>
              <a:spLocks noChangeArrowheads="1"/>
            </p:cNvSpPr>
            <p:nvPr/>
          </p:nvSpPr>
          <p:spPr bwMode="auto">
            <a:xfrm>
              <a:off x="4714876" y="3648404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>
              <a:off x="4781082" y="3712395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D</a:t>
              </a:r>
            </a:p>
          </p:txBody>
        </p:sp>
        <p:sp>
          <p:nvSpPr>
            <p:cNvPr id="33" name="Oval 27"/>
            <p:cNvSpPr>
              <a:spLocks noChangeArrowheads="1"/>
            </p:cNvSpPr>
            <p:nvPr/>
          </p:nvSpPr>
          <p:spPr bwMode="auto">
            <a:xfrm>
              <a:off x="4143372" y="3648404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28"/>
            <p:cNvSpPr txBox="1">
              <a:spLocks noChangeArrowheads="1"/>
            </p:cNvSpPr>
            <p:nvPr/>
          </p:nvSpPr>
          <p:spPr bwMode="auto">
            <a:xfrm>
              <a:off x="4209578" y="3712395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E</a:t>
              </a:r>
            </a:p>
          </p:txBody>
        </p:sp>
        <p:sp>
          <p:nvSpPr>
            <p:cNvPr id="35" name="Oval 30"/>
            <p:cNvSpPr>
              <a:spLocks noChangeArrowheads="1"/>
            </p:cNvSpPr>
            <p:nvPr/>
          </p:nvSpPr>
          <p:spPr bwMode="auto">
            <a:xfrm>
              <a:off x="5328760" y="3643314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Text Box 31"/>
            <p:cNvSpPr txBox="1">
              <a:spLocks noChangeArrowheads="1"/>
            </p:cNvSpPr>
            <p:nvPr/>
          </p:nvSpPr>
          <p:spPr bwMode="auto">
            <a:xfrm>
              <a:off x="5394966" y="3707305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F</a:t>
              </a: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8810644" y="2928934"/>
            <a:ext cx="1326500" cy="1195960"/>
            <a:chOff x="7074094" y="5150659"/>
            <a:chExt cx="1326500" cy="1195960"/>
          </a:xfrm>
        </p:grpSpPr>
        <p:sp>
          <p:nvSpPr>
            <p:cNvPr id="45" name="Oval 18"/>
            <p:cNvSpPr>
              <a:spLocks noChangeArrowheads="1"/>
            </p:cNvSpPr>
            <p:nvPr/>
          </p:nvSpPr>
          <p:spPr bwMode="auto">
            <a:xfrm>
              <a:off x="7434286" y="5150659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Text Box 19"/>
            <p:cNvSpPr txBox="1">
              <a:spLocks noChangeArrowheads="1"/>
            </p:cNvSpPr>
            <p:nvPr/>
          </p:nvSpPr>
          <p:spPr bwMode="auto">
            <a:xfrm>
              <a:off x="7500492" y="5214650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D</a:t>
              </a:r>
            </a:p>
          </p:txBody>
        </p:sp>
        <p:sp>
          <p:nvSpPr>
            <p:cNvPr id="47" name="Oval 27"/>
            <p:cNvSpPr>
              <a:spLocks noChangeArrowheads="1"/>
            </p:cNvSpPr>
            <p:nvPr/>
          </p:nvSpPr>
          <p:spPr bwMode="auto">
            <a:xfrm>
              <a:off x="7074094" y="5912901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28"/>
            <p:cNvSpPr txBox="1">
              <a:spLocks noChangeArrowheads="1"/>
            </p:cNvSpPr>
            <p:nvPr/>
          </p:nvSpPr>
          <p:spPr bwMode="auto">
            <a:xfrm>
              <a:off x="7140300" y="5976892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E</a:t>
              </a:r>
            </a:p>
          </p:txBody>
        </p:sp>
        <p:sp>
          <p:nvSpPr>
            <p:cNvPr id="49" name="Oval 30"/>
            <p:cNvSpPr>
              <a:spLocks noChangeArrowheads="1"/>
            </p:cNvSpPr>
            <p:nvPr/>
          </p:nvSpPr>
          <p:spPr bwMode="auto">
            <a:xfrm>
              <a:off x="7942908" y="5883301"/>
              <a:ext cx="457686" cy="3867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Text Box 31"/>
            <p:cNvSpPr txBox="1">
              <a:spLocks noChangeArrowheads="1"/>
            </p:cNvSpPr>
            <p:nvPr/>
          </p:nvSpPr>
          <p:spPr bwMode="auto">
            <a:xfrm>
              <a:off x="8009114" y="5947292"/>
              <a:ext cx="391480" cy="3697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F</a:t>
              </a:r>
            </a:p>
          </p:txBody>
        </p:sp>
        <p:sp>
          <p:nvSpPr>
            <p:cNvPr id="51" name="Line 38"/>
            <p:cNvSpPr>
              <a:spLocks noChangeShapeType="1"/>
            </p:cNvSpPr>
            <p:nvPr/>
          </p:nvSpPr>
          <p:spPr bwMode="auto">
            <a:xfrm flipH="1">
              <a:off x="7287668" y="5526109"/>
              <a:ext cx="391480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9"/>
            <p:cNvSpPr>
              <a:spLocks noChangeShapeType="1"/>
            </p:cNvSpPr>
            <p:nvPr/>
          </p:nvSpPr>
          <p:spPr bwMode="auto">
            <a:xfrm>
              <a:off x="7810121" y="5526109"/>
              <a:ext cx="326712" cy="3867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" name="内容占位符 2"/>
          <p:cNvSpPr txBox="1">
            <a:spLocks/>
          </p:cNvSpPr>
          <p:nvPr/>
        </p:nvSpPr>
        <p:spPr bwMode="auto">
          <a:xfrm>
            <a:off x="1033544" y="4571991"/>
            <a:ext cx="8429625" cy="1928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kumimoji="1" lang="en-US" altLang="zh-CN" sz="2400" kern="0" dirty="0">
                <a:cs typeface="宋体" charset="0"/>
              </a:rPr>
              <a:t>Exercise: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</a:pPr>
            <a:r>
              <a:rPr kumimoji="1" lang="en-US" altLang="zh-CN" sz="2400" kern="0" dirty="0">
                <a:cs typeface="宋体" charset="0"/>
              </a:rPr>
              <a:t>	Preorder: ABCDEFGHI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defRPr/>
            </a:pPr>
            <a:r>
              <a:rPr kumimoji="1" lang="en-US" altLang="zh-CN" sz="2400" kern="0" dirty="0">
                <a:cs typeface="宋体" charset="0"/>
              </a:rPr>
              <a:t>	</a:t>
            </a:r>
            <a:r>
              <a:rPr kumimoji="1" lang="en-US" altLang="zh-CN" sz="2400" kern="0" dirty="0" err="1">
                <a:cs typeface="宋体" charset="0"/>
              </a:rPr>
              <a:t>Inorder</a:t>
            </a:r>
            <a:r>
              <a:rPr kumimoji="1" lang="en-US" altLang="zh-CN" sz="2400" kern="0" dirty="0">
                <a:cs typeface="宋体" charset="0"/>
              </a:rPr>
              <a:t>: BCAEDGHFI</a:t>
            </a:r>
            <a:endParaRPr kumimoji="1" lang="zh-CN" altLang="en-US" sz="2400" kern="0" dirty="0">
              <a:cs typeface="宋体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kumimoji="1" lang="zh-CN" altLang="en-US" sz="2400" kern="0" dirty="0">
              <a:cs typeface="宋体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200" b="1" dirty="0"/>
              <a:t>Construct Binary Tree from Different Traversal Orders</a:t>
            </a:r>
            <a:endParaRPr lang="zh-CN" altLang="en-US" sz="2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Given preorder and </a:t>
            </a:r>
            <a:r>
              <a:rPr lang="en-US" altLang="zh-CN" dirty="0" err="1" smtClean="0"/>
              <a:t>postorder</a:t>
            </a:r>
            <a:r>
              <a:rPr lang="en-US" altLang="zh-CN" dirty="0" smtClean="0"/>
              <a:t> traversal of a tree, construct the binary tree.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May Not Be Unique!</a:t>
            </a:r>
          </a:p>
          <a:p>
            <a:r>
              <a:rPr lang="en-US" altLang="zh-CN" dirty="0" smtClean="0"/>
              <a:t>Example:</a:t>
            </a:r>
          </a:p>
          <a:p>
            <a:r>
              <a:rPr lang="en-US" altLang="zh-CN" dirty="0" smtClean="0"/>
              <a:t>Preorder: ABCD</a:t>
            </a:r>
          </a:p>
          <a:p>
            <a:r>
              <a:rPr lang="en-US" altLang="zh-CN" dirty="0" err="1" smtClean="0"/>
              <a:t>Postorder</a:t>
            </a:r>
            <a:r>
              <a:rPr lang="en-US" altLang="zh-CN" dirty="0" smtClean="0"/>
              <a:t>: CBDA</a:t>
            </a:r>
            <a:endParaRPr lang="zh-CN" altLang="en-US" dirty="0"/>
          </a:p>
        </p:txBody>
      </p:sp>
      <p:pic>
        <p:nvPicPr>
          <p:cNvPr id="4" name="Picture 2" descr="http://soj.me/UserFiles/c40/1000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3632" y="3284984"/>
            <a:ext cx="5232833" cy="29901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81189" y="1357314"/>
            <a:ext cx="8429625" cy="642937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8563" y="2714625"/>
            <a:ext cx="4868862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7028</TotalTime>
  <Words>918</Words>
  <Application>Microsoft Office PowerPoint</Application>
  <PresentationFormat>宽屏</PresentationFormat>
  <Paragraphs>197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宋体</vt:lpstr>
      <vt:lpstr>Arial</vt:lpstr>
      <vt:lpstr>Arial Black</vt:lpstr>
      <vt:lpstr>Calibri</vt:lpstr>
      <vt:lpstr>Courier New</vt:lpstr>
      <vt:lpstr>Times New Roman</vt:lpstr>
      <vt:lpstr>Wingdings</vt:lpstr>
      <vt:lpstr>2_Studio</vt:lpstr>
      <vt:lpstr>SmartDraw</vt:lpstr>
      <vt:lpstr>Lecture 14 Binary Trees</vt:lpstr>
      <vt:lpstr>Outline</vt:lpstr>
      <vt:lpstr>Tree Structure</vt:lpstr>
      <vt:lpstr>Terminologies</vt:lpstr>
      <vt:lpstr>Terminologies</vt:lpstr>
      <vt:lpstr>Binary Trees</vt:lpstr>
      <vt:lpstr>Expression Trees</vt:lpstr>
      <vt:lpstr>Binary Trees: Sequential Storage</vt:lpstr>
      <vt:lpstr>Linked Implementation of Binary Trees</vt:lpstr>
      <vt:lpstr>Linked Binary Tree Specifications</vt:lpstr>
      <vt:lpstr>Binary Tree with/without Head Node</vt:lpstr>
      <vt:lpstr>Traversal of Binary Trees</vt:lpstr>
      <vt:lpstr>Tree Traversal (in-order)</vt:lpstr>
      <vt:lpstr>Tree Traversal (pre-order)</vt:lpstr>
      <vt:lpstr>Tree Traversal (post-order)</vt:lpstr>
      <vt:lpstr>Tree Traversal (level-by-level)</vt:lpstr>
      <vt:lpstr>Tree Traversal (level-by-level)</vt:lpstr>
      <vt:lpstr>Construct Binary Tree from Different Traversal Orders</vt:lpstr>
      <vt:lpstr>Construct Binary Tree from Different Traversal Orders</vt:lpstr>
      <vt:lpstr>Construct Binary Tree from Different Traversal Orders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ZZZ</dc:creator>
  <cp:lastModifiedBy>zzz</cp:lastModifiedBy>
  <cp:revision>944</cp:revision>
  <dcterms:created xsi:type="dcterms:W3CDTF">2014-09-15T06:27:30Z</dcterms:created>
  <dcterms:modified xsi:type="dcterms:W3CDTF">2025-11-04T14:21:06Z</dcterms:modified>
</cp:coreProperties>
</file>