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256" r:id="rId3"/>
    <p:sldId id="328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9" r:id="rId19"/>
    <p:sldId id="327" r:id="rId20"/>
    <p:sldId id="299" r:id="rId21"/>
    <p:sldId id="300" r:id="rId22"/>
    <p:sldId id="301" r:id="rId23"/>
    <p:sldId id="305" r:id="rId24"/>
    <p:sldId id="306" r:id="rId25"/>
    <p:sldId id="331" r:id="rId26"/>
    <p:sldId id="330" r:id="rId27"/>
    <p:sldId id="263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699" autoAdjust="0"/>
  </p:normalViewPr>
  <p:slideViewPr>
    <p:cSldViewPr showGuides="1">
      <p:cViewPr varScale="1">
        <p:scale>
          <a:sx n="133" d="100"/>
          <a:sy n="133" d="100"/>
        </p:scale>
        <p:origin x="3564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1D4C8-AD22-4880-9484-3393AAEA21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5F2AC-91B5-4045-8919-6468876986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BEC3C-C740-4938-B957-964D0E0312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86499-B8C4-4393-BB2B-FE4804D7EC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kumimoji="0" lang="zh-CN" altLang="en-US" smtClean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CA728A-43F0-49BF-8B8D-B1697E3B1699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mailto:zhangzizhen@gmail.com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>
            <a:spLocks noChangeArrowheads="1"/>
          </p:cNvSpPr>
          <p:nvPr userDrawn="1"/>
        </p:nvSpPr>
        <p:spPr bwMode="auto">
          <a:xfrm>
            <a:off x="304800" y="381001"/>
            <a:ext cx="11582400" cy="6048375"/>
          </a:xfrm>
          <a:prstGeom prst="roundRect">
            <a:avLst>
              <a:gd name="adj" fmla="val 7912"/>
            </a:avLst>
          </a:prstGeom>
          <a:solidFill>
            <a:schemeClr val="folHlink"/>
          </a:solidFill>
          <a:ln w="9525">
            <a:noFill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white">
          <a:xfrm>
            <a:off x="436034" y="488950"/>
            <a:ext cx="11247967" cy="4768850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9525">
            <a:noFill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blackWhite">
          <a:xfrm>
            <a:off x="1828800" y="4500563"/>
            <a:ext cx="8534400" cy="13573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080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6" name="Picture 11" descr="sysu_logo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0300" y="57621"/>
            <a:ext cx="2445420" cy="707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2095530" y="4500570"/>
            <a:ext cx="8191500" cy="10279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sz="1800" b="1" dirty="0" smtClean="0">
                <a:solidFill>
                  <a:srgbClr val="3A7877"/>
                </a:solidFill>
              </a:rPr>
              <a:t>Data Structures and Algorithms</a:t>
            </a:r>
            <a:endParaRPr lang="en-US" altLang="zh-CN" sz="1800" b="1" dirty="0" smtClean="0">
              <a:solidFill>
                <a:srgbClr val="3A7877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Zizhen</a:t>
            </a: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 Zhang, School of Computer Science and Engineering, Sun </a:t>
            </a:r>
            <a:r>
              <a:rPr kumimoji="0" lang="en-US" altLang="zh-CN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Yat-sen</a:t>
            </a: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 University</a:t>
            </a:r>
            <a:endParaRPr kumimoji="0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rgbClr val="3A7877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  <a:hlinkClick r:id="rId3"/>
              </a:rPr>
              <a:t>zhangzizhen@gmail.com</a:t>
            </a:r>
            <a:endParaRPr kumimoji="0" lang="en-US" altLang="zh-CN" sz="1400" b="1" i="0" u="none" strike="noStrike" kern="1200" cap="none" spc="0" normalizeH="0" baseline="0" noProof="0" dirty="0" smtClean="0">
              <a:ln>
                <a:noFill/>
              </a:ln>
              <a:solidFill>
                <a:srgbClr val="3A7877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914400" y="1519240"/>
            <a:ext cx="10363200" cy="2266950"/>
          </a:xfrm>
        </p:spPr>
        <p:txBody>
          <a:bodyPr anchor="ctr" anchorCtr="1"/>
          <a:lstStyle>
            <a:lvl1pPr algn="ctr">
              <a:defRPr sz="4100" i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/>
  <p:hf hdr="0" ftr="0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6251" y="214314"/>
            <a:ext cx="11239500" cy="6429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1" y="928688"/>
            <a:ext cx="11239500" cy="557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 smtClean="0"/>
          </a:p>
        </p:txBody>
      </p:sp>
      <p:pic>
        <p:nvPicPr>
          <p:cNvPr id="1028" name="Picture 15" descr="C:\Documents and Settings\Administrator\桌面\Briefcase\Web程序设计与AJAX 课程\gif图片下载\英文校名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03751" y="6581776"/>
            <a:ext cx="33020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直接连接符 20"/>
          <p:cNvCxnSpPr/>
          <p:nvPr/>
        </p:nvCxnSpPr>
        <p:spPr>
          <a:xfrm>
            <a:off x="476251" y="855664"/>
            <a:ext cx="11239500" cy="1587"/>
          </a:xfrm>
          <a:prstGeom prst="line">
            <a:avLst/>
          </a:prstGeom>
          <a:ln w="381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Box 26"/>
          <p:cNvSpPr txBox="1">
            <a:spLocks noChangeArrowheads="1"/>
          </p:cNvSpPr>
          <p:nvPr/>
        </p:nvSpPr>
        <p:spPr bwMode="auto">
          <a:xfrm>
            <a:off x="5143501" y="71439"/>
            <a:ext cx="66675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zh-CN" sz="1100" i="1" dirty="0" smtClean="0">
                <a:solidFill>
                  <a:srgbClr val="3A7877"/>
                </a:solidFill>
                <a:latin typeface="Arial" panose="020B0604020202020204" pitchFamily="34" charset="0"/>
              </a:rPr>
              <a:t>Data structures</a:t>
            </a:r>
            <a:r>
              <a:rPr lang="en-US" altLang="zh-CN" sz="1100" i="1" baseline="0" dirty="0" smtClean="0">
                <a:solidFill>
                  <a:srgbClr val="3A7877"/>
                </a:solidFill>
                <a:latin typeface="Arial" panose="020B0604020202020204" pitchFamily="34" charset="0"/>
              </a:rPr>
              <a:t> and algorithms</a:t>
            </a:r>
            <a:endParaRPr lang="zh-CN" altLang="en-US" sz="1100" i="1" dirty="0">
              <a:solidFill>
                <a:srgbClr val="3A7877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686800" y="6615113"/>
            <a:ext cx="2743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defRPr/>
            </a:pPr>
            <a:fld id="{FED218EC-7653-412D-96B2-7145C570315F}" type="slidenum">
              <a:rPr lang="en-US" altLang="zh-CN" sz="1000" b="1">
                <a:solidFill>
                  <a:srgbClr val="3A7877"/>
                </a:solidFill>
                <a:latin typeface="Arial" panose="020B0604020202020204" pitchFamily="34" charset="0"/>
              </a:rPr>
            </a:fld>
            <a:r>
              <a:rPr lang="en-US" altLang="zh-CN" sz="1000" b="1" dirty="0">
                <a:solidFill>
                  <a:srgbClr val="3A7877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000" b="1" dirty="0" smtClean="0">
                <a:solidFill>
                  <a:srgbClr val="3A7877"/>
                </a:solidFill>
                <a:latin typeface="Arial" panose="020B0604020202020204" pitchFamily="34" charset="0"/>
              </a:rPr>
              <a:t>/</a:t>
            </a:r>
            <a:endParaRPr lang="en-US" altLang="zh-CN" sz="1000" b="1" dirty="0">
              <a:solidFill>
                <a:srgbClr val="3A7877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952500" y="6615113"/>
            <a:ext cx="2743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defRPr/>
            </a:pPr>
            <a:fld id="{28F2FBAF-9894-4EB8-8AC6-3F534D888B82}" type="datetime4">
              <a:rPr lang="en-US" altLang="zh-CN" sz="1000" b="1">
                <a:solidFill>
                  <a:srgbClr val="3A7877"/>
                </a:solidFill>
                <a:latin typeface="Arial" panose="020B0604020202020204" pitchFamily="34" charset="0"/>
              </a:rPr>
            </a:fld>
            <a:endParaRPr lang="en-US" altLang="zh-CN" sz="1000" b="1" dirty="0">
              <a:solidFill>
                <a:srgbClr val="3A7877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slow"/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50000"/>
        <a:buChar char="•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50000"/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50000"/>
        <a:buChar char="•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www.bilibili.com/video/BV1gY4y1B7vd/" TargetMode="External"/><Relationship Id="rId1" Type="http://schemas.openxmlformats.org/officeDocument/2006/relationships/hyperlink" Target="https://www.bilibili.com/video/BV1f54y1d7ba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US" altLang="zh-CN" i="0" dirty="0" smtClean="0"/>
              <a:t>Lecture </a:t>
            </a:r>
            <a:r>
              <a:rPr kumimoji="0" lang="en-US" altLang="zh-CN" i="0" dirty="0" smtClean="0"/>
              <a:t>21</a:t>
            </a:r>
            <a:br>
              <a:rPr kumimoji="0" lang="en-US" altLang="zh-CN" i="0" dirty="0" smtClean="0"/>
            </a:br>
            <a:r>
              <a:rPr kumimoji="0" lang="en-US" altLang="zh-CN" i="0" dirty="0" smtClean="0"/>
              <a:t>Graph (III)</a:t>
            </a:r>
            <a:endParaRPr kumimoji="0" lang="zh-CN" altLang="en-US" i="0" dirty="0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Minimum Spanning Trees</a:t>
            </a:r>
            <a:endParaRPr lang="en-US" altLang="zh-CN" dirty="0"/>
          </a:p>
          <a:p>
            <a:pPr lvl="1"/>
            <a:r>
              <a:rPr lang="en-US" altLang="zh-CN" dirty="0"/>
              <a:t>Prim’s Algorithm</a:t>
            </a:r>
            <a:endParaRPr lang="en-US" altLang="zh-CN" dirty="0"/>
          </a:p>
          <a:p>
            <a:pPr lvl="1"/>
            <a:r>
              <a:rPr lang="en-US" altLang="zh-CN" dirty="0" err="1"/>
              <a:t>Kruskal’s</a:t>
            </a:r>
            <a:r>
              <a:rPr lang="en-US" altLang="zh-CN" dirty="0"/>
              <a:t> Algorithm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Minimum Spanning Trees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 tree that is build up out of all the vertices and some of the edges of </a:t>
            </a:r>
            <a:r>
              <a:rPr lang="en-US" altLang="zh-CN" i="1" dirty="0" smtClean="0"/>
              <a:t>G</a:t>
            </a:r>
            <a:r>
              <a:rPr lang="en-US" altLang="zh-CN" dirty="0" smtClean="0"/>
              <a:t> is called a </a:t>
            </a:r>
            <a:r>
              <a:rPr lang="en-US" altLang="zh-CN" dirty="0" smtClean="0">
                <a:solidFill>
                  <a:srgbClr val="FF0000"/>
                </a:solidFill>
              </a:rPr>
              <a:t>spanning tree</a:t>
            </a:r>
            <a:r>
              <a:rPr lang="en-US" altLang="zh-CN" dirty="0" smtClean="0"/>
              <a:t> of </a:t>
            </a:r>
            <a:r>
              <a:rPr lang="en-US" altLang="zh-CN" i="1" dirty="0" smtClean="0"/>
              <a:t>G.</a:t>
            </a:r>
            <a:endParaRPr lang="en-US" altLang="zh-CN" i="1" dirty="0" smtClean="0"/>
          </a:p>
          <a:p>
            <a:pPr lvl="1"/>
            <a:r>
              <a:rPr lang="en-US" altLang="zh-CN" dirty="0" smtClean="0"/>
              <a:t>Undirected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Connected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Acyclic</a:t>
            </a:r>
            <a:endParaRPr lang="en-US" altLang="zh-CN" dirty="0" smtClean="0"/>
          </a:p>
          <a:p>
            <a:r>
              <a:rPr lang="en-US" altLang="zh-CN" dirty="0" smtClean="0"/>
              <a:t>A </a:t>
            </a:r>
            <a:r>
              <a:rPr lang="en-US" altLang="zh-CN" dirty="0" smtClean="0">
                <a:solidFill>
                  <a:srgbClr val="FF0000"/>
                </a:solidFill>
              </a:rPr>
              <a:t>minimum spanning tree (MST)</a:t>
            </a:r>
            <a:r>
              <a:rPr lang="en-US" altLang="zh-CN" dirty="0" smtClean="0"/>
              <a:t> of a connected network is a spanning tree such that the sum of the </a:t>
            </a:r>
            <a:r>
              <a:rPr lang="en-US" altLang="zh-CN" dirty="0" smtClean="0">
                <a:solidFill>
                  <a:srgbClr val="FF0000"/>
                </a:solidFill>
              </a:rPr>
              <a:t>weights</a:t>
            </a:r>
            <a:r>
              <a:rPr lang="en-US" altLang="zh-CN" dirty="0" smtClean="0"/>
              <a:t> of its edges is as small as possible.</a:t>
            </a:r>
            <a:endParaRPr lang="zh-CN" altLang="en-US" dirty="0"/>
          </a:p>
        </p:txBody>
      </p:sp>
      <p:grpSp>
        <p:nvGrpSpPr>
          <p:cNvPr id="4" name="组合 45"/>
          <p:cNvGrpSpPr/>
          <p:nvPr/>
        </p:nvGrpSpPr>
        <p:grpSpPr>
          <a:xfrm>
            <a:off x="2190776" y="4303732"/>
            <a:ext cx="7620000" cy="1768475"/>
            <a:chOff x="609600" y="4114800"/>
            <a:chExt cx="7620000" cy="1768475"/>
          </a:xfrm>
        </p:grpSpPr>
        <p:grpSp>
          <p:nvGrpSpPr>
            <p:cNvPr id="16" name="Group 57"/>
            <p:cNvGrpSpPr/>
            <p:nvPr/>
          </p:nvGrpSpPr>
          <p:grpSpPr bwMode="auto">
            <a:xfrm>
              <a:off x="609600" y="4114800"/>
              <a:ext cx="2057400" cy="1768475"/>
              <a:chOff x="384" y="2592"/>
              <a:chExt cx="1296" cy="1114"/>
            </a:xfrm>
          </p:grpSpPr>
          <p:sp>
            <p:nvSpPr>
              <p:cNvPr id="5" name="Oval 4"/>
              <p:cNvSpPr>
                <a:spLocks noChangeArrowheads="1"/>
              </p:cNvSpPr>
              <p:nvPr/>
            </p:nvSpPr>
            <p:spPr bwMode="auto">
              <a:xfrm>
                <a:off x="672" y="2592"/>
                <a:ext cx="193" cy="191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" name="Oval 5"/>
              <p:cNvSpPr>
                <a:spLocks noChangeArrowheads="1"/>
              </p:cNvSpPr>
              <p:nvPr/>
            </p:nvSpPr>
            <p:spPr bwMode="auto">
              <a:xfrm>
                <a:off x="672" y="3024"/>
                <a:ext cx="192" cy="19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" name="Oval 6"/>
              <p:cNvSpPr>
                <a:spLocks noChangeArrowheads="1"/>
              </p:cNvSpPr>
              <p:nvPr/>
            </p:nvSpPr>
            <p:spPr bwMode="auto">
              <a:xfrm>
                <a:off x="1200" y="3024"/>
                <a:ext cx="192" cy="19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" name="Oval 7"/>
              <p:cNvSpPr>
                <a:spLocks noChangeArrowheads="1"/>
              </p:cNvSpPr>
              <p:nvPr/>
            </p:nvSpPr>
            <p:spPr bwMode="auto">
              <a:xfrm>
                <a:off x="1200" y="2592"/>
                <a:ext cx="192" cy="19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Line 9"/>
              <p:cNvSpPr>
                <a:spLocks noChangeShapeType="1"/>
              </p:cNvSpPr>
              <p:nvPr/>
            </p:nvSpPr>
            <p:spPr bwMode="auto">
              <a:xfrm>
                <a:off x="768" y="2784"/>
                <a:ext cx="0" cy="24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Line 10"/>
              <p:cNvSpPr>
                <a:spLocks noChangeShapeType="1"/>
              </p:cNvSpPr>
              <p:nvPr/>
            </p:nvSpPr>
            <p:spPr bwMode="auto">
              <a:xfrm>
                <a:off x="1296" y="2784"/>
                <a:ext cx="0" cy="24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>
                <a:off x="864" y="2688"/>
                <a:ext cx="3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Line 12"/>
              <p:cNvSpPr>
                <a:spLocks noChangeShapeType="1"/>
              </p:cNvSpPr>
              <p:nvPr/>
            </p:nvSpPr>
            <p:spPr bwMode="auto">
              <a:xfrm>
                <a:off x="864" y="3120"/>
                <a:ext cx="3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Line 13"/>
              <p:cNvSpPr>
                <a:spLocks noChangeShapeType="1"/>
              </p:cNvSpPr>
              <p:nvPr/>
            </p:nvSpPr>
            <p:spPr bwMode="auto">
              <a:xfrm flipV="1">
                <a:off x="816" y="2736"/>
                <a:ext cx="384" cy="288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Line 14"/>
              <p:cNvSpPr>
                <a:spLocks noChangeShapeType="1"/>
              </p:cNvSpPr>
              <p:nvPr/>
            </p:nvSpPr>
            <p:spPr bwMode="auto">
              <a:xfrm>
                <a:off x="864" y="2736"/>
                <a:ext cx="384" cy="288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Text Box 15"/>
              <p:cNvSpPr txBox="1">
                <a:spLocks noChangeArrowheads="1"/>
              </p:cNvSpPr>
              <p:nvPr/>
            </p:nvSpPr>
            <p:spPr bwMode="auto">
              <a:xfrm>
                <a:off x="384" y="3264"/>
                <a:ext cx="1296" cy="442"/>
              </a:xfrm>
              <a:prstGeom prst="rect">
                <a:avLst/>
              </a:prstGeom>
              <a:noFill/>
              <a:ln w="1587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A connected,</a:t>
                </a:r>
                <a:b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</a:b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undirected graph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6" name="Group 58"/>
            <p:cNvGrpSpPr/>
            <p:nvPr/>
          </p:nvGrpSpPr>
          <p:grpSpPr bwMode="auto">
            <a:xfrm>
              <a:off x="2667000" y="4114800"/>
              <a:ext cx="5562600" cy="1463675"/>
              <a:chOff x="1680" y="2592"/>
              <a:chExt cx="3504" cy="922"/>
            </a:xfrm>
          </p:grpSpPr>
          <p:sp>
            <p:nvSpPr>
              <p:cNvPr id="17" name="Oval 16"/>
              <p:cNvSpPr>
                <a:spLocks noChangeArrowheads="1"/>
              </p:cNvSpPr>
              <p:nvPr/>
            </p:nvSpPr>
            <p:spPr bwMode="auto">
              <a:xfrm>
                <a:off x="1680" y="2592"/>
                <a:ext cx="193" cy="191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Oval 17"/>
              <p:cNvSpPr>
                <a:spLocks noChangeArrowheads="1"/>
              </p:cNvSpPr>
              <p:nvPr/>
            </p:nvSpPr>
            <p:spPr bwMode="auto">
              <a:xfrm>
                <a:off x="1680" y="3024"/>
                <a:ext cx="192" cy="19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Oval 18"/>
              <p:cNvSpPr>
                <a:spLocks noChangeArrowheads="1"/>
              </p:cNvSpPr>
              <p:nvPr/>
            </p:nvSpPr>
            <p:spPr bwMode="auto">
              <a:xfrm>
                <a:off x="2208" y="3024"/>
                <a:ext cx="192" cy="19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Oval 19"/>
              <p:cNvSpPr>
                <a:spLocks noChangeArrowheads="1"/>
              </p:cNvSpPr>
              <p:nvPr/>
            </p:nvSpPr>
            <p:spPr bwMode="auto">
              <a:xfrm>
                <a:off x="2208" y="2592"/>
                <a:ext cx="192" cy="19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Line 20"/>
              <p:cNvSpPr>
                <a:spLocks noChangeShapeType="1"/>
              </p:cNvSpPr>
              <p:nvPr/>
            </p:nvSpPr>
            <p:spPr bwMode="auto">
              <a:xfrm>
                <a:off x="1776" y="2784"/>
                <a:ext cx="0" cy="24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21"/>
              <p:cNvSpPr>
                <a:spLocks noChangeShapeType="1"/>
              </p:cNvSpPr>
              <p:nvPr/>
            </p:nvSpPr>
            <p:spPr bwMode="auto">
              <a:xfrm>
                <a:off x="2304" y="2784"/>
                <a:ext cx="0" cy="24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22"/>
              <p:cNvSpPr>
                <a:spLocks noChangeShapeType="1"/>
              </p:cNvSpPr>
              <p:nvPr/>
            </p:nvSpPr>
            <p:spPr bwMode="auto">
              <a:xfrm>
                <a:off x="1872" y="2688"/>
                <a:ext cx="3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Oval 26"/>
              <p:cNvSpPr>
                <a:spLocks noChangeArrowheads="1"/>
              </p:cNvSpPr>
              <p:nvPr/>
            </p:nvSpPr>
            <p:spPr bwMode="auto">
              <a:xfrm>
                <a:off x="2640" y="2592"/>
                <a:ext cx="193" cy="191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Oval 27"/>
              <p:cNvSpPr>
                <a:spLocks noChangeArrowheads="1"/>
              </p:cNvSpPr>
              <p:nvPr/>
            </p:nvSpPr>
            <p:spPr bwMode="auto">
              <a:xfrm>
                <a:off x="2640" y="3024"/>
                <a:ext cx="192" cy="19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Oval 28"/>
              <p:cNvSpPr>
                <a:spLocks noChangeArrowheads="1"/>
              </p:cNvSpPr>
              <p:nvPr/>
            </p:nvSpPr>
            <p:spPr bwMode="auto">
              <a:xfrm>
                <a:off x="3168" y="3024"/>
                <a:ext cx="192" cy="19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Oval 29"/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192" cy="19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30"/>
              <p:cNvSpPr>
                <a:spLocks noChangeShapeType="1"/>
              </p:cNvSpPr>
              <p:nvPr/>
            </p:nvSpPr>
            <p:spPr bwMode="auto">
              <a:xfrm>
                <a:off x="2736" y="2784"/>
                <a:ext cx="0" cy="24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Line 33"/>
              <p:cNvSpPr>
                <a:spLocks noChangeShapeType="1"/>
              </p:cNvSpPr>
              <p:nvPr/>
            </p:nvSpPr>
            <p:spPr bwMode="auto">
              <a:xfrm>
                <a:off x="2832" y="3120"/>
                <a:ext cx="3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34"/>
              <p:cNvSpPr>
                <a:spLocks noChangeShapeType="1"/>
              </p:cNvSpPr>
              <p:nvPr/>
            </p:nvSpPr>
            <p:spPr bwMode="auto">
              <a:xfrm flipV="1">
                <a:off x="2784" y="2736"/>
                <a:ext cx="384" cy="288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Oval 36"/>
              <p:cNvSpPr>
                <a:spLocks noChangeArrowheads="1"/>
              </p:cNvSpPr>
              <p:nvPr/>
            </p:nvSpPr>
            <p:spPr bwMode="auto">
              <a:xfrm>
                <a:off x="3552" y="2592"/>
                <a:ext cx="193" cy="191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Oval 37"/>
              <p:cNvSpPr>
                <a:spLocks noChangeArrowheads="1"/>
              </p:cNvSpPr>
              <p:nvPr/>
            </p:nvSpPr>
            <p:spPr bwMode="auto">
              <a:xfrm>
                <a:off x="3552" y="3024"/>
                <a:ext cx="192" cy="19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Oval 38"/>
              <p:cNvSpPr>
                <a:spLocks noChangeArrowheads="1"/>
              </p:cNvSpPr>
              <p:nvPr/>
            </p:nvSpPr>
            <p:spPr bwMode="auto">
              <a:xfrm>
                <a:off x="4080" y="3024"/>
                <a:ext cx="192" cy="19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Oval 39"/>
              <p:cNvSpPr>
                <a:spLocks noChangeArrowheads="1"/>
              </p:cNvSpPr>
              <p:nvPr/>
            </p:nvSpPr>
            <p:spPr bwMode="auto">
              <a:xfrm>
                <a:off x="4080" y="2592"/>
                <a:ext cx="192" cy="19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Line 40"/>
              <p:cNvSpPr>
                <a:spLocks noChangeShapeType="1"/>
              </p:cNvSpPr>
              <p:nvPr/>
            </p:nvSpPr>
            <p:spPr bwMode="auto">
              <a:xfrm>
                <a:off x="3648" y="2784"/>
                <a:ext cx="0" cy="24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Line 41"/>
              <p:cNvSpPr>
                <a:spLocks noChangeShapeType="1"/>
              </p:cNvSpPr>
              <p:nvPr/>
            </p:nvSpPr>
            <p:spPr bwMode="auto">
              <a:xfrm>
                <a:off x="4176" y="2784"/>
                <a:ext cx="0" cy="24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Line 45"/>
              <p:cNvSpPr>
                <a:spLocks noChangeShapeType="1"/>
              </p:cNvSpPr>
              <p:nvPr/>
            </p:nvSpPr>
            <p:spPr bwMode="auto">
              <a:xfrm>
                <a:off x="3744" y="2736"/>
                <a:ext cx="384" cy="288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Oval 46"/>
              <p:cNvSpPr>
                <a:spLocks noChangeArrowheads="1"/>
              </p:cNvSpPr>
              <p:nvPr/>
            </p:nvSpPr>
            <p:spPr bwMode="auto">
              <a:xfrm>
                <a:off x="4464" y="2592"/>
                <a:ext cx="193" cy="191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Oval 47"/>
              <p:cNvSpPr>
                <a:spLocks noChangeArrowheads="1"/>
              </p:cNvSpPr>
              <p:nvPr/>
            </p:nvSpPr>
            <p:spPr bwMode="auto">
              <a:xfrm>
                <a:off x="4464" y="3024"/>
                <a:ext cx="192" cy="19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Oval 48"/>
              <p:cNvSpPr>
                <a:spLocks noChangeArrowheads="1"/>
              </p:cNvSpPr>
              <p:nvPr/>
            </p:nvSpPr>
            <p:spPr bwMode="auto">
              <a:xfrm>
                <a:off x="4992" y="3024"/>
                <a:ext cx="192" cy="19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Oval 49"/>
              <p:cNvSpPr>
                <a:spLocks noChangeArrowheads="1"/>
              </p:cNvSpPr>
              <p:nvPr/>
            </p:nvSpPr>
            <p:spPr bwMode="auto">
              <a:xfrm>
                <a:off x="4992" y="2592"/>
                <a:ext cx="192" cy="192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" name="Line 51"/>
              <p:cNvSpPr>
                <a:spLocks noChangeShapeType="1"/>
              </p:cNvSpPr>
              <p:nvPr/>
            </p:nvSpPr>
            <p:spPr bwMode="auto">
              <a:xfrm>
                <a:off x="5088" y="2784"/>
                <a:ext cx="0" cy="24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Line 52"/>
              <p:cNvSpPr>
                <a:spLocks noChangeShapeType="1"/>
              </p:cNvSpPr>
              <p:nvPr/>
            </p:nvSpPr>
            <p:spPr bwMode="auto">
              <a:xfrm>
                <a:off x="4656" y="2688"/>
                <a:ext cx="3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" name="Line 53"/>
              <p:cNvSpPr>
                <a:spLocks noChangeShapeType="1"/>
              </p:cNvSpPr>
              <p:nvPr/>
            </p:nvSpPr>
            <p:spPr bwMode="auto">
              <a:xfrm>
                <a:off x="4656" y="3120"/>
                <a:ext cx="3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Text Box 56"/>
              <p:cNvSpPr txBox="1">
                <a:spLocks noChangeArrowheads="1"/>
              </p:cNvSpPr>
              <p:nvPr/>
            </p:nvSpPr>
            <p:spPr bwMode="auto">
              <a:xfrm>
                <a:off x="1680" y="3264"/>
                <a:ext cx="3216" cy="250"/>
              </a:xfrm>
              <a:prstGeom prst="rect">
                <a:avLst/>
              </a:prstGeom>
              <a:noFill/>
              <a:ln w="1587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Four of the spanning trees of the graph</a:t>
                </a:r>
                <a:endPara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Two Spanning Trees</a:t>
            </a:r>
            <a:endParaRPr lang="zh-CN" alt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19289" y="1109664"/>
            <a:ext cx="8353425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Prim's Algorithm for Minimum Spanning Trees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Prim's algorithm for finding an MST is a greedy algorithm. 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Start by selecting an arbitrary vertex, include it into the current MST. 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Grow</a:t>
            </a:r>
            <a:r>
              <a:rPr lang="en-US" altLang="zh-CN" dirty="0" smtClean="0">
                <a:ea typeface="宋体" panose="02010600030101010101" pitchFamily="2" charset="-122"/>
              </a:rPr>
              <a:t> the current MST by inserting into it the vertex </a:t>
            </a:r>
            <a:r>
              <a:rPr lang="en-US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closest</a:t>
            </a:r>
            <a:r>
              <a:rPr lang="en-US" altLang="zh-CN" dirty="0" smtClean="0">
                <a:ea typeface="宋体" panose="02010600030101010101" pitchFamily="2" charset="-122"/>
              </a:rPr>
              <a:t> to one of the vertices already in the current MST. 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/>
              <a:t>Repeat until all vertices are in the tree.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Example of Prim</a:t>
            </a:r>
            <a:r>
              <a:rPr lang="en-US" altLang="zh-CN" b="1" dirty="0" smtClean="0">
                <a:latin typeface="Times New Roman" panose="02020603050405020304" pitchFamily="18" charset="0"/>
              </a:rPr>
              <a:t>’</a:t>
            </a:r>
            <a:r>
              <a:rPr lang="en-US" altLang="zh-CN" b="1" dirty="0" smtClean="0"/>
              <a:t>s Algorithm</a:t>
            </a:r>
            <a:endParaRPr lang="zh-CN" altLang="en-US" dirty="0"/>
          </a:p>
        </p:txBody>
      </p:sp>
      <p:grpSp>
        <p:nvGrpSpPr>
          <p:cNvPr id="3" name="组合 30"/>
          <p:cNvGrpSpPr/>
          <p:nvPr/>
        </p:nvGrpSpPr>
        <p:grpSpPr>
          <a:xfrm>
            <a:off x="2507090" y="1606136"/>
            <a:ext cx="5589174" cy="2108617"/>
            <a:chOff x="3028503" y="1895475"/>
            <a:chExt cx="5589174" cy="2108617"/>
          </a:xfrm>
        </p:grpSpPr>
        <p:sp>
          <p:nvSpPr>
            <p:cNvPr id="32" name="Oval 3"/>
            <p:cNvSpPr>
              <a:spLocks noChangeArrowheads="1"/>
            </p:cNvSpPr>
            <p:nvPr/>
          </p:nvSpPr>
          <p:spPr bwMode="auto">
            <a:xfrm>
              <a:off x="4264025" y="2382838"/>
              <a:ext cx="361950" cy="33813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b/</a:t>
              </a:r>
              <a:r>
                <a:rPr lang="en-US" altLang="zh-CN" sz="1400" b="1">
                  <a:sym typeface="Symbol" panose="05050102010706020507" pitchFamily="18" charset="2"/>
                </a:rPr>
                <a:t>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33" name="Oval 4"/>
            <p:cNvSpPr>
              <a:spLocks noChangeArrowheads="1"/>
            </p:cNvSpPr>
            <p:nvPr/>
          </p:nvSpPr>
          <p:spPr bwMode="auto">
            <a:xfrm>
              <a:off x="5348288" y="2382838"/>
              <a:ext cx="361950" cy="33813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 dirty="0"/>
                <a:t>c/</a:t>
              </a:r>
              <a:r>
                <a:rPr lang="en-US" altLang="zh-CN" sz="1400" b="1" dirty="0">
                  <a:sym typeface="Symbol" panose="05050102010706020507" pitchFamily="18" charset="2"/>
                </a:rPr>
                <a:t></a:t>
              </a:r>
              <a:endParaRPr lang="en-US" altLang="zh-CN" sz="1400" b="1" dirty="0">
                <a:sym typeface="Symbol" panose="05050102010706020507" pitchFamily="18" charset="2"/>
              </a:endParaRPr>
            </a:p>
          </p:txBody>
        </p:sp>
        <p:sp>
          <p:nvSpPr>
            <p:cNvPr id="34" name="Oval 5"/>
            <p:cNvSpPr>
              <a:spLocks noChangeArrowheads="1"/>
            </p:cNvSpPr>
            <p:nvPr/>
          </p:nvSpPr>
          <p:spPr bwMode="auto">
            <a:xfrm>
              <a:off x="3179763" y="2382838"/>
              <a:ext cx="361950" cy="33813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 dirty="0"/>
                <a:t>a/0</a:t>
              </a:r>
              <a:endParaRPr lang="en-US" altLang="zh-CN" sz="1400" b="1" dirty="0"/>
            </a:p>
          </p:txBody>
        </p:sp>
        <p:sp>
          <p:nvSpPr>
            <p:cNvPr id="35" name="Oval 6"/>
            <p:cNvSpPr>
              <a:spLocks noChangeArrowheads="1"/>
            </p:cNvSpPr>
            <p:nvPr/>
          </p:nvSpPr>
          <p:spPr bwMode="auto">
            <a:xfrm>
              <a:off x="3186113" y="3530600"/>
              <a:ext cx="360362" cy="33813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d/</a:t>
              </a:r>
              <a:r>
                <a:rPr lang="en-US" altLang="zh-CN" sz="1400" b="1">
                  <a:sym typeface="Symbol" panose="05050102010706020507" pitchFamily="18" charset="2"/>
                </a:rPr>
                <a:t>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36" name="Oval 7"/>
            <p:cNvSpPr>
              <a:spLocks noChangeArrowheads="1"/>
            </p:cNvSpPr>
            <p:nvPr/>
          </p:nvSpPr>
          <p:spPr bwMode="auto">
            <a:xfrm>
              <a:off x="4264025" y="3530600"/>
              <a:ext cx="361950" cy="33813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e/</a:t>
              </a:r>
              <a:r>
                <a:rPr lang="en-US" altLang="zh-CN" sz="1400" b="1">
                  <a:sym typeface="Symbol" panose="05050102010706020507" pitchFamily="18" charset="2"/>
                </a:rPr>
                <a:t>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37" name="Oval 8"/>
            <p:cNvSpPr>
              <a:spLocks noChangeArrowheads="1"/>
            </p:cNvSpPr>
            <p:nvPr/>
          </p:nvSpPr>
          <p:spPr bwMode="auto">
            <a:xfrm>
              <a:off x="5348288" y="3530600"/>
              <a:ext cx="361950" cy="33813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f/</a:t>
              </a:r>
              <a:r>
                <a:rPr lang="en-US" altLang="zh-CN" sz="1400" b="1">
                  <a:sym typeface="Symbol" panose="05050102010706020507" pitchFamily="18" charset="2"/>
                </a:rPr>
                <a:t>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cxnSp>
          <p:nvCxnSpPr>
            <p:cNvPr id="38" name="AutoShape 9"/>
            <p:cNvCxnSpPr>
              <a:cxnSpLocks noChangeShapeType="1"/>
              <a:stCxn id="34" idx="4"/>
              <a:endCxn id="35" idx="0"/>
            </p:cNvCxnSpPr>
            <p:nvPr/>
          </p:nvCxnSpPr>
          <p:spPr bwMode="auto">
            <a:xfrm>
              <a:off x="3360738" y="2720975"/>
              <a:ext cx="6350" cy="8096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39" name="AutoShape 10"/>
            <p:cNvCxnSpPr>
              <a:cxnSpLocks noChangeShapeType="1"/>
              <a:stCxn id="32" idx="6"/>
              <a:endCxn id="33" idx="2"/>
            </p:cNvCxnSpPr>
            <p:nvPr/>
          </p:nvCxnSpPr>
          <p:spPr bwMode="auto">
            <a:xfrm>
              <a:off x="4625975" y="2552700"/>
              <a:ext cx="722313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40" name="AutoShape 11"/>
            <p:cNvCxnSpPr>
              <a:cxnSpLocks noChangeShapeType="1"/>
              <a:stCxn id="33" idx="4"/>
              <a:endCxn id="37" idx="0"/>
            </p:cNvCxnSpPr>
            <p:nvPr/>
          </p:nvCxnSpPr>
          <p:spPr bwMode="auto">
            <a:xfrm>
              <a:off x="5529263" y="2720975"/>
              <a:ext cx="0" cy="8096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41" name="AutoShape 12"/>
            <p:cNvCxnSpPr>
              <a:cxnSpLocks noChangeShapeType="1"/>
              <a:stCxn id="32" idx="4"/>
              <a:endCxn id="36" idx="0"/>
            </p:cNvCxnSpPr>
            <p:nvPr/>
          </p:nvCxnSpPr>
          <p:spPr bwMode="auto">
            <a:xfrm>
              <a:off x="4445000" y="2720975"/>
              <a:ext cx="0" cy="8096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42" name="AutoShape 13"/>
            <p:cNvCxnSpPr>
              <a:cxnSpLocks noChangeShapeType="1"/>
              <a:stCxn id="36" idx="6"/>
              <a:endCxn id="37" idx="2"/>
            </p:cNvCxnSpPr>
            <p:nvPr/>
          </p:nvCxnSpPr>
          <p:spPr bwMode="auto">
            <a:xfrm>
              <a:off x="4625975" y="3700463"/>
              <a:ext cx="722313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43" name="AutoShape 14"/>
            <p:cNvCxnSpPr>
              <a:cxnSpLocks noChangeShapeType="1"/>
              <a:stCxn id="35" idx="6"/>
              <a:endCxn id="36" idx="2"/>
            </p:cNvCxnSpPr>
            <p:nvPr/>
          </p:nvCxnSpPr>
          <p:spPr bwMode="auto">
            <a:xfrm>
              <a:off x="3546475" y="3700463"/>
              <a:ext cx="717550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44" name="AutoShape 15"/>
            <p:cNvCxnSpPr>
              <a:cxnSpLocks noChangeShapeType="1"/>
              <a:stCxn id="36" idx="7"/>
              <a:endCxn id="33" idx="3"/>
            </p:cNvCxnSpPr>
            <p:nvPr/>
          </p:nvCxnSpPr>
          <p:spPr bwMode="auto">
            <a:xfrm flipV="1">
              <a:off x="4572000" y="2671763"/>
              <a:ext cx="828675" cy="90805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sp>
          <p:nvSpPr>
            <p:cNvPr id="45" name="Text Box 16"/>
            <p:cNvSpPr txBox="1">
              <a:spLocks noChangeArrowheads="1"/>
            </p:cNvSpPr>
            <p:nvPr/>
          </p:nvSpPr>
          <p:spPr bwMode="auto">
            <a:xfrm>
              <a:off x="3751248" y="228758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5</a:t>
              </a:r>
              <a:endParaRPr lang="en-US" altLang="zh-CN" sz="1600" b="1"/>
            </a:p>
          </p:txBody>
        </p:sp>
        <p:sp>
          <p:nvSpPr>
            <p:cNvPr id="46" name="Text Box 17"/>
            <p:cNvSpPr txBox="1">
              <a:spLocks noChangeArrowheads="1"/>
            </p:cNvSpPr>
            <p:nvPr/>
          </p:nvSpPr>
          <p:spPr bwMode="auto">
            <a:xfrm>
              <a:off x="3028503" y="3030538"/>
              <a:ext cx="400944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11</a:t>
              </a:r>
              <a:endParaRPr lang="en-US" altLang="zh-CN" sz="1600" b="1"/>
            </a:p>
          </p:txBody>
        </p:sp>
        <p:sp>
          <p:nvSpPr>
            <p:cNvPr id="47" name="Text Box 18"/>
            <p:cNvSpPr txBox="1">
              <a:spLocks noChangeArrowheads="1"/>
            </p:cNvSpPr>
            <p:nvPr/>
          </p:nvSpPr>
          <p:spPr bwMode="auto">
            <a:xfrm>
              <a:off x="3751248" y="366553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0</a:t>
              </a:r>
              <a:endParaRPr lang="en-US" altLang="zh-CN" sz="1600" b="1"/>
            </a:p>
          </p:txBody>
        </p:sp>
        <p:sp>
          <p:nvSpPr>
            <p:cNvPr id="48" name="Text Box 19"/>
            <p:cNvSpPr txBox="1">
              <a:spLocks noChangeArrowheads="1"/>
            </p:cNvSpPr>
            <p:nvPr/>
          </p:nvSpPr>
          <p:spPr bwMode="auto">
            <a:xfrm>
              <a:off x="4203685" y="2990850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3</a:t>
              </a:r>
              <a:endParaRPr lang="en-US" altLang="zh-CN" sz="1600" b="1"/>
            </a:p>
          </p:txBody>
        </p:sp>
        <p:sp>
          <p:nvSpPr>
            <p:cNvPr id="49" name="Text Box 20"/>
            <p:cNvSpPr txBox="1">
              <a:spLocks noChangeArrowheads="1"/>
            </p:cNvSpPr>
            <p:nvPr/>
          </p:nvSpPr>
          <p:spPr bwMode="auto">
            <a:xfrm>
              <a:off x="4710098" y="2895600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1</a:t>
              </a:r>
              <a:endParaRPr lang="en-US" altLang="zh-CN" sz="1600" b="1"/>
            </a:p>
          </p:txBody>
        </p:sp>
        <p:sp>
          <p:nvSpPr>
            <p:cNvPr id="50" name="Text Box 21"/>
            <p:cNvSpPr txBox="1">
              <a:spLocks noChangeArrowheads="1"/>
            </p:cNvSpPr>
            <p:nvPr/>
          </p:nvSpPr>
          <p:spPr bwMode="auto">
            <a:xfrm>
              <a:off x="4781535" y="229393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7</a:t>
              </a:r>
              <a:endParaRPr lang="en-US" altLang="zh-CN" sz="1600" b="1"/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5511452" y="2962275"/>
              <a:ext cx="367409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-3</a:t>
              </a:r>
              <a:endParaRPr lang="en-US" altLang="zh-CN" sz="1600" b="1"/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4781535" y="366553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2</a:t>
              </a:r>
              <a:endParaRPr lang="en-US" altLang="zh-CN" sz="1600" b="1"/>
            </a:p>
          </p:txBody>
        </p:sp>
        <p:cxnSp>
          <p:nvCxnSpPr>
            <p:cNvPr id="53" name="AutoShape 24"/>
            <p:cNvCxnSpPr>
              <a:cxnSpLocks noChangeShapeType="1"/>
              <a:stCxn id="34" idx="6"/>
              <a:endCxn id="32" idx="2"/>
            </p:cNvCxnSpPr>
            <p:nvPr/>
          </p:nvCxnSpPr>
          <p:spPr bwMode="auto">
            <a:xfrm>
              <a:off x="3541713" y="2552700"/>
              <a:ext cx="722312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6038124" y="2849563"/>
              <a:ext cx="2579553" cy="830997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/>
                <a:t>Q = a  b  c  d  e  f</a:t>
              </a:r>
              <a:endParaRPr lang="en-US" altLang="zh-CN" sz="2400"/>
            </a:p>
            <a:p>
              <a:pPr algn="ctr" eaLnBrk="0" hangingPunct="0"/>
              <a:r>
                <a:rPr lang="en-US" altLang="zh-CN" sz="2400"/>
                <a:t>       0  </a:t>
              </a:r>
              <a:r>
                <a:rPr lang="en-US" altLang="zh-CN" sz="2400">
                  <a:sym typeface="Symbol" panose="05050102010706020507" pitchFamily="18" charset="2"/>
                </a:rPr>
                <a:t>            </a:t>
              </a:r>
              <a:endParaRPr lang="en-US" altLang="zh-CN" sz="2400">
                <a:sym typeface="Symbol" panose="05050102010706020507" pitchFamily="18" charset="2"/>
              </a:endParaRPr>
            </a:p>
          </p:txBody>
        </p:sp>
        <p:sp>
          <p:nvSpPr>
            <p:cNvPr id="55" name="Line 26"/>
            <p:cNvSpPr>
              <a:spLocks noChangeShapeType="1"/>
            </p:cNvSpPr>
            <p:nvPr/>
          </p:nvSpPr>
          <p:spPr bwMode="auto">
            <a:xfrm>
              <a:off x="7359650" y="3478213"/>
              <a:ext cx="6921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AutoShape 27"/>
            <p:cNvSpPr/>
            <p:nvPr/>
          </p:nvSpPr>
          <p:spPr bwMode="auto">
            <a:xfrm rot="5400000">
              <a:off x="7156451" y="1487487"/>
              <a:ext cx="317500" cy="2092325"/>
            </a:xfrm>
            <a:prstGeom prst="leftBrace">
              <a:avLst>
                <a:gd name="adj1" fmla="val 5491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6512736" y="1895475"/>
              <a:ext cx="1604928" cy="4616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>
                  <a:solidFill>
                    <a:srgbClr val="CC0000"/>
                  </a:solidFill>
                </a:rPr>
                <a:t>Not in tree</a:t>
              </a:r>
              <a:endParaRPr lang="en-US" altLang="zh-CN" sz="2400">
                <a:solidFill>
                  <a:srgbClr val="CC0000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Example of Prim</a:t>
            </a:r>
            <a:r>
              <a:rPr lang="en-US" altLang="zh-CN" b="1" dirty="0" smtClean="0">
                <a:latin typeface="Times New Roman" panose="02020603050405020304" pitchFamily="18" charset="0"/>
              </a:rPr>
              <a:t>’</a:t>
            </a:r>
            <a:r>
              <a:rPr lang="en-US" altLang="zh-CN" b="1" dirty="0" smtClean="0"/>
              <a:t>s Algorithm</a:t>
            </a:r>
            <a:endParaRPr lang="zh-CN" altLang="en-US" dirty="0"/>
          </a:p>
        </p:txBody>
      </p:sp>
      <p:grpSp>
        <p:nvGrpSpPr>
          <p:cNvPr id="3" name="Group 27"/>
          <p:cNvGrpSpPr/>
          <p:nvPr/>
        </p:nvGrpSpPr>
        <p:grpSpPr bwMode="auto">
          <a:xfrm>
            <a:off x="2524101" y="2000240"/>
            <a:ext cx="5262563" cy="1716088"/>
            <a:chOff x="1904" y="1442"/>
            <a:chExt cx="3315" cy="1081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auto">
            <a:xfrm>
              <a:off x="2682" y="1502"/>
              <a:ext cx="228" cy="213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b/</a:t>
              </a:r>
              <a:r>
                <a:rPr lang="en-US" altLang="zh-CN" sz="1400" b="1">
                  <a:sym typeface="Symbol" panose="05050102010706020507" pitchFamily="18" charset="2"/>
                </a:rPr>
                <a:t>5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3365" y="1502"/>
              <a:ext cx="228" cy="213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c/</a:t>
              </a:r>
              <a:r>
                <a:rPr lang="en-US" altLang="zh-CN" sz="1400" b="1">
                  <a:sym typeface="Symbol" panose="05050102010706020507" pitchFamily="18" charset="2"/>
                </a:rPr>
                <a:t>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1999" y="1502"/>
              <a:ext cx="228" cy="213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a/0</a:t>
              </a:r>
              <a:endParaRPr lang="en-US" altLang="zh-CN" sz="1400" b="1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2003" y="2225"/>
              <a:ext cx="227" cy="20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d/</a:t>
              </a:r>
              <a:r>
                <a:rPr lang="en-US" altLang="zh-CN" sz="1400" b="1">
                  <a:sym typeface="Symbol" panose="05050102010706020507" pitchFamily="18" charset="2"/>
                </a:rPr>
                <a:t>11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2682" y="2225"/>
              <a:ext cx="228" cy="213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e/</a:t>
              </a:r>
              <a:r>
                <a:rPr lang="en-US" altLang="zh-CN" sz="1400" b="1">
                  <a:sym typeface="Symbol" panose="05050102010706020507" pitchFamily="18" charset="2"/>
                </a:rPr>
                <a:t>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3365" y="2225"/>
              <a:ext cx="228" cy="213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f/</a:t>
              </a:r>
              <a:r>
                <a:rPr lang="en-US" altLang="zh-CN" sz="1400" b="1">
                  <a:sym typeface="Symbol" panose="05050102010706020507" pitchFamily="18" charset="2"/>
                </a:rPr>
                <a:t>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cxnSp>
          <p:nvCxnSpPr>
            <p:cNvPr id="11" name="AutoShape 9"/>
            <p:cNvCxnSpPr>
              <a:cxnSpLocks noChangeShapeType="1"/>
              <a:stCxn id="7" idx="4"/>
              <a:endCxn id="8" idx="0"/>
            </p:cNvCxnSpPr>
            <p:nvPr/>
          </p:nvCxnSpPr>
          <p:spPr bwMode="auto">
            <a:xfrm>
              <a:off x="2113" y="1721"/>
              <a:ext cx="4" cy="504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</a:ln>
          </p:spPr>
        </p:cxnSp>
        <p:cxnSp>
          <p:nvCxnSpPr>
            <p:cNvPr id="12" name="AutoShape 10"/>
            <p:cNvCxnSpPr>
              <a:cxnSpLocks noChangeShapeType="1"/>
              <a:stCxn id="5" idx="6"/>
              <a:endCxn id="6" idx="2"/>
            </p:cNvCxnSpPr>
            <p:nvPr/>
          </p:nvCxnSpPr>
          <p:spPr bwMode="auto">
            <a:xfrm>
              <a:off x="2910" y="1609"/>
              <a:ext cx="455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3" name="AutoShape 11"/>
            <p:cNvCxnSpPr>
              <a:cxnSpLocks noChangeShapeType="1"/>
              <a:stCxn id="6" idx="4"/>
              <a:endCxn id="10" idx="0"/>
            </p:cNvCxnSpPr>
            <p:nvPr/>
          </p:nvCxnSpPr>
          <p:spPr bwMode="auto">
            <a:xfrm>
              <a:off x="3479" y="1715"/>
              <a:ext cx="0" cy="51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4" name="AutoShape 12"/>
            <p:cNvCxnSpPr>
              <a:cxnSpLocks noChangeShapeType="1"/>
              <a:stCxn id="5" idx="4"/>
              <a:endCxn id="9" idx="0"/>
            </p:cNvCxnSpPr>
            <p:nvPr/>
          </p:nvCxnSpPr>
          <p:spPr bwMode="auto">
            <a:xfrm>
              <a:off x="2796" y="1715"/>
              <a:ext cx="0" cy="51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5" name="AutoShape 13"/>
            <p:cNvCxnSpPr>
              <a:cxnSpLocks noChangeShapeType="1"/>
              <a:stCxn id="9" idx="6"/>
              <a:endCxn id="10" idx="2"/>
            </p:cNvCxnSpPr>
            <p:nvPr/>
          </p:nvCxnSpPr>
          <p:spPr bwMode="auto">
            <a:xfrm>
              <a:off x="2910" y="2332"/>
              <a:ext cx="455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6" name="AutoShape 14"/>
            <p:cNvCxnSpPr>
              <a:cxnSpLocks noChangeShapeType="1"/>
              <a:stCxn id="8" idx="6"/>
              <a:endCxn id="9" idx="2"/>
            </p:cNvCxnSpPr>
            <p:nvPr/>
          </p:nvCxnSpPr>
          <p:spPr bwMode="auto">
            <a:xfrm>
              <a:off x="2230" y="2329"/>
              <a:ext cx="452" cy="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7" name="AutoShape 15"/>
            <p:cNvCxnSpPr>
              <a:cxnSpLocks noChangeShapeType="1"/>
              <a:stCxn id="9" idx="7"/>
              <a:endCxn id="6" idx="3"/>
            </p:cNvCxnSpPr>
            <p:nvPr/>
          </p:nvCxnSpPr>
          <p:spPr bwMode="auto">
            <a:xfrm flipV="1">
              <a:off x="2876" y="1684"/>
              <a:ext cx="522" cy="57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2359" y="1442"/>
              <a:ext cx="188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5</a:t>
              </a:r>
              <a:endParaRPr lang="en-US" altLang="zh-CN" sz="1600" b="1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1904" y="1910"/>
              <a:ext cx="25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11</a:t>
              </a:r>
              <a:endParaRPr lang="en-US" altLang="zh-CN" sz="1600" b="1"/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2359" y="2310"/>
              <a:ext cx="188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0</a:t>
              </a:r>
              <a:endParaRPr lang="en-US" altLang="zh-CN" sz="1600" b="1"/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2644" y="1885"/>
              <a:ext cx="188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3</a:t>
              </a:r>
              <a:endParaRPr lang="en-US" altLang="zh-CN" sz="1600" b="1"/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2963" y="1825"/>
              <a:ext cx="188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1</a:t>
              </a:r>
              <a:endParaRPr lang="en-US" altLang="zh-CN" sz="1600" b="1"/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3008" y="1446"/>
              <a:ext cx="188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7</a:t>
              </a:r>
              <a:endParaRPr lang="en-US" altLang="zh-CN" sz="1600" b="1"/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3468" y="1867"/>
              <a:ext cx="231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-3</a:t>
              </a:r>
              <a:endParaRPr lang="en-US" altLang="zh-CN" sz="1600" b="1"/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3008" y="2310"/>
              <a:ext cx="188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2</a:t>
              </a:r>
              <a:endParaRPr lang="en-US" altLang="zh-CN" sz="1600" b="1"/>
            </a:p>
          </p:txBody>
        </p:sp>
        <p:cxnSp>
          <p:nvCxnSpPr>
            <p:cNvPr id="26" name="AutoShape 24"/>
            <p:cNvCxnSpPr>
              <a:cxnSpLocks noChangeShapeType="1"/>
              <a:stCxn id="7" idx="6"/>
              <a:endCxn id="5" idx="2"/>
            </p:cNvCxnSpPr>
            <p:nvPr/>
          </p:nvCxnSpPr>
          <p:spPr bwMode="auto">
            <a:xfrm>
              <a:off x="2233" y="1609"/>
              <a:ext cx="449" cy="0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</a:ln>
          </p:spPr>
        </p:cxn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3821" y="1795"/>
              <a:ext cx="1398" cy="523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/>
                <a:t>Q = b  d  c  e  f</a:t>
              </a:r>
              <a:endParaRPr lang="en-US" altLang="zh-CN" sz="2400"/>
            </a:p>
            <a:p>
              <a:pPr algn="ctr" eaLnBrk="0" hangingPunct="0"/>
              <a:r>
                <a:rPr lang="en-US" altLang="zh-CN" sz="2400"/>
                <a:t>       5 </a:t>
              </a:r>
              <a:r>
                <a:rPr lang="en-US" altLang="zh-CN" sz="2400">
                  <a:sym typeface="Symbol" panose="05050102010706020507" pitchFamily="18" charset="2"/>
                </a:rPr>
                <a:t>11     </a:t>
              </a:r>
              <a:endParaRPr lang="en-US" altLang="zh-CN" sz="2400">
                <a:sym typeface="Symbol" panose="05050102010706020507" pitchFamily="18" charset="2"/>
              </a:endParaRPr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 flipV="1">
              <a:off x="4791" y="2191"/>
              <a:ext cx="163" cy="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of Prim</a:t>
            </a:r>
            <a:r>
              <a:rPr lang="en-US" altLang="zh-CN" dirty="0" smtClean="0">
                <a:latin typeface="Times New Roman" panose="02020603050405020304" pitchFamily="18" charset="0"/>
              </a:rPr>
              <a:t>’</a:t>
            </a:r>
            <a:r>
              <a:rPr lang="en-US" altLang="zh-CN" dirty="0" smtClean="0"/>
              <a:t>s Algorithm</a:t>
            </a:r>
            <a:endParaRPr lang="zh-CN" altLang="en-US" dirty="0"/>
          </a:p>
        </p:txBody>
      </p:sp>
      <p:grpSp>
        <p:nvGrpSpPr>
          <p:cNvPr id="3" name="组合 3"/>
          <p:cNvGrpSpPr/>
          <p:nvPr/>
        </p:nvGrpSpPr>
        <p:grpSpPr>
          <a:xfrm>
            <a:off x="2524101" y="1998248"/>
            <a:ext cx="5045647" cy="1716504"/>
            <a:chOff x="3022153" y="2289175"/>
            <a:chExt cx="5045647" cy="1716504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auto">
            <a:xfrm>
              <a:off x="4257675" y="2384425"/>
              <a:ext cx="361950" cy="338138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b/5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5341938" y="2384425"/>
              <a:ext cx="361950" cy="33813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c/</a:t>
              </a:r>
              <a:r>
                <a:rPr lang="en-US" altLang="zh-CN" sz="1400" b="1">
                  <a:sym typeface="Symbol" panose="05050102010706020507" pitchFamily="18" charset="2"/>
                </a:rPr>
                <a:t>7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3173413" y="2384425"/>
              <a:ext cx="361950" cy="338138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a/0</a:t>
              </a:r>
              <a:endParaRPr lang="en-US" altLang="zh-CN" sz="1400" b="1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3165475" y="3532188"/>
              <a:ext cx="360363" cy="33813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zh-CN" altLang="en-US" sz="1400" b="1" dirty="0"/>
                <a:t> </a:t>
              </a:r>
              <a:r>
                <a:rPr lang="en-US" altLang="zh-CN" sz="1400" b="1" dirty="0"/>
                <a:t>d/</a:t>
              </a:r>
              <a:r>
                <a:rPr lang="en-US" altLang="zh-CN" sz="1400" b="1" dirty="0">
                  <a:sym typeface="Symbol" panose="05050102010706020507" pitchFamily="18" charset="2"/>
                </a:rPr>
                <a:t>11</a:t>
              </a:r>
              <a:endParaRPr lang="en-US" altLang="zh-CN" sz="1400" b="1" dirty="0">
                <a:sym typeface="Symbol" panose="05050102010706020507" pitchFamily="18" charset="2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4257675" y="3532188"/>
              <a:ext cx="361950" cy="33813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e/</a:t>
              </a:r>
              <a:r>
                <a:rPr lang="en-US" altLang="zh-CN" sz="1400" b="1">
                  <a:sym typeface="Symbol" panose="05050102010706020507" pitchFamily="18" charset="2"/>
                </a:rPr>
                <a:t>3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5341938" y="3532188"/>
              <a:ext cx="361950" cy="33813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f/</a:t>
              </a:r>
              <a:r>
                <a:rPr lang="en-US" altLang="zh-CN" sz="1400" b="1">
                  <a:sym typeface="Symbol" panose="05050102010706020507" pitchFamily="18" charset="2"/>
                </a:rPr>
                <a:t>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cxnSp>
          <p:nvCxnSpPr>
            <p:cNvPr id="11" name="AutoShape 9"/>
            <p:cNvCxnSpPr>
              <a:cxnSpLocks noChangeShapeType="1"/>
              <a:stCxn id="7" idx="4"/>
              <a:endCxn id="8" idx="0"/>
            </p:cNvCxnSpPr>
            <p:nvPr/>
          </p:nvCxnSpPr>
          <p:spPr bwMode="auto">
            <a:xfrm flipH="1">
              <a:off x="3346450" y="2732088"/>
              <a:ext cx="7938" cy="8001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</a:ln>
          </p:spPr>
        </p:cxnSp>
        <p:cxnSp>
          <p:nvCxnSpPr>
            <p:cNvPr id="12" name="AutoShape 10"/>
            <p:cNvCxnSpPr>
              <a:cxnSpLocks noChangeShapeType="1"/>
              <a:stCxn id="5" idx="6"/>
              <a:endCxn id="6" idx="2"/>
            </p:cNvCxnSpPr>
            <p:nvPr/>
          </p:nvCxnSpPr>
          <p:spPr bwMode="auto">
            <a:xfrm>
              <a:off x="4629150" y="2554288"/>
              <a:ext cx="712788" cy="0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</a:ln>
          </p:spPr>
        </p:cxnSp>
        <p:cxnSp>
          <p:nvCxnSpPr>
            <p:cNvPr id="13" name="AutoShape 11"/>
            <p:cNvCxnSpPr>
              <a:cxnSpLocks noChangeShapeType="1"/>
              <a:stCxn id="6" idx="4"/>
              <a:endCxn id="10" idx="0"/>
            </p:cNvCxnSpPr>
            <p:nvPr/>
          </p:nvCxnSpPr>
          <p:spPr bwMode="auto">
            <a:xfrm>
              <a:off x="5522913" y="2722563"/>
              <a:ext cx="0" cy="8096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4" name="AutoShape 12"/>
            <p:cNvCxnSpPr>
              <a:cxnSpLocks noChangeShapeType="1"/>
              <a:stCxn id="5" idx="4"/>
              <a:endCxn id="9" idx="0"/>
            </p:cNvCxnSpPr>
            <p:nvPr/>
          </p:nvCxnSpPr>
          <p:spPr bwMode="auto">
            <a:xfrm>
              <a:off x="4438650" y="2732088"/>
              <a:ext cx="0" cy="800100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</a:ln>
          </p:spPr>
        </p:cxnSp>
        <p:cxnSp>
          <p:nvCxnSpPr>
            <p:cNvPr id="15" name="AutoShape 13"/>
            <p:cNvCxnSpPr>
              <a:cxnSpLocks noChangeShapeType="1"/>
              <a:stCxn id="9" idx="6"/>
              <a:endCxn id="10" idx="2"/>
            </p:cNvCxnSpPr>
            <p:nvPr/>
          </p:nvCxnSpPr>
          <p:spPr bwMode="auto">
            <a:xfrm>
              <a:off x="4619625" y="3702050"/>
              <a:ext cx="722313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6" name="AutoShape 14"/>
            <p:cNvCxnSpPr>
              <a:cxnSpLocks noChangeShapeType="1"/>
              <a:stCxn id="8" idx="6"/>
              <a:endCxn id="9" idx="2"/>
            </p:cNvCxnSpPr>
            <p:nvPr/>
          </p:nvCxnSpPr>
          <p:spPr bwMode="auto">
            <a:xfrm>
              <a:off x="3525838" y="3702050"/>
              <a:ext cx="731837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7" name="AutoShape 15"/>
            <p:cNvCxnSpPr>
              <a:cxnSpLocks noChangeShapeType="1"/>
              <a:stCxn id="9" idx="7"/>
              <a:endCxn id="6" idx="3"/>
            </p:cNvCxnSpPr>
            <p:nvPr/>
          </p:nvCxnSpPr>
          <p:spPr bwMode="auto">
            <a:xfrm flipV="1">
              <a:off x="4565650" y="2673350"/>
              <a:ext cx="828675" cy="90805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3744898" y="228917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5</a:t>
              </a:r>
              <a:endParaRPr lang="en-US" altLang="zh-CN" sz="1600" b="1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3022153" y="3032125"/>
              <a:ext cx="400944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11</a:t>
              </a:r>
              <a:endParaRPr lang="en-US" altLang="zh-CN" sz="1600" b="1"/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3744898" y="366712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0</a:t>
              </a:r>
              <a:endParaRPr lang="en-US" altLang="zh-CN" sz="1600" b="1"/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4197335" y="299243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3</a:t>
              </a:r>
              <a:endParaRPr lang="en-US" altLang="zh-CN" sz="1600" b="1"/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4703748" y="289718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1</a:t>
              </a:r>
              <a:endParaRPr lang="en-US" altLang="zh-CN" sz="1600" b="1"/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4775185" y="229552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7</a:t>
              </a:r>
              <a:endParaRPr lang="en-US" altLang="zh-CN" sz="1600" b="1"/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5505102" y="2963863"/>
              <a:ext cx="367409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-3</a:t>
              </a:r>
              <a:endParaRPr lang="en-US" altLang="zh-CN" sz="1600" b="1"/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4775185" y="366712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2</a:t>
              </a:r>
              <a:endParaRPr lang="en-US" altLang="zh-CN" sz="1600" b="1"/>
            </a:p>
          </p:txBody>
        </p:sp>
        <p:cxnSp>
          <p:nvCxnSpPr>
            <p:cNvPr id="26" name="AutoShape 24"/>
            <p:cNvCxnSpPr>
              <a:cxnSpLocks noChangeShapeType="1"/>
              <a:stCxn id="7" idx="6"/>
              <a:endCxn id="5" idx="2"/>
            </p:cNvCxnSpPr>
            <p:nvPr/>
          </p:nvCxnSpPr>
          <p:spPr bwMode="auto">
            <a:xfrm>
              <a:off x="3544888" y="2554288"/>
              <a:ext cx="703262" cy="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</a:ln>
          </p:spPr>
        </p:cxn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6065713" y="2849563"/>
              <a:ext cx="2002087" cy="830997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 dirty="0"/>
                <a:t>Q = e  c  d   f</a:t>
              </a:r>
              <a:endParaRPr lang="en-US" altLang="zh-CN" sz="2400" dirty="0"/>
            </a:p>
            <a:p>
              <a:pPr algn="ctr" eaLnBrk="0" hangingPunct="0"/>
              <a:r>
                <a:rPr lang="en-US" altLang="zh-CN" sz="2400" dirty="0"/>
                <a:t>       3  7 11 </a:t>
              </a:r>
              <a:r>
                <a:rPr lang="en-US" altLang="zh-CN" sz="2400" dirty="0">
                  <a:sym typeface="Symbol" panose="05050102010706020507" pitchFamily="18" charset="2"/>
                </a:rPr>
                <a:t></a:t>
              </a:r>
              <a:endParaRPr lang="en-US" altLang="zh-CN" sz="2400" dirty="0"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of Prim</a:t>
            </a:r>
            <a:r>
              <a:rPr lang="en-US" altLang="zh-CN" dirty="0" smtClean="0">
                <a:latin typeface="Times New Roman" panose="02020603050405020304" pitchFamily="18" charset="0"/>
              </a:rPr>
              <a:t>’</a:t>
            </a:r>
            <a:r>
              <a:rPr lang="en-US" altLang="zh-CN" dirty="0" smtClean="0"/>
              <a:t>s Algorithm</a:t>
            </a:r>
            <a:endParaRPr lang="zh-CN" altLang="en-US" dirty="0"/>
          </a:p>
        </p:txBody>
      </p:sp>
      <p:grpSp>
        <p:nvGrpSpPr>
          <p:cNvPr id="3" name="组合 3"/>
          <p:cNvGrpSpPr/>
          <p:nvPr/>
        </p:nvGrpSpPr>
        <p:grpSpPr>
          <a:xfrm>
            <a:off x="2524101" y="1998248"/>
            <a:ext cx="4676551" cy="1716504"/>
            <a:chOff x="3022153" y="2289175"/>
            <a:chExt cx="4676551" cy="1716504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auto">
            <a:xfrm>
              <a:off x="4257675" y="2384425"/>
              <a:ext cx="361950" cy="338138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b/5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5341938" y="2384425"/>
              <a:ext cx="361950" cy="33813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c/</a:t>
              </a:r>
              <a:r>
                <a:rPr lang="en-US" altLang="zh-CN" sz="1400" b="1">
                  <a:sym typeface="Symbol" panose="05050102010706020507" pitchFamily="18" charset="2"/>
                </a:rPr>
                <a:t>1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3173413" y="2384425"/>
              <a:ext cx="361950" cy="338138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 dirty="0"/>
                <a:t>a/0</a:t>
              </a:r>
              <a:endParaRPr lang="en-US" altLang="zh-CN" sz="1400" b="1" dirty="0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3179763" y="3532188"/>
              <a:ext cx="360362" cy="33813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d/</a:t>
              </a:r>
              <a:r>
                <a:rPr lang="en-US" altLang="zh-CN" sz="1400" b="1">
                  <a:sym typeface="Symbol" panose="05050102010706020507" pitchFamily="18" charset="2"/>
                </a:rPr>
                <a:t>0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4257675" y="3532188"/>
              <a:ext cx="361950" cy="338137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e/3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5341938" y="3532188"/>
              <a:ext cx="361950" cy="33813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f/</a:t>
              </a:r>
              <a:r>
                <a:rPr lang="en-US" altLang="zh-CN" sz="1400" b="1">
                  <a:sym typeface="Symbol" panose="05050102010706020507" pitchFamily="18" charset="2"/>
                </a:rPr>
                <a:t>2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cxnSp>
          <p:nvCxnSpPr>
            <p:cNvPr id="11" name="AutoShape 9"/>
            <p:cNvCxnSpPr>
              <a:cxnSpLocks noChangeShapeType="1"/>
              <a:stCxn id="7" idx="4"/>
              <a:endCxn id="8" idx="0"/>
            </p:cNvCxnSpPr>
            <p:nvPr/>
          </p:nvCxnSpPr>
          <p:spPr bwMode="auto">
            <a:xfrm>
              <a:off x="3354388" y="2732088"/>
              <a:ext cx="6350" cy="8001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2" name="AutoShape 10"/>
            <p:cNvCxnSpPr>
              <a:cxnSpLocks noChangeShapeType="1"/>
              <a:stCxn id="5" idx="6"/>
              <a:endCxn id="6" idx="2"/>
            </p:cNvCxnSpPr>
            <p:nvPr/>
          </p:nvCxnSpPr>
          <p:spPr bwMode="auto">
            <a:xfrm>
              <a:off x="4629150" y="2554288"/>
              <a:ext cx="712788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3" name="AutoShape 11"/>
            <p:cNvCxnSpPr>
              <a:cxnSpLocks noChangeShapeType="1"/>
              <a:stCxn id="6" idx="4"/>
              <a:endCxn id="10" idx="0"/>
            </p:cNvCxnSpPr>
            <p:nvPr/>
          </p:nvCxnSpPr>
          <p:spPr bwMode="auto">
            <a:xfrm>
              <a:off x="5522913" y="2722563"/>
              <a:ext cx="0" cy="8096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4" name="AutoShape 12"/>
            <p:cNvCxnSpPr>
              <a:cxnSpLocks noChangeShapeType="1"/>
              <a:stCxn id="5" idx="4"/>
              <a:endCxn id="9" idx="0"/>
            </p:cNvCxnSpPr>
            <p:nvPr/>
          </p:nvCxnSpPr>
          <p:spPr bwMode="auto">
            <a:xfrm>
              <a:off x="4438650" y="2732088"/>
              <a:ext cx="0" cy="790575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</a:ln>
          </p:spPr>
        </p:cxnSp>
        <p:cxnSp>
          <p:nvCxnSpPr>
            <p:cNvPr id="15" name="AutoShape 13"/>
            <p:cNvCxnSpPr>
              <a:cxnSpLocks noChangeShapeType="1"/>
              <a:stCxn id="9" idx="6"/>
              <a:endCxn id="10" idx="2"/>
            </p:cNvCxnSpPr>
            <p:nvPr/>
          </p:nvCxnSpPr>
          <p:spPr bwMode="auto">
            <a:xfrm>
              <a:off x="4629150" y="3702050"/>
              <a:ext cx="712788" cy="0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</a:ln>
          </p:spPr>
        </p:cxnSp>
        <p:cxnSp>
          <p:nvCxnSpPr>
            <p:cNvPr id="16" name="AutoShape 14"/>
            <p:cNvCxnSpPr>
              <a:cxnSpLocks noChangeShapeType="1"/>
              <a:stCxn id="8" idx="6"/>
              <a:endCxn id="9" idx="2"/>
            </p:cNvCxnSpPr>
            <p:nvPr/>
          </p:nvCxnSpPr>
          <p:spPr bwMode="auto">
            <a:xfrm>
              <a:off x="3540125" y="3702050"/>
              <a:ext cx="708025" cy="0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</p:spPr>
        </p:cxnSp>
        <p:cxnSp>
          <p:nvCxnSpPr>
            <p:cNvPr id="17" name="AutoShape 15"/>
            <p:cNvCxnSpPr>
              <a:cxnSpLocks noChangeShapeType="1"/>
              <a:stCxn id="9" idx="7"/>
              <a:endCxn id="6" idx="3"/>
            </p:cNvCxnSpPr>
            <p:nvPr/>
          </p:nvCxnSpPr>
          <p:spPr bwMode="auto">
            <a:xfrm flipV="1">
              <a:off x="4567238" y="2673350"/>
              <a:ext cx="827087" cy="898525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</a:ln>
          </p:spPr>
        </p:cxn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3744898" y="228917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5</a:t>
              </a:r>
              <a:endParaRPr lang="en-US" altLang="zh-CN" sz="1600" b="1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3022153" y="3032125"/>
              <a:ext cx="400944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11</a:t>
              </a:r>
              <a:endParaRPr lang="en-US" altLang="zh-CN" sz="1600" b="1"/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3744898" y="366712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0</a:t>
              </a:r>
              <a:endParaRPr lang="en-US" altLang="zh-CN" sz="1600" b="1"/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4197335" y="299243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3</a:t>
              </a:r>
              <a:endParaRPr lang="en-US" altLang="zh-CN" sz="1400" b="1"/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4703748" y="289718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1</a:t>
              </a:r>
              <a:endParaRPr lang="en-US" altLang="zh-CN" sz="1600" b="1"/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4775185" y="229552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7</a:t>
              </a:r>
              <a:endParaRPr lang="en-US" altLang="zh-CN" sz="1600" b="1"/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5505102" y="2963863"/>
              <a:ext cx="367409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-3</a:t>
              </a:r>
              <a:endParaRPr lang="en-US" altLang="zh-CN" sz="1600" b="1"/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4775185" y="366712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2</a:t>
              </a:r>
              <a:endParaRPr lang="en-US" altLang="zh-CN" sz="1600" b="1"/>
            </a:p>
          </p:txBody>
        </p:sp>
        <p:cxnSp>
          <p:nvCxnSpPr>
            <p:cNvPr id="26" name="AutoShape 24"/>
            <p:cNvCxnSpPr>
              <a:cxnSpLocks noChangeShapeType="1"/>
              <a:stCxn id="7" idx="6"/>
              <a:endCxn id="5" idx="2"/>
            </p:cNvCxnSpPr>
            <p:nvPr/>
          </p:nvCxnSpPr>
          <p:spPr bwMode="auto">
            <a:xfrm>
              <a:off x="3544888" y="2554288"/>
              <a:ext cx="703262" cy="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</a:ln>
          </p:spPr>
        </p:cxn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6064922" y="2849563"/>
              <a:ext cx="1633782" cy="830997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/>
                <a:t>Q = d  c  f</a:t>
              </a:r>
              <a:endParaRPr lang="en-US" altLang="zh-CN" sz="2400"/>
            </a:p>
            <a:p>
              <a:pPr algn="ctr" eaLnBrk="0" hangingPunct="0"/>
              <a:r>
                <a:rPr lang="en-US" altLang="zh-CN" sz="2400"/>
                <a:t>       0  </a:t>
              </a:r>
              <a:r>
                <a:rPr lang="en-US" altLang="zh-CN" sz="2400">
                  <a:sym typeface="Symbol" panose="05050102010706020507" pitchFamily="18" charset="2"/>
                </a:rPr>
                <a:t>1  2</a:t>
              </a:r>
              <a:endParaRPr lang="en-US" altLang="zh-CN" sz="2400"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of Prim</a:t>
            </a:r>
            <a:r>
              <a:rPr lang="en-US" altLang="zh-CN" dirty="0" smtClean="0">
                <a:latin typeface="Times New Roman" panose="02020603050405020304" pitchFamily="18" charset="0"/>
              </a:rPr>
              <a:t>’</a:t>
            </a:r>
            <a:r>
              <a:rPr lang="en-US" altLang="zh-CN" dirty="0" smtClean="0"/>
              <a:t>s Algorithm</a:t>
            </a:r>
            <a:endParaRPr lang="zh-CN" altLang="en-US" dirty="0"/>
          </a:p>
        </p:txBody>
      </p:sp>
      <p:grpSp>
        <p:nvGrpSpPr>
          <p:cNvPr id="3" name="组合 3"/>
          <p:cNvGrpSpPr/>
          <p:nvPr/>
        </p:nvGrpSpPr>
        <p:grpSpPr>
          <a:xfrm>
            <a:off x="2524100" y="2000240"/>
            <a:ext cx="4353430" cy="1716504"/>
            <a:chOff x="3022153" y="2289175"/>
            <a:chExt cx="4353430" cy="1716504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auto">
            <a:xfrm>
              <a:off x="4257675" y="2384425"/>
              <a:ext cx="361950" cy="338138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b/5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5341938" y="2384425"/>
              <a:ext cx="361950" cy="33813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c/</a:t>
              </a:r>
              <a:r>
                <a:rPr lang="en-US" altLang="zh-CN" sz="1400" b="1">
                  <a:sym typeface="Symbol" panose="05050102010706020507" pitchFamily="18" charset="2"/>
                </a:rPr>
                <a:t>1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3173413" y="2384425"/>
              <a:ext cx="361950" cy="338138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a/0</a:t>
              </a:r>
              <a:endParaRPr lang="en-US" altLang="zh-CN" sz="1400" b="1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3179763" y="3532188"/>
              <a:ext cx="360362" cy="338137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d/0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4257675" y="3532188"/>
              <a:ext cx="361950" cy="338137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e/3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5341938" y="3532188"/>
              <a:ext cx="361950" cy="33813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f/</a:t>
              </a:r>
              <a:r>
                <a:rPr lang="en-US" altLang="zh-CN" sz="1400" b="1">
                  <a:sym typeface="Symbol" panose="05050102010706020507" pitchFamily="18" charset="2"/>
                </a:rPr>
                <a:t>2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cxnSp>
          <p:nvCxnSpPr>
            <p:cNvPr id="11" name="AutoShape 9"/>
            <p:cNvCxnSpPr>
              <a:cxnSpLocks noChangeShapeType="1"/>
              <a:stCxn id="7" idx="4"/>
              <a:endCxn id="8" idx="0"/>
            </p:cNvCxnSpPr>
            <p:nvPr/>
          </p:nvCxnSpPr>
          <p:spPr bwMode="auto">
            <a:xfrm>
              <a:off x="3354388" y="2732088"/>
              <a:ext cx="6350" cy="7905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2" name="AutoShape 10"/>
            <p:cNvCxnSpPr>
              <a:cxnSpLocks noChangeShapeType="1"/>
              <a:stCxn id="5" idx="6"/>
              <a:endCxn id="6" idx="2"/>
            </p:cNvCxnSpPr>
            <p:nvPr/>
          </p:nvCxnSpPr>
          <p:spPr bwMode="auto">
            <a:xfrm>
              <a:off x="4629150" y="2554288"/>
              <a:ext cx="712788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3" name="AutoShape 11"/>
            <p:cNvCxnSpPr>
              <a:cxnSpLocks noChangeShapeType="1"/>
              <a:stCxn id="6" idx="4"/>
              <a:endCxn id="10" idx="0"/>
            </p:cNvCxnSpPr>
            <p:nvPr/>
          </p:nvCxnSpPr>
          <p:spPr bwMode="auto">
            <a:xfrm>
              <a:off x="5522913" y="2722563"/>
              <a:ext cx="0" cy="8096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4" name="AutoShape 12"/>
            <p:cNvCxnSpPr>
              <a:cxnSpLocks noChangeShapeType="1"/>
              <a:stCxn id="5" idx="4"/>
              <a:endCxn id="9" idx="0"/>
            </p:cNvCxnSpPr>
            <p:nvPr/>
          </p:nvCxnSpPr>
          <p:spPr bwMode="auto">
            <a:xfrm>
              <a:off x="4438650" y="2732088"/>
              <a:ext cx="0" cy="790575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</a:ln>
          </p:spPr>
        </p:cxnSp>
        <p:cxnSp>
          <p:nvCxnSpPr>
            <p:cNvPr id="15" name="AutoShape 13"/>
            <p:cNvCxnSpPr>
              <a:cxnSpLocks noChangeShapeType="1"/>
              <a:stCxn id="9" idx="6"/>
              <a:endCxn id="10" idx="2"/>
            </p:cNvCxnSpPr>
            <p:nvPr/>
          </p:nvCxnSpPr>
          <p:spPr bwMode="auto">
            <a:xfrm>
              <a:off x="4629150" y="3702050"/>
              <a:ext cx="712788" cy="0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</a:ln>
          </p:spPr>
        </p:cxnSp>
        <p:cxnSp>
          <p:nvCxnSpPr>
            <p:cNvPr id="16" name="AutoShape 14"/>
            <p:cNvCxnSpPr>
              <a:cxnSpLocks noChangeShapeType="1"/>
              <a:stCxn id="8" idx="6"/>
              <a:endCxn id="9" idx="2"/>
            </p:cNvCxnSpPr>
            <p:nvPr/>
          </p:nvCxnSpPr>
          <p:spPr bwMode="auto">
            <a:xfrm>
              <a:off x="3549650" y="3702050"/>
              <a:ext cx="698500" cy="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tailEnd type="triangle" w="med" len="med"/>
            </a:ln>
          </p:spPr>
        </p:cxnSp>
        <p:cxnSp>
          <p:nvCxnSpPr>
            <p:cNvPr id="17" name="AutoShape 15"/>
            <p:cNvCxnSpPr>
              <a:cxnSpLocks noChangeShapeType="1"/>
              <a:stCxn id="9" idx="7"/>
              <a:endCxn id="6" idx="3"/>
            </p:cNvCxnSpPr>
            <p:nvPr/>
          </p:nvCxnSpPr>
          <p:spPr bwMode="auto">
            <a:xfrm flipV="1">
              <a:off x="4567238" y="2673350"/>
              <a:ext cx="827087" cy="898525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</a:ln>
          </p:spPr>
        </p:cxn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3744898" y="228917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5</a:t>
              </a:r>
              <a:endParaRPr lang="en-US" altLang="zh-CN" sz="1600" b="1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3022153" y="3032125"/>
              <a:ext cx="400944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11</a:t>
              </a:r>
              <a:endParaRPr lang="en-US" altLang="zh-CN" sz="1600" b="1"/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3744898" y="366712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0</a:t>
              </a:r>
              <a:endParaRPr lang="en-US" altLang="zh-CN" sz="1600" b="1"/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4197335" y="299243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3</a:t>
              </a:r>
              <a:endParaRPr lang="en-US" altLang="zh-CN" sz="1600" b="1"/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4703748" y="289718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1</a:t>
              </a:r>
              <a:endParaRPr lang="en-US" altLang="zh-CN" sz="1600" b="1"/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4775185" y="229552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7</a:t>
              </a:r>
              <a:endParaRPr lang="en-US" altLang="zh-CN" sz="1600" b="1"/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5505102" y="2963863"/>
              <a:ext cx="367409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-3</a:t>
              </a:r>
              <a:endParaRPr lang="en-US" altLang="zh-CN" sz="1600" b="1"/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4775185" y="366712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2</a:t>
              </a:r>
              <a:endParaRPr lang="en-US" altLang="zh-CN" sz="1600" b="1"/>
            </a:p>
          </p:txBody>
        </p:sp>
        <p:cxnSp>
          <p:nvCxnSpPr>
            <p:cNvPr id="26" name="AutoShape 24"/>
            <p:cNvCxnSpPr>
              <a:cxnSpLocks noChangeShapeType="1"/>
              <a:stCxn id="7" idx="6"/>
              <a:endCxn id="5" idx="2"/>
            </p:cNvCxnSpPr>
            <p:nvPr/>
          </p:nvCxnSpPr>
          <p:spPr bwMode="auto">
            <a:xfrm>
              <a:off x="3544888" y="2554288"/>
              <a:ext cx="703262" cy="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</a:ln>
          </p:spPr>
        </p:cxn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6083242" y="2849563"/>
              <a:ext cx="1292341" cy="830997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/>
                <a:t>Q = c  f</a:t>
              </a:r>
              <a:endParaRPr lang="en-US" altLang="zh-CN" sz="2400"/>
            </a:p>
            <a:p>
              <a:pPr algn="ctr" eaLnBrk="0" hangingPunct="0"/>
              <a:r>
                <a:rPr lang="en-US" altLang="zh-CN" sz="2400"/>
                <a:t>       1  </a:t>
              </a:r>
              <a:r>
                <a:rPr lang="en-US" altLang="zh-CN" sz="2400">
                  <a:sym typeface="Symbol" panose="05050102010706020507" pitchFamily="18" charset="2"/>
                </a:rPr>
                <a:t>2</a:t>
              </a:r>
              <a:endParaRPr lang="en-US" altLang="zh-CN" sz="2400"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of Prim</a:t>
            </a:r>
            <a:r>
              <a:rPr lang="en-US" altLang="zh-CN" dirty="0" smtClean="0">
                <a:latin typeface="Times New Roman" panose="02020603050405020304" pitchFamily="18" charset="0"/>
              </a:rPr>
              <a:t>’</a:t>
            </a:r>
            <a:r>
              <a:rPr lang="en-US" altLang="zh-CN" dirty="0" smtClean="0"/>
              <a:t>s Algorithm</a:t>
            </a:r>
            <a:endParaRPr lang="zh-CN" altLang="en-US" dirty="0"/>
          </a:p>
        </p:txBody>
      </p:sp>
      <p:grpSp>
        <p:nvGrpSpPr>
          <p:cNvPr id="3" name="组合 3"/>
          <p:cNvGrpSpPr/>
          <p:nvPr/>
        </p:nvGrpSpPr>
        <p:grpSpPr>
          <a:xfrm>
            <a:off x="2524101" y="1998248"/>
            <a:ext cx="4051827" cy="1716504"/>
            <a:chOff x="3022153" y="2289175"/>
            <a:chExt cx="4051827" cy="1716504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auto">
            <a:xfrm>
              <a:off x="4257675" y="2384425"/>
              <a:ext cx="361950" cy="338138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b/5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5341938" y="2384425"/>
              <a:ext cx="361950" cy="338138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c/</a:t>
              </a:r>
              <a:r>
                <a:rPr lang="en-US" altLang="zh-CN" sz="1400" b="1">
                  <a:sym typeface="Symbol" panose="05050102010706020507" pitchFamily="18" charset="2"/>
                </a:rPr>
                <a:t>1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3173413" y="2384425"/>
              <a:ext cx="361950" cy="338138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600" b="1"/>
                <a:t>a/0</a:t>
              </a:r>
              <a:endParaRPr lang="en-US" altLang="zh-CN" sz="1600" b="1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3179763" y="3532188"/>
              <a:ext cx="360362" cy="338137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600" b="1"/>
                <a:t>d/0</a:t>
              </a:r>
              <a:endParaRPr lang="en-US" altLang="zh-CN" sz="1600" b="1">
                <a:sym typeface="Symbol" panose="05050102010706020507" pitchFamily="18" charset="2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4257675" y="3532188"/>
              <a:ext cx="361950" cy="338137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e/3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5341938" y="3532188"/>
              <a:ext cx="361950" cy="338137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f/</a:t>
              </a:r>
              <a:r>
                <a:rPr lang="en-US" altLang="zh-CN" sz="1400" b="1">
                  <a:sym typeface="Symbol" panose="05050102010706020507" pitchFamily="18" charset="2"/>
                </a:rPr>
                <a:t>-3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cxnSp>
          <p:nvCxnSpPr>
            <p:cNvPr id="11" name="AutoShape 9"/>
            <p:cNvCxnSpPr>
              <a:cxnSpLocks noChangeShapeType="1"/>
              <a:stCxn id="7" idx="4"/>
              <a:endCxn id="8" idx="0"/>
            </p:cNvCxnSpPr>
            <p:nvPr/>
          </p:nvCxnSpPr>
          <p:spPr bwMode="auto">
            <a:xfrm>
              <a:off x="3354388" y="2732088"/>
              <a:ext cx="6350" cy="7905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2" name="AutoShape 10"/>
            <p:cNvCxnSpPr>
              <a:cxnSpLocks noChangeShapeType="1"/>
              <a:stCxn id="5" idx="6"/>
              <a:endCxn id="6" idx="2"/>
            </p:cNvCxnSpPr>
            <p:nvPr/>
          </p:nvCxnSpPr>
          <p:spPr bwMode="auto">
            <a:xfrm>
              <a:off x="4629150" y="2554288"/>
              <a:ext cx="703263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3" name="AutoShape 11"/>
            <p:cNvCxnSpPr>
              <a:cxnSpLocks noChangeShapeType="1"/>
              <a:stCxn id="6" idx="4"/>
              <a:endCxn id="10" idx="0"/>
            </p:cNvCxnSpPr>
            <p:nvPr/>
          </p:nvCxnSpPr>
          <p:spPr bwMode="auto">
            <a:xfrm>
              <a:off x="5522913" y="2732088"/>
              <a:ext cx="0" cy="800100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</a:ln>
          </p:spPr>
        </p:cxnSp>
        <p:cxnSp>
          <p:nvCxnSpPr>
            <p:cNvPr id="14" name="AutoShape 12"/>
            <p:cNvCxnSpPr>
              <a:cxnSpLocks noChangeShapeType="1"/>
              <a:stCxn id="5" idx="4"/>
              <a:endCxn id="9" idx="0"/>
            </p:cNvCxnSpPr>
            <p:nvPr/>
          </p:nvCxnSpPr>
          <p:spPr bwMode="auto">
            <a:xfrm>
              <a:off x="4438650" y="2732088"/>
              <a:ext cx="0" cy="790575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</a:ln>
          </p:spPr>
        </p:cxnSp>
        <p:cxnSp>
          <p:nvCxnSpPr>
            <p:cNvPr id="15" name="AutoShape 13"/>
            <p:cNvCxnSpPr>
              <a:cxnSpLocks noChangeShapeType="1"/>
              <a:stCxn id="9" idx="6"/>
              <a:endCxn id="10" idx="2"/>
            </p:cNvCxnSpPr>
            <p:nvPr/>
          </p:nvCxnSpPr>
          <p:spPr bwMode="auto">
            <a:xfrm>
              <a:off x="4629150" y="3702050"/>
              <a:ext cx="712788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6" name="AutoShape 14"/>
            <p:cNvCxnSpPr>
              <a:cxnSpLocks noChangeShapeType="1"/>
              <a:stCxn id="8" idx="6"/>
              <a:endCxn id="9" idx="2"/>
            </p:cNvCxnSpPr>
            <p:nvPr/>
          </p:nvCxnSpPr>
          <p:spPr bwMode="auto">
            <a:xfrm>
              <a:off x="3549650" y="3702050"/>
              <a:ext cx="698500" cy="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tailEnd type="triangle" w="med" len="med"/>
            </a:ln>
          </p:spPr>
        </p:cxnSp>
        <p:cxnSp>
          <p:nvCxnSpPr>
            <p:cNvPr id="17" name="AutoShape 15"/>
            <p:cNvCxnSpPr>
              <a:cxnSpLocks noChangeShapeType="1"/>
              <a:stCxn id="9" idx="7"/>
              <a:endCxn id="6" idx="3"/>
            </p:cNvCxnSpPr>
            <p:nvPr/>
          </p:nvCxnSpPr>
          <p:spPr bwMode="auto">
            <a:xfrm flipV="1">
              <a:off x="4567238" y="2682875"/>
              <a:ext cx="827087" cy="88900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</a:ln>
          </p:spPr>
        </p:cxn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3744898" y="228917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5</a:t>
              </a:r>
              <a:endParaRPr lang="en-US" altLang="zh-CN" sz="1600" b="1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3022153" y="3032125"/>
              <a:ext cx="400944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11</a:t>
              </a:r>
              <a:endParaRPr lang="en-US" altLang="zh-CN" sz="1600" b="1"/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3744898" y="366712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0</a:t>
              </a:r>
              <a:endParaRPr lang="en-US" altLang="zh-CN" sz="1600" b="1"/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4197335" y="299243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3</a:t>
              </a:r>
              <a:endParaRPr lang="en-US" altLang="zh-CN" sz="1600" b="1"/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4703748" y="289718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1</a:t>
              </a:r>
              <a:endParaRPr lang="en-US" altLang="zh-CN" sz="1600" b="1"/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4775185" y="229552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7</a:t>
              </a:r>
              <a:endParaRPr lang="en-US" altLang="zh-CN" sz="1600" b="1"/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5505102" y="2963863"/>
              <a:ext cx="367409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-3</a:t>
              </a:r>
              <a:endParaRPr lang="en-US" altLang="zh-CN" sz="1600" b="1"/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4775185" y="366712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2</a:t>
              </a:r>
              <a:endParaRPr lang="en-US" altLang="zh-CN" sz="1600" b="1"/>
            </a:p>
          </p:txBody>
        </p:sp>
        <p:cxnSp>
          <p:nvCxnSpPr>
            <p:cNvPr id="26" name="AutoShape 24"/>
            <p:cNvCxnSpPr>
              <a:cxnSpLocks noChangeShapeType="1"/>
              <a:stCxn id="7" idx="6"/>
              <a:endCxn id="5" idx="2"/>
            </p:cNvCxnSpPr>
            <p:nvPr/>
          </p:nvCxnSpPr>
          <p:spPr bwMode="auto">
            <a:xfrm>
              <a:off x="3544888" y="2554288"/>
              <a:ext cx="703262" cy="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</a:ln>
          </p:spPr>
        </p:cxn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6105445" y="2849563"/>
              <a:ext cx="968535" cy="830997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/>
                <a:t>Q = f</a:t>
              </a:r>
              <a:endParaRPr lang="en-US" altLang="zh-CN" sz="2400"/>
            </a:p>
            <a:p>
              <a:pPr algn="ctr" eaLnBrk="0" hangingPunct="0"/>
              <a:r>
                <a:rPr lang="en-US" altLang="zh-CN" sz="2400"/>
                <a:t>      -3</a:t>
              </a:r>
              <a:endParaRPr lang="en-US" altLang="zh-CN" sz="2400"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of Prim</a:t>
            </a:r>
            <a:r>
              <a:rPr lang="en-US" altLang="zh-CN" dirty="0" smtClean="0">
                <a:latin typeface="Times New Roman" panose="02020603050405020304" pitchFamily="18" charset="0"/>
              </a:rPr>
              <a:t>’</a:t>
            </a:r>
            <a:r>
              <a:rPr lang="en-US" altLang="zh-CN" dirty="0" smtClean="0"/>
              <a:t>s Algorithm</a:t>
            </a:r>
            <a:endParaRPr lang="zh-CN" altLang="en-US" dirty="0"/>
          </a:p>
        </p:txBody>
      </p:sp>
      <p:grpSp>
        <p:nvGrpSpPr>
          <p:cNvPr id="3" name="组合 3"/>
          <p:cNvGrpSpPr/>
          <p:nvPr/>
        </p:nvGrpSpPr>
        <p:grpSpPr>
          <a:xfrm>
            <a:off x="2524100" y="1998248"/>
            <a:ext cx="4122750" cy="1716504"/>
            <a:chOff x="3022153" y="2289175"/>
            <a:chExt cx="4122750" cy="1716504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auto">
            <a:xfrm>
              <a:off x="4257675" y="2384425"/>
              <a:ext cx="361950" cy="338138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b/5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5341938" y="2384425"/>
              <a:ext cx="361950" cy="338138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c/</a:t>
              </a:r>
              <a:r>
                <a:rPr lang="en-US" altLang="zh-CN" sz="1400" b="1">
                  <a:sym typeface="Symbol" panose="05050102010706020507" pitchFamily="18" charset="2"/>
                </a:rPr>
                <a:t>1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3173413" y="2384425"/>
              <a:ext cx="361950" cy="338138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600" b="1"/>
                <a:t>a/0</a:t>
              </a:r>
              <a:endParaRPr lang="en-US" altLang="zh-CN" sz="1600" b="1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3179763" y="3532188"/>
              <a:ext cx="360362" cy="338137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600" b="1"/>
                <a:t>d/0</a:t>
              </a:r>
              <a:endParaRPr lang="en-US" altLang="zh-CN" sz="1600" b="1">
                <a:sym typeface="Symbol" panose="05050102010706020507" pitchFamily="18" charset="2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4257675" y="3532188"/>
              <a:ext cx="361950" cy="338137"/>
            </a:xfrm>
            <a:prstGeom prst="ellipse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e/3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5341938" y="3532188"/>
              <a:ext cx="361950" cy="338137"/>
            </a:xfrm>
            <a:prstGeom prst="ellipse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f/</a:t>
              </a:r>
              <a:r>
                <a:rPr lang="en-US" altLang="zh-CN" sz="1400" b="1">
                  <a:sym typeface="Symbol" panose="05050102010706020507" pitchFamily="18" charset="2"/>
                </a:rPr>
                <a:t>-3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cxnSp>
          <p:nvCxnSpPr>
            <p:cNvPr id="11" name="AutoShape 9"/>
            <p:cNvCxnSpPr>
              <a:cxnSpLocks noChangeShapeType="1"/>
              <a:stCxn id="7" idx="4"/>
              <a:endCxn id="8" idx="0"/>
            </p:cNvCxnSpPr>
            <p:nvPr/>
          </p:nvCxnSpPr>
          <p:spPr bwMode="auto">
            <a:xfrm>
              <a:off x="3354388" y="2732088"/>
              <a:ext cx="6350" cy="7905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2" name="AutoShape 10"/>
            <p:cNvCxnSpPr>
              <a:cxnSpLocks noChangeShapeType="1"/>
              <a:stCxn id="5" idx="6"/>
              <a:endCxn id="6" idx="2"/>
            </p:cNvCxnSpPr>
            <p:nvPr/>
          </p:nvCxnSpPr>
          <p:spPr bwMode="auto">
            <a:xfrm>
              <a:off x="4629150" y="2554288"/>
              <a:ext cx="703263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3" name="AutoShape 11"/>
            <p:cNvCxnSpPr>
              <a:cxnSpLocks noChangeShapeType="1"/>
              <a:stCxn id="6" idx="4"/>
              <a:endCxn id="10" idx="0"/>
            </p:cNvCxnSpPr>
            <p:nvPr/>
          </p:nvCxnSpPr>
          <p:spPr bwMode="auto">
            <a:xfrm>
              <a:off x="5522913" y="2732088"/>
              <a:ext cx="0" cy="80010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</a:ln>
          </p:spPr>
        </p:cxnSp>
        <p:cxnSp>
          <p:nvCxnSpPr>
            <p:cNvPr id="14" name="AutoShape 12"/>
            <p:cNvCxnSpPr>
              <a:cxnSpLocks noChangeShapeType="1"/>
              <a:stCxn id="5" idx="4"/>
              <a:endCxn id="9" idx="0"/>
            </p:cNvCxnSpPr>
            <p:nvPr/>
          </p:nvCxnSpPr>
          <p:spPr bwMode="auto">
            <a:xfrm>
              <a:off x="4438650" y="2732088"/>
              <a:ext cx="0" cy="790575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</a:ln>
          </p:spPr>
        </p:cxnSp>
        <p:cxnSp>
          <p:nvCxnSpPr>
            <p:cNvPr id="15" name="AutoShape 13"/>
            <p:cNvCxnSpPr>
              <a:cxnSpLocks noChangeShapeType="1"/>
              <a:stCxn id="9" idx="6"/>
              <a:endCxn id="10" idx="2"/>
            </p:cNvCxnSpPr>
            <p:nvPr/>
          </p:nvCxnSpPr>
          <p:spPr bwMode="auto">
            <a:xfrm>
              <a:off x="4629150" y="3702050"/>
              <a:ext cx="712788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6" name="AutoShape 14"/>
            <p:cNvCxnSpPr>
              <a:cxnSpLocks noChangeShapeType="1"/>
              <a:stCxn id="8" idx="6"/>
              <a:endCxn id="9" idx="2"/>
            </p:cNvCxnSpPr>
            <p:nvPr/>
          </p:nvCxnSpPr>
          <p:spPr bwMode="auto">
            <a:xfrm>
              <a:off x="3549650" y="3702050"/>
              <a:ext cx="698500" cy="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tailEnd type="triangle" w="med" len="med"/>
            </a:ln>
          </p:spPr>
        </p:cxnSp>
        <p:cxnSp>
          <p:nvCxnSpPr>
            <p:cNvPr id="17" name="AutoShape 15"/>
            <p:cNvCxnSpPr>
              <a:cxnSpLocks noChangeShapeType="1"/>
              <a:stCxn id="9" idx="7"/>
              <a:endCxn id="6" idx="3"/>
            </p:cNvCxnSpPr>
            <p:nvPr/>
          </p:nvCxnSpPr>
          <p:spPr bwMode="auto">
            <a:xfrm flipV="1">
              <a:off x="4567238" y="2682875"/>
              <a:ext cx="827087" cy="88900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</a:ln>
          </p:spPr>
        </p:cxn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3744898" y="228917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5</a:t>
              </a:r>
              <a:endParaRPr lang="en-US" altLang="zh-CN" sz="1600" b="1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3022153" y="3032125"/>
              <a:ext cx="400944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11</a:t>
              </a:r>
              <a:endParaRPr lang="en-US" altLang="zh-CN" sz="1600" b="1"/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3744898" y="366712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0</a:t>
              </a:r>
              <a:endParaRPr lang="en-US" altLang="zh-CN" sz="1600" b="1"/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4197335" y="299243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3</a:t>
              </a:r>
              <a:endParaRPr lang="en-US" altLang="zh-CN" sz="1600" b="1"/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4703748" y="289718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1</a:t>
              </a:r>
              <a:endParaRPr lang="en-US" altLang="zh-CN" sz="1600" b="1"/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4775185" y="229552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7</a:t>
              </a:r>
              <a:endParaRPr lang="en-US" altLang="zh-CN" sz="1600" b="1"/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5505102" y="2963863"/>
              <a:ext cx="367409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-3</a:t>
              </a:r>
              <a:endParaRPr lang="en-US" altLang="zh-CN" sz="1600" b="1"/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4775185" y="366712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2</a:t>
              </a:r>
              <a:endParaRPr lang="en-US" altLang="zh-CN" sz="1600" b="1"/>
            </a:p>
          </p:txBody>
        </p:sp>
        <p:cxnSp>
          <p:nvCxnSpPr>
            <p:cNvPr id="26" name="AutoShape 24"/>
            <p:cNvCxnSpPr>
              <a:cxnSpLocks noChangeShapeType="1"/>
              <a:stCxn id="7" idx="6"/>
              <a:endCxn id="5" idx="2"/>
            </p:cNvCxnSpPr>
            <p:nvPr/>
          </p:nvCxnSpPr>
          <p:spPr bwMode="auto">
            <a:xfrm>
              <a:off x="3544888" y="2554288"/>
              <a:ext cx="703262" cy="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</a:ln>
          </p:spPr>
        </p:cxn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6118660" y="2843213"/>
              <a:ext cx="1026243" cy="461665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400"/>
                <a:t>Q = </a:t>
              </a:r>
              <a:r>
                <a:rPr lang="en-US" altLang="zh-CN" sz="2400">
                  <a:sym typeface="Symbol" panose="05050102010706020507" pitchFamily="18" charset="2"/>
                </a:rPr>
                <a:t></a:t>
              </a:r>
              <a:endParaRPr lang="en-US" altLang="zh-CN" sz="2400"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of Prim</a:t>
            </a:r>
            <a:r>
              <a:rPr lang="en-US" altLang="zh-CN" dirty="0" smtClean="0">
                <a:latin typeface="Times New Roman" panose="02020603050405020304" pitchFamily="18" charset="0"/>
              </a:rPr>
              <a:t>’</a:t>
            </a:r>
            <a:r>
              <a:rPr lang="en-US" altLang="zh-CN" dirty="0" smtClean="0"/>
              <a:t>s Algorithm</a:t>
            </a:r>
            <a:endParaRPr lang="zh-CN" altLang="en-US" dirty="0"/>
          </a:p>
        </p:txBody>
      </p:sp>
      <p:grpSp>
        <p:nvGrpSpPr>
          <p:cNvPr id="3" name="组合 3"/>
          <p:cNvGrpSpPr/>
          <p:nvPr/>
        </p:nvGrpSpPr>
        <p:grpSpPr>
          <a:xfrm>
            <a:off x="2666977" y="2000240"/>
            <a:ext cx="2699099" cy="1697454"/>
            <a:chOff x="3171825" y="2289175"/>
            <a:chExt cx="2699099" cy="1697454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3743310" y="364807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0</a:t>
              </a:r>
              <a:endParaRPr lang="en-US" altLang="zh-CN" sz="1600" b="1"/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4256088" y="2384425"/>
              <a:ext cx="361950" cy="338138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b/5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5340350" y="2384425"/>
              <a:ext cx="361950" cy="338138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c/</a:t>
              </a:r>
              <a:r>
                <a:rPr lang="en-US" altLang="zh-CN" sz="1400" b="1">
                  <a:sym typeface="Symbol" panose="05050102010706020507" pitchFamily="18" charset="2"/>
                </a:rPr>
                <a:t>1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3171825" y="2384425"/>
              <a:ext cx="361950" cy="338138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600" b="1" dirty="0"/>
                <a:t>a/0</a:t>
              </a:r>
              <a:endParaRPr lang="en-US" altLang="zh-CN" sz="1600" b="1" dirty="0"/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3178175" y="3532188"/>
              <a:ext cx="360363" cy="338137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600" b="1"/>
                <a:t>d/0</a:t>
              </a:r>
              <a:endParaRPr lang="en-US" altLang="zh-CN" sz="1600" b="1">
                <a:sym typeface="Symbol" panose="05050102010706020507" pitchFamily="18" charset="2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4256088" y="3532188"/>
              <a:ext cx="361950" cy="338137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e/3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5340350" y="3532188"/>
              <a:ext cx="361950" cy="338137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1400" b="1"/>
                <a:t>f/</a:t>
              </a:r>
              <a:r>
                <a:rPr lang="en-US" altLang="zh-CN" sz="1400" b="1">
                  <a:sym typeface="Symbol" panose="05050102010706020507" pitchFamily="18" charset="2"/>
                </a:rPr>
                <a:t>-3</a:t>
              </a:r>
              <a:endParaRPr lang="en-US" altLang="zh-CN" sz="1400" b="1">
                <a:sym typeface="Symbol" panose="05050102010706020507" pitchFamily="18" charset="2"/>
              </a:endParaRPr>
            </a:p>
          </p:txBody>
        </p:sp>
        <p:cxnSp>
          <p:nvCxnSpPr>
            <p:cNvPr id="12" name="AutoShape 10"/>
            <p:cNvCxnSpPr>
              <a:cxnSpLocks noChangeShapeType="1"/>
              <a:stCxn id="7" idx="4"/>
              <a:endCxn id="11" idx="0"/>
            </p:cNvCxnSpPr>
            <p:nvPr/>
          </p:nvCxnSpPr>
          <p:spPr bwMode="auto">
            <a:xfrm>
              <a:off x="5521325" y="2732088"/>
              <a:ext cx="0" cy="7905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3" name="AutoShape 11"/>
            <p:cNvCxnSpPr>
              <a:cxnSpLocks noChangeShapeType="1"/>
              <a:stCxn id="6" idx="4"/>
              <a:endCxn id="10" idx="0"/>
            </p:cNvCxnSpPr>
            <p:nvPr/>
          </p:nvCxnSpPr>
          <p:spPr bwMode="auto">
            <a:xfrm>
              <a:off x="4437063" y="2732088"/>
              <a:ext cx="0" cy="7905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4" name="AutoShape 12"/>
            <p:cNvCxnSpPr>
              <a:cxnSpLocks noChangeShapeType="1"/>
              <a:stCxn id="9" idx="6"/>
              <a:endCxn id="10" idx="2"/>
            </p:cNvCxnSpPr>
            <p:nvPr/>
          </p:nvCxnSpPr>
          <p:spPr bwMode="auto">
            <a:xfrm>
              <a:off x="3548063" y="3702050"/>
              <a:ext cx="698500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cxnSp>
          <p:nvCxnSpPr>
            <p:cNvPr id="15" name="AutoShape 13"/>
            <p:cNvCxnSpPr>
              <a:cxnSpLocks noChangeShapeType="1"/>
              <a:stCxn id="10" idx="7"/>
              <a:endCxn id="7" idx="3"/>
            </p:cNvCxnSpPr>
            <p:nvPr/>
          </p:nvCxnSpPr>
          <p:spPr bwMode="auto">
            <a:xfrm flipV="1">
              <a:off x="4565650" y="2682875"/>
              <a:ext cx="827088" cy="8890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3743310" y="2289175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5</a:t>
              </a:r>
              <a:endParaRPr lang="en-US" altLang="zh-CN" sz="1600" b="1"/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4195748" y="299243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3</a:t>
              </a:r>
              <a:endParaRPr lang="en-US" altLang="zh-CN" sz="1600" b="1"/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4702160" y="2897188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1</a:t>
              </a:r>
              <a:endParaRPr lang="en-US" altLang="zh-CN" sz="1600" b="1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5503515" y="2963863"/>
              <a:ext cx="367409" cy="33855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b="1"/>
                <a:t>-3</a:t>
              </a:r>
              <a:endParaRPr lang="en-US" altLang="zh-CN" sz="1600" b="1"/>
            </a:p>
          </p:txBody>
        </p:sp>
        <p:cxnSp>
          <p:nvCxnSpPr>
            <p:cNvPr id="20" name="AutoShape 18"/>
            <p:cNvCxnSpPr>
              <a:cxnSpLocks noChangeShapeType="1"/>
              <a:stCxn id="8" idx="6"/>
              <a:endCxn id="6" idx="2"/>
            </p:cNvCxnSpPr>
            <p:nvPr/>
          </p:nvCxnSpPr>
          <p:spPr bwMode="auto">
            <a:xfrm>
              <a:off x="3543300" y="2554288"/>
              <a:ext cx="703263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</p:spPr>
        </p:cxnSp>
      </p:grp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Implementation of Prim's Algorithm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66914" y="1071564"/>
            <a:ext cx="8258175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905432" y="4357695"/>
            <a:ext cx="3762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If there is no edge between (</a:t>
            </a:r>
            <a:r>
              <a:rPr lang="en-US" altLang="zh-CN" b="1" dirty="0" err="1">
                <a:solidFill>
                  <a:srgbClr val="FF0000"/>
                </a:solidFill>
              </a:rPr>
              <a:t>u,v</a:t>
            </a:r>
            <a:r>
              <a:rPr lang="en-US" altLang="zh-CN" b="1" dirty="0">
                <a:solidFill>
                  <a:srgbClr val="FF0000"/>
                </a:solidFill>
              </a:rPr>
              <a:t>),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then adjacency[u][v]=+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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" name="右箭头 5"/>
          <p:cNvSpPr/>
          <p:nvPr/>
        </p:nvSpPr>
        <p:spPr>
          <a:xfrm rot="9563746">
            <a:off x="7102428" y="4962368"/>
            <a:ext cx="714380" cy="500066"/>
          </a:xfrm>
          <a:prstGeom prst="rightArrow">
            <a:avLst>
              <a:gd name="adj1" fmla="val 31084"/>
              <a:gd name="adj2" fmla="val 563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038350" y="963424"/>
            <a:ext cx="7442026" cy="5633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左箭头 4"/>
          <p:cNvSpPr/>
          <p:nvPr/>
        </p:nvSpPr>
        <p:spPr>
          <a:xfrm>
            <a:off x="6024562" y="2486408"/>
            <a:ext cx="785818" cy="3571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953257" y="2505670"/>
            <a:ext cx="2827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Find the vertex in Q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closest to the current MST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左箭头 6"/>
          <p:cNvSpPr/>
          <p:nvPr/>
        </p:nvSpPr>
        <p:spPr>
          <a:xfrm>
            <a:off x="7381884" y="4572008"/>
            <a:ext cx="600898" cy="3571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024826" y="4509120"/>
            <a:ext cx="2161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Update the distance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Exercise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Use Prim’s algorithm to construct a minimum spanning tree of the following graph, rooted at v</a:t>
            </a:r>
            <a:r>
              <a:rPr lang="en-US" altLang="zh-CN" baseline="-25000" dirty="0" smtClean="0"/>
              <a:t>5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3233" y="2324109"/>
            <a:ext cx="5265535" cy="2781282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Time Complexity</a:t>
            </a:r>
            <a:endParaRPr lang="zh-CN" altLang="en-US" dirty="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881159" y="1428737"/>
            <a:ext cx="4275851" cy="4708981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0" hangingPunct="0">
              <a:tabLst>
                <a:tab pos="461645" algn="l"/>
                <a:tab pos="909320" algn="l"/>
                <a:tab pos="1371600" algn="l"/>
                <a:tab pos="1833245" algn="l"/>
              </a:tabLst>
              <a:defRPr/>
            </a:pPr>
            <a:r>
              <a:rPr lang="en-US" altLang="zh-CN" sz="2000" dirty="0"/>
              <a:t>Q := V[G];</a:t>
            </a:r>
            <a:endParaRPr lang="en-US" altLang="zh-CN" sz="2000" dirty="0"/>
          </a:p>
          <a:p>
            <a:pPr eaLnBrk="0" hangingPunct="0">
              <a:tabLst>
                <a:tab pos="461645" algn="l"/>
                <a:tab pos="909320" algn="l"/>
                <a:tab pos="1371600" algn="l"/>
                <a:tab pos="1833245" algn="l"/>
              </a:tabLst>
              <a:defRPr/>
            </a:pPr>
            <a:r>
              <a:rPr lang="en-US" altLang="zh-CN" sz="2000" b="1" dirty="0"/>
              <a:t>for</a:t>
            </a:r>
            <a:r>
              <a:rPr lang="en-US" altLang="zh-CN" sz="2000" dirty="0"/>
              <a:t> each u </a:t>
            </a:r>
            <a:r>
              <a:rPr lang="en-US" altLang="zh-CN" sz="2000" dirty="0">
                <a:sym typeface="Symbol" panose="05050102010706020507" pitchFamily="18" charset="2"/>
              </a:rPr>
              <a:t> Q </a:t>
            </a:r>
            <a:r>
              <a:rPr lang="en-US" altLang="zh-CN" sz="2000" b="1" dirty="0">
                <a:sym typeface="Symbol" panose="05050102010706020507" pitchFamily="18" charset="2"/>
              </a:rPr>
              <a:t>do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0" hangingPunct="0">
              <a:tabLst>
                <a:tab pos="461645" algn="l"/>
                <a:tab pos="909320" algn="l"/>
                <a:tab pos="1371600" algn="l"/>
                <a:tab pos="1833245" algn="l"/>
              </a:tabLst>
              <a:defRPr/>
            </a:pPr>
            <a:r>
              <a:rPr lang="en-US" altLang="zh-CN" sz="2000" dirty="0">
                <a:sym typeface="Symbol" panose="05050102010706020507" pitchFamily="18" charset="2"/>
              </a:rPr>
              <a:t>	</a:t>
            </a:r>
            <a:r>
              <a:rPr lang="en-US" altLang="zh-CN" sz="2000" dirty="0" err="1">
                <a:sym typeface="Symbol" panose="05050102010706020507" pitchFamily="18" charset="2"/>
              </a:rPr>
              <a:t>dis</a:t>
            </a:r>
            <a:r>
              <a:rPr lang="en-US" altLang="zh-CN" sz="2000" dirty="0">
                <a:sym typeface="Symbol" panose="05050102010706020507" pitchFamily="18" charset="2"/>
              </a:rPr>
              <a:t>[u] := 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0" hangingPunct="0">
              <a:tabLst>
                <a:tab pos="461645" algn="l"/>
                <a:tab pos="909320" algn="l"/>
                <a:tab pos="1371600" algn="l"/>
                <a:tab pos="1833245" algn="l"/>
              </a:tabLst>
              <a:defRPr/>
            </a:pPr>
            <a:r>
              <a:rPr lang="en-US" altLang="zh-CN" sz="2000" b="1" dirty="0" err="1">
                <a:sym typeface="Symbol" panose="05050102010706020507" pitchFamily="18" charset="2"/>
              </a:rPr>
              <a:t>od</a:t>
            </a:r>
            <a:r>
              <a:rPr lang="en-US" altLang="zh-CN" sz="2000" dirty="0">
                <a:sym typeface="Symbol" panose="05050102010706020507" pitchFamily="18" charset="2"/>
              </a:rPr>
              <a:t>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0" hangingPunct="0">
              <a:tabLst>
                <a:tab pos="461645" algn="l"/>
                <a:tab pos="909320" algn="l"/>
                <a:tab pos="1371600" algn="l"/>
                <a:tab pos="1833245" algn="l"/>
              </a:tabLst>
              <a:defRPr/>
            </a:pPr>
            <a:r>
              <a:rPr lang="en-US" altLang="zh-CN" sz="2000" dirty="0" err="1">
                <a:sym typeface="Symbol" panose="05050102010706020507" pitchFamily="18" charset="2"/>
              </a:rPr>
              <a:t>dis</a:t>
            </a:r>
            <a:r>
              <a:rPr lang="en-US" altLang="zh-CN" sz="2000" dirty="0">
                <a:sym typeface="Symbol" panose="05050102010706020507" pitchFamily="18" charset="2"/>
              </a:rPr>
              <a:t>[r] := 0;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0" hangingPunct="0">
              <a:tabLst>
                <a:tab pos="461645" algn="l"/>
                <a:tab pos="909320" algn="l"/>
                <a:tab pos="1371600" algn="l"/>
                <a:tab pos="1833245" algn="l"/>
              </a:tabLst>
              <a:defRPr/>
            </a:pPr>
            <a:r>
              <a:rPr lang="en-US" altLang="zh-CN" sz="2000" dirty="0">
                <a:sym typeface="Symbol" panose="05050102010706020507" pitchFamily="18" charset="2"/>
              </a:rPr>
              <a:t>[r] := NIL;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0" hangingPunct="0">
              <a:tabLst>
                <a:tab pos="461645" algn="l"/>
                <a:tab pos="909320" algn="l"/>
                <a:tab pos="1371600" algn="l"/>
                <a:tab pos="1833245" algn="l"/>
              </a:tabLst>
              <a:defRPr/>
            </a:pPr>
            <a:r>
              <a:rPr lang="en-US" altLang="zh-CN" sz="2000" b="1" dirty="0">
                <a:sym typeface="Symbol" panose="05050102010706020507" pitchFamily="18" charset="2"/>
              </a:rPr>
              <a:t>while</a:t>
            </a:r>
            <a:r>
              <a:rPr lang="en-US" altLang="zh-CN" sz="2000" dirty="0">
                <a:sym typeface="Symbol" panose="05050102010706020507" pitchFamily="18" charset="2"/>
              </a:rPr>
              <a:t> Q   </a:t>
            </a:r>
            <a:r>
              <a:rPr lang="en-US" altLang="zh-CN" sz="2000" b="1" dirty="0">
                <a:sym typeface="Symbol" panose="05050102010706020507" pitchFamily="18" charset="2"/>
              </a:rPr>
              <a:t>do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0" hangingPunct="0">
              <a:tabLst>
                <a:tab pos="461645" algn="l"/>
                <a:tab pos="909320" algn="l"/>
                <a:tab pos="1371600" algn="l"/>
                <a:tab pos="1833245" algn="l"/>
              </a:tabLst>
              <a:defRPr/>
            </a:pPr>
            <a:r>
              <a:rPr lang="en-US" altLang="zh-CN" sz="2000" dirty="0">
                <a:sym typeface="Symbol" panose="05050102010706020507" pitchFamily="18" charset="2"/>
              </a:rPr>
              <a:t>	u := Extract - Min(Q);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0" hangingPunct="0">
              <a:tabLst>
                <a:tab pos="461645" algn="l"/>
                <a:tab pos="909320" algn="l"/>
                <a:tab pos="1371600" algn="l"/>
                <a:tab pos="1833245" algn="l"/>
              </a:tabLst>
              <a:defRPr/>
            </a:pPr>
            <a:r>
              <a:rPr lang="en-US" altLang="zh-CN" sz="2000" dirty="0">
                <a:sym typeface="Symbol" panose="05050102010706020507" pitchFamily="18" charset="2"/>
              </a:rPr>
              <a:t>	</a:t>
            </a:r>
            <a:r>
              <a:rPr lang="en-US" altLang="zh-CN" sz="2000" b="1" dirty="0">
                <a:sym typeface="Symbol" panose="05050102010706020507" pitchFamily="18" charset="2"/>
              </a:rPr>
              <a:t>for</a:t>
            </a:r>
            <a:r>
              <a:rPr lang="en-US" altLang="zh-CN" sz="2000" dirty="0">
                <a:sym typeface="Symbol" panose="05050102010706020507" pitchFamily="18" charset="2"/>
              </a:rPr>
              <a:t> each v  </a:t>
            </a:r>
            <a:r>
              <a:rPr lang="en-US" altLang="zh-CN" sz="2000" dirty="0" err="1">
                <a:sym typeface="Symbol" panose="05050102010706020507" pitchFamily="18" charset="2"/>
              </a:rPr>
              <a:t>Adj</a:t>
            </a:r>
            <a:r>
              <a:rPr lang="en-US" altLang="zh-CN" sz="2000" dirty="0">
                <a:sym typeface="Symbol" panose="05050102010706020507" pitchFamily="18" charset="2"/>
              </a:rPr>
              <a:t>[u] </a:t>
            </a:r>
            <a:r>
              <a:rPr lang="en-US" altLang="zh-CN" sz="2000" b="1" dirty="0">
                <a:sym typeface="Symbol" panose="05050102010706020507" pitchFamily="18" charset="2"/>
              </a:rPr>
              <a:t>do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0" hangingPunct="0">
              <a:tabLst>
                <a:tab pos="461645" algn="l"/>
                <a:tab pos="909320" algn="l"/>
                <a:tab pos="1371600" algn="l"/>
                <a:tab pos="1833245" algn="l"/>
              </a:tabLst>
              <a:defRPr/>
            </a:pPr>
            <a:r>
              <a:rPr lang="en-US" altLang="zh-CN" sz="2000" dirty="0">
                <a:sym typeface="Symbol" panose="05050102010706020507" pitchFamily="18" charset="2"/>
              </a:rPr>
              <a:t>		</a:t>
            </a:r>
            <a:r>
              <a:rPr lang="en-US" altLang="zh-CN" sz="2000" b="1" dirty="0">
                <a:sym typeface="Symbol" panose="05050102010706020507" pitchFamily="18" charset="2"/>
              </a:rPr>
              <a:t>if</a:t>
            </a:r>
            <a:r>
              <a:rPr lang="en-US" altLang="zh-CN" sz="2000" dirty="0">
                <a:sym typeface="Symbol" panose="05050102010706020507" pitchFamily="18" charset="2"/>
              </a:rPr>
              <a:t> v  Q and w(u, v) &lt; </a:t>
            </a:r>
            <a:r>
              <a:rPr lang="en-US" altLang="zh-CN" sz="2000" dirty="0" err="1">
                <a:sym typeface="Symbol" panose="05050102010706020507" pitchFamily="18" charset="2"/>
              </a:rPr>
              <a:t>dis</a:t>
            </a:r>
            <a:r>
              <a:rPr lang="en-US" altLang="zh-CN" sz="2000" dirty="0">
                <a:sym typeface="Symbol" panose="05050102010706020507" pitchFamily="18" charset="2"/>
              </a:rPr>
              <a:t>[v] 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0" hangingPunct="0">
              <a:tabLst>
                <a:tab pos="461645" algn="l"/>
                <a:tab pos="909320" algn="l"/>
                <a:tab pos="1371600" algn="l"/>
                <a:tab pos="1833245" algn="l"/>
              </a:tabLst>
              <a:defRPr/>
            </a:pPr>
            <a:r>
              <a:rPr lang="en-US" altLang="zh-CN" sz="2000" b="1" dirty="0">
                <a:sym typeface="Symbol" panose="05050102010706020507" pitchFamily="18" charset="2"/>
              </a:rPr>
              <a:t>                    then</a:t>
            </a:r>
            <a:r>
              <a:rPr lang="en-US" altLang="zh-CN" sz="2000" dirty="0">
                <a:sym typeface="Symbol" panose="05050102010706020507" pitchFamily="18" charset="2"/>
              </a:rPr>
              <a:t>  [v] := u;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0" hangingPunct="0">
              <a:tabLst>
                <a:tab pos="461645" algn="l"/>
                <a:tab pos="909320" algn="l"/>
                <a:tab pos="1371600" algn="l"/>
                <a:tab pos="1833245" algn="l"/>
              </a:tabLst>
              <a:defRPr/>
            </a:pPr>
            <a:r>
              <a:rPr lang="en-US" altLang="zh-CN" sz="2000" dirty="0">
                <a:sym typeface="Symbol" panose="05050102010706020507" pitchFamily="18" charset="2"/>
              </a:rPr>
              <a:t>			        </a:t>
            </a:r>
            <a:r>
              <a:rPr lang="en-US" altLang="zh-CN" sz="2000" dirty="0" err="1">
                <a:sym typeface="Symbol" panose="05050102010706020507" pitchFamily="18" charset="2"/>
              </a:rPr>
              <a:t>dis</a:t>
            </a:r>
            <a:r>
              <a:rPr lang="en-US" altLang="zh-CN" sz="2000" dirty="0">
                <a:sym typeface="Symbol" panose="05050102010706020507" pitchFamily="18" charset="2"/>
              </a:rPr>
              <a:t>[v] := w(u, v)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0" hangingPunct="0">
              <a:tabLst>
                <a:tab pos="461645" algn="l"/>
                <a:tab pos="909320" algn="l"/>
                <a:tab pos="1371600" algn="l"/>
                <a:tab pos="1833245" algn="l"/>
              </a:tabLst>
              <a:defRPr/>
            </a:pPr>
            <a:r>
              <a:rPr lang="en-US" altLang="zh-CN" sz="2000" dirty="0">
                <a:sym typeface="Symbol" panose="05050102010706020507" pitchFamily="18" charset="2"/>
              </a:rPr>
              <a:t>		</a:t>
            </a:r>
            <a:r>
              <a:rPr lang="en-US" altLang="zh-CN" sz="2000" b="1" dirty="0" err="1">
                <a:sym typeface="Symbol" panose="05050102010706020507" pitchFamily="18" charset="2"/>
              </a:rPr>
              <a:t>fi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0" hangingPunct="0">
              <a:tabLst>
                <a:tab pos="461645" algn="l"/>
                <a:tab pos="909320" algn="l"/>
                <a:tab pos="1371600" algn="l"/>
                <a:tab pos="1833245" algn="l"/>
              </a:tabLst>
              <a:defRPr/>
            </a:pPr>
            <a:r>
              <a:rPr lang="en-US" altLang="zh-CN" sz="2000" dirty="0">
                <a:sym typeface="Symbol" panose="05050102010706020507" pitchFamily="18" charset="2"/>
              </a:rPr>
              <a:t>	</a:t>
            </a:r>
            <a:r>
              <a:rPr lang="en-US" altLang="zh-CN" sz="2000" b="1" dirty="0" err="1">
                <a:sym typeface="Symbol" panose="05050102010706020507" pitchFamily="18" charset="2"/>
              </a:rPr>
              <a:t>od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0" hangingPunct="0">
              <a:tabLst>
                <a:tab pos="461645" algn="l"/>
                <a:tab pos="909320" algn="l"/>
                <a:tab pos="1371600" algn="l"/>
                <a:tab pos="1833245" algn="l"/>
              </a:tabLst>
              <a:defRPr/>
            </a:pPr>
            <a:r>
              <a:rPr lang="en-US" altLang="zh-CN" sz="2000" b="1" dirty="0" err="1">
                <a:sym typeface="Symbol" panose="05050102010706020507" pitchFamily="18" charset="2"/>
              </a:rPr>
              <a:t>od</a:t>
            </a:r>
            <a:endParaRPr lang="en-US" altLang="zh-CN" sz="2000" dirty="0">
              <a:sym typeface="Symbol" panose="05050102010706020507" pitchFamily="18" charset="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596066" y="2000241"/>
            <a:ext cx="3751258" cy="2923877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</a:ln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sz="2400" b="1" u="sng" dirty="0">
                <a:solidFill>
                  <a:srgbClr val="CC0000"/>
                </a:solidFill>
              </a:rPr>
              <a:t>Complexity:</a:t>
            </a:r>
            <a:endParaRPr lang="en-US" altLang="zh-CN" sz="2400" dirty="0"/>
          </a:p>
          <a:p>
            <a:pPr algn="l" eaLnBrk="0" hangingPunct="0"/>
            <a:r>
              <a:rPr lang="en-US" altLang="zh-CN" sz="2000" dirty="0">
                <a:solidFill>
                  <a:schemeClr val="hlink"/>
                </a:solidFill>
              </a:rPr>
              <a:t>Naive implementation:</a:t>
            </a:r>
            <a:endParaRPr lang="en-US" altLang="zh-CN" sz="2000" dirty="0">
              <a:solidFill>
                <a:schemeClr val="hlink"/>
              </a:solidFill>
            </a:endParaRPr>
          </a:p>
          <a:p>
            <a:pPr algn="l" eaLnBrk="0" hangingPunct="0"/>
            <a:r>
              <a:rPr lang="en-US" altLang="zh-CN" sz="2000" dirty="0">
                <a:solidFill>
                  <a:schemeClr val="hlink"/>
                </a:solidFill>
              </a:rPr>
              <a:t>	O(V</a:t>
            </a:r>
            <a:r>
              <a:rPr lang="en-US" altLang="zh-CN" sz="2000" baseline="30000" dirty="0">
                <a:solidFill>
                  <a:schemeClr val="hlink"/>
                </a:solidFill>
              </a:rPr>
              <a:t>2</a:t>
            </a:r>
            <a:r>
              <a:rPr lang="en-US" altLang="zh-CN" sz="2000" dirty="0">
                <a:solidFill>
                  <a:schemeClr val="hlink"/>
                </a:solidFill>
              </a:rPr>
              <a:t>)</a:t>
            </a:r>
            <a:endParaRPr lang="en-US" altLang="zh-CN" sz="2000" dirty="0">
              <a:solidFill>
                <a:schemeClr val="hlink"/>
              </a:solidFill>
            </a:endParaRPr>
          </a:p>
          <a:p>
            <a:pPr algn="l" eaLnBrk="0" hangingPunct="0"/>
            <a:endParaRPr lang="en-US" altLang="zh-CN" sz="2000" dirty="0">
              <a:solidFill>
                <a:schemeClr val="hlink"/>
              </a:solidFill>
            </a:endParaRPr>
          </a:p>
          <a:p>
            <a:pPr algn="l" eaLnBrk="0" hangingPunct="0"/>
            <a:r>
              <a:rPr lang="en-US" altLang="zh-CN" sz="2000" dirty="0">
                <a:solidFill>
                  <a:schemeClr val="hlink"/>
                </a:solidFill>
              </a:rPr>
              <a:t>Using binary heaps:</a:t>
            </a:r>
            <a:endParaRPr lang="en-US" altLang="zh-CN" sz="2000" dirty="0">
              <a:solidFill>
                <a:schemeClr val="hlink"/>
              </a:solidFill>
            </a:endParaRPr>
          </a:p>
          <a:p>
            <a:pPr algn="l" eaLnBrk="0" hangingPunct="0"/>
            <a:r>
              <a:rPr lang="en-US" altLang="zh-CN" sz="2000" dirty="0">
                <a:solidFill>
                  <a:schemeClr val="hlink"/>
                </a:solidFill>
              </a:rPr>
              <a:t>	O((V+E) </a:t>
            </a:r>
            <a:r>
              <a:rPr lang="en-US" altLang="zh-CN" sz="2000" dirty="0" err="1">
                <a:solidFill>
                  <a:schemeClr val="hlink"/>
                </a:solidFill>
              </a:rPr>
              <a:t>lg</a:t>
            </a:r>
            <a:r>
              <a:rPr lang="en-US" altLang="zh-CN" sz="2000" dirty="0">
                <a:solidFill>
                  <a:schemeClr val="hlink"/>
                </a:solidFill>
              </a:rPr>
              <a:t> V).</a:t>
            </a:r>
            <a:endParaRPr lang="en-US" altLang="zh-CN" sz="2000" dirty="0">
              <a:solidFill>
                <a:schemeClr val="hlink"/>
              </a:solidFill>
            </a:endParaRPr>
          </a:p>
          <a:p>
            <a:pPr algn="l" eaLnBrk="0" hangingPunct="0"/>
            <a:endParaRPr lang="en-US" altLang="zh-CN" sz="2000" dirty="0">
              <a:solidFill>
                <a:schemeClr val="hlink"/>
              </a:solidFill>
            </a:endParaRPr>
          </a:p>
          <a:p>
            <a:pPr algn="l" eaLnBrk="0" hangingPunct="0"/>
            <a:r>
              <a:rPr lang="en-US" altLang="zh-CN" sz="2000" dirty="0">
                <a:solidFill>
                  <a:schemeClr val="hlink"/>
                </a:solidFill>
              </a:rPr>
              <a:t>Using Fibonacci heaps:</a:t>
            </a:r>
            <a:endParaRPr lang="en-US" altLang="zh-CN" sz="2000" dirty="0">
              <a:solidFill>
                <a:schemeClr val="hlink"/>
              </a:solidFill>
            </a:endParaRPr>
          </a:p>
          <a:p>
            <a:pPr algn="l" eaLnBrk="0" hangingPunct="0"/>
            <a:r>
              <a:rPr lang="en-US" altLang="zh-CN" sz="2000" dirty="0">
                <a:solidFill>
                  <a:schemeClr val="hlink"/>
                </a:solidFill>
              </a:rPr>
              <a:t>	O(E + V </a:t>
            </a:r>
            <a:r>
              <a:rPr lang="en-US" altLang="zh-CN" sz="2000" dirty="0" err="1">
                <a:solidFill>
                  <a:schemeClr val="hlink"/>
                </a:solidFill>
              </a:rPr>
              <a:t>lg</a:t>
            </a:r>
            <a:r>
              <a:rPr lang="en-US" altLang="zh-CN" sz="2000" dirty="0">
                <a:solidFill>
                  <a:schemeClr val="hlink"/>
                </a:solidFill>
              </a:rPr>
              <a:t> V).</a:t>
            </a:r>
            <a:endParaRPr lang="en-US" altLang="zh-CN" sz="2000" dirty="0">
              <a:solidFill>
                <a:schemeClr val="hlin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09720" y="1000108"/>
            <a:ext cx="33540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A Generic MST Algorithm:</a:t>
            </a:r>
            <a:endParaRPr lang="zh-CN" altLang="en-US" sz="20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 err="1"/>
              <a:t>Kruskal's</a:t>
            </a:r>
            <a:r>
              <a:rPr lang="en-US" altLang="zh-CN" sz="2400" dirty="0"/>
              <a:t> Algorithm for Minimum Spanning Trees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Kruskal's</a:t>
            </a:r>
            <a:r>
              <a:rPr lang="en-US" altLang="zh-CN" dirty="0" smtClean="0"/>
              <a:t> Algorithm is directly based on the generic MST algorithm. It builds the MST in </a:t>
            </a:r>
            <a:r>
              <a:rPr lang="en-US" altLang="zh-CN" dirty="0" smtClean="0">
                <a:solidFill>
                  <a:srgbClr val="FF0000"/>
                </a:solidFill>
              </a:rPr>
              <a:t>forest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r>
              <a:rPr lang="en-US" altLang="zh-CN" dirty="0" smtClean="0"/>
              <a:t>Initially, each vertex </a:t>
            </a:r>
            <a:r>
              <a:rPr lang="en-US" altLang="zh-CN" dirty="0" smtClean="0">
                <a:solidFill>
                  <a:srgbClr val="FF0000"/>
                </a:solidFill>
              </a:rPr>
              <a:t>is in its own tree </a:t>
            </a:r>
            <a:r>
              <a:rPr lang="en-US" altLang="zh-CN" dirty="0" smtClean="0"/>
              <a:t>in forest. Then, the algorithm considers each edge in turn, order by </a:t>
            </a:r>
            <a:r>
              <a:rPr lang="en-US" altLang="zh-CN" dirty="0" smtClean="0">
                <a:solidFill>
                  <a:srgbClr val="FF0000"/>
                </a:solidFill>
              </a:rPr>
              <a:t>increasing weight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r>
              <a:rPr lang="en-US" altLang="zh-CN" dirty="0" smtClean="0"/>
              <a:t>If an edge (</a:t>
            </a:r>
            <a:r>
              <a:rPr lang="en-US" altLang="zh-CN" i="1" dirty="0" smtClean="0"/>
              <a:t>u</a:t>
            </a:r>
            <a:r>
              <a:rPr lang="en-US" altLang="zh-CN" dirty="0" smtClean="0"/>
              <a:t>, </a:t>
            </a:r>
            <a:r>
              <a:rPr lang="en-US" altLang="zh-CN" i="1" dirty="0" smtClean="0"/>
              <a:t>v</a:t>
            </a:r>
            <a:r>
              <a:rPr lang="en-US" altLang="zh-CN" dirty="0" smtClean="0"/>
              <a:t>) connects two </a:t>
            </a:r>
            <a:r>
              <a:rPr lang="en-US" altLang="zh-CN" dirty="0" smtClean="0">
                <a:solidFill>
                  <a:srgbClr val="FF0000"/>
                </a:solidFill>
              </a:rPr>
              <a:t>different</a:t>
            </a:r>
            <a:r>
              <a:rPr lang="en-US" altLang="zh-CN" dirty="0" smtClean="0"/>
              <a:t> trees, then (</a:t>
            </a:r>
            <a:r>
              <a:rPr lang="en-US" altLang="zh-CN" i="1" dirty="0" smtClean="0"/>
              <a:t>u</a:t>
            </a:r>
            <a:r>
              <a:rPr lang="en-US" altLang="zh-CN" dirty="0" smtClean="0"/>
              <a:t>, </a:t>
            </a:r>
            <a:r>
              <a:rPr lang="en-US" altLang="zh-CN" i="1" dirty="0" smtClean="0"/>
              <a:t>v</a:t>
            </a:r>
            <a:r>
              <a:rPr lang="en-US" altLang="zh-CN" dirty="0" smtClean="0"/>
              <a:t>) is added to the set of edges of the MST, and two trees connected by an edge (</a:t>
            </a:r>
            <a:r>
              <a:rPr lang="en-US" altLang="zh-CN" i="1" dirty="0" smtClean="0"/>
              <a:t>u</a:t>
            </a:r>
            <a:r>
              <a:rPr lang="en-US" altLang="zh-CN" dirty="0" smtClean="0"/>
              <a:t>, </a:t>
            </a:r>
            <a:r>
              <a:rPr lang="en-US" altLang="zh-CN" i="1" dirty="0" smtClean="0"/>
              <a:t>v</a:t>
            </a:r>
            <a:r>
              <a:rPr lang="en-US" altLang="zh-CN" dirty="0" smtClean="0"/>
              <a:t>) are </a:t>
            </a:r>
            <a:r>
              <a:rPr lang="en-US" altLang="zh-CN" dirty="0" smtClean="0">
                <a:solidFill>
                  <a:srgbClr val="FF0000"/>
                </a:solidFill>
              </a:rPr>
              <a:t>merged</a:t>
            </a:r>
            <a:r>
              <a:rPr lang="en-US" altLang="zh-CN" dirty="0" smtClean="0"/>
              <a:t> into a single tree. </a:t>
            </a:r>
            <a:endParaRPr lang="en-US" altLang="zh-CN" dirty="0" smtClean="0"/>
          </a:p>
          <a:p>
            <a:r>
              <a:rPr lang="en-US" altLang="zh-CN" dirty="0" smtClean="0"/>
              <a:t>On the other hand, if an edge (</a:t>
            </a:r>
            <a:r>
              <a:rPr lang="en-US" altLang="zh-CN" i="1" dirty="0" smtClean="0"/>
              <a:t>u</a:t>
            </a:r>
            <a:r>
              <a:rPr lang="en-US" altLang="zh-CN" dirty="0" smtClean="0"/>
              <a:t>, </a:t>
            </a:r>
            <a:r>
              <a:rPr lang="en-US" altLang="zh-CN" i="1" dirty="0" smtClean="0"/>
              <a:t>v</a:t>
            </a:r>
            <a:r>
              <a:rPr lang="en-US" altLang="zh-CN" dirty="0" smtClean="0"/>
              <a:t>) connects two vertices in the </a:t>
            </a:r>
            <a:r>
              <a:rPr lang="en-US" altLang="zh-CN" dirty="0" smtClean="0">
                <a:solidFill>
                  <a:srgbClr val="FF0000"/>
                </a:solidFill>
              </a:rPr>
              <a:t>same</a:t>
            </a:r>
            <a:r>
              <a:rPr lang="en-US" altLang="zh-CN" dirty="0" smtClean="0"/>
              <a:t> tree, then edge (</a:t>
            </a:r>
            <a:r>
              <a:rPr lang="en-US" altLang="zh-CN" i="1" dirty="0" smtClean="0"/>
              <a:t>u</a:t>
            </a:r>
            <a:r>
              <a:rPr lang="en-US" altLang="zh-CN" dirty="0" smtClean="0"/>
              <a:t>, </a:t>
            </a:r>
            <a:r>
              <a:rPr lang="en-US" altLang="zh-CN" i="1" dirty="0" smtClean="0"/>
              <a:t>v</a:t>
            </a:r>
            <a:r>
              <a:rPr lang="en-US" altLang="zh-CN" dirty="0" smtClean="0"/>
              <a:t>) is </a:t>
            </a:r>
            <a:r>
              <a:rPr lang="en-US" altLang="zh-CN" dirty="0" smtClean="0">
                <a:solidFill>
                  <a:srgbClr val="FF0000"/>
                </a:solidFill>
              </a:rPr>
              <a:t>discarded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 err="1"/>
              <a:t>Kruskal's</a:t>
            </a:r>
            <a:r>
              <a:rPr lang="en-US" altLang="zh-CN" sz="2400" dirty="0"/>
              <a:t> Algorithm for Minimum Spanning Trees</a:t>
            </a:r>
            <a:endParaRPr lang="zh-CN" altLang="en-US" sz="2400" dirty="0"/>
          </a:p>
        </p:txBody>
      </p:sp>
      <p:pic>
        <p:nvPicPr>
          <p:cNvPr id="4" name="Picture 2" descr="Figure4_1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809720" y="990606"/>
            <a:ext cx="8517050" cy="5510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/>
              <a:t>Kruskal's</a:t>
            </a:r>
            <a:r>
              <a:rPr lang="en-US" altLang="zh-CN" sz="2800" dirty="0"/>
              <a:t> Algorithm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1  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sym typeface="Symbol" panose="05050102010706020507" pitchFamily="18" charset="2"/>
              </a:rPr>
              <a:t>  			</a:t>
            </a:r>
            <a:r>
              <a:rPr lang="en-US" altLang="zh-CN" sz="2000" dirty="0">
                <a:solidFill>
                  <a:srgbClr val="0070C0"/>
                </a:solidFill>
                <a:sym typeface="Symbol" panose="05050102010706020507" pitchFamily="18" charset="2"/>
              </a:rPr>
              <a:t>// initially A is empty</a:t>
            </a:r>
            <a:endParaRPr lang="en-US" altLang="zh-CN" sz="2000" dirty="0">
              <a:solidFill>
                <a:srgbClr val="0070C0"/>
              </a:solidFill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2  </a:t>
            </a:r>
            <a:r>
              <a:rPr lang="en-US" altLang="zh-CN" sz="2000" b="1" dirty="0">
                <a:sym typeface="Symbol" panose="05050102010706020507" pitchFamily="18" charset="2"/>
              </a:rPr>
              <a:t>for</a:t>
            </a:r>
            <a:r>
              <a:rPr lang="en-US" altLang="zh-CN" sz="2000" dirty="0">
                <a:sym typeface="Symbol" panose="05050102010706020507" pitchFamily="18" charset="2"/>
              </a:rPr>
              <a:t> each vertex 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v 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 V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]	</a:t>
            </a:r>
            <a:r>
              <a:rPr lang="en-US" altLang="zh-CN" sz="2000" dirty="0">
                <a:solidFill>
                  <a:srgbClr val="0070C0"/>
                </a:solidFill>
                <a:sym typeface="Symbol" panose="05050102010706020507" pitchFamily="18" charset="2"/>
              </a:rPr>
              <a:t>// line 2-3 takes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i="1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000" dirty="0">
                <a:solidFill>
                  <a:srgbClr val="0070C0"/>
                </a:solidFill>
                <a:sym typeface="Symbol" panose="05050102010706020507" pitchFamily="18" charset="2"/>
              </a:rPr>
              <a:t>time</a:t>
            </a: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3        do Make-Set(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000" dirty="0">
                <a:sym typeface="Symbol" panose="05050102010706020507" pitchFamily="18" charset="2"/>
              </a:rPr>
              <a:t>)		</a:t>
            </a:r>
            <a:r>
              <a:rPr lang="en-US" altLang="zh-CN" sz="2000" dirty="0">
                <a:solidFill>
                  <a:srgbClr val="0070C0"/>
                </a:solidFill>
                <a:sym typeface="Symbol" panose="05050102010706020507" pitchFamily="18" charset="2"/>
              </a:rPr>
              <a:t>// create set for each vertex</a:t>
            </a:r>
            <a:endParaRPr lang="en-US" altLang="zh-CN" sz="2000" dirty="0">
              <a:solidFill>
                <a:srgbClr val="0070C0"/>
              </a:solidFill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4  sort the edges of 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000" dirty="0">
                <a:sym typeface="Symbol" panose="05050102010706020507" pitchFamily="18" charset="2"/>
              </a:rPr>
              <a:t> into non-decreasing order by weight 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w </a:t>
            </a:r>
            <a:endParaRPr lang="en-US" altLang="zh-CN" sz="2000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5  </a:t>
            </a:r>
            <a:r>
              <a:rPr lang="en-US" altLang="zh-CN" sz="2000" b="1" dirty="0">
                <a:sym typeface="Symbol" panose="05050102010706020507" pitchFamily="18" charset="2"/>
              </a:rPr>
              <a:t>for</a:t>
            </a:r>
            <a:r>
              <a:rPr lang="en-US" altLang="zh-CN" sz="2000" dirty="0">
                <a:sym typeface="Symbol" panose="05050102010706020507" pitchFamily="18" charset="2"/>
              </a:rPr>
              <a:t> each edge (</a:t>
            </a:r>
            <a:r>
              <a:rPr lang="en-US" altLang="zh-CN" sz="20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000" dirty="0" err="1">
                <a:sym typeface="Symbol" panose="05050102010706020507" pitchFamily="18" charset="2"/>
              </a:rPr>
              <a:t>,</a:t>
            </a:r>
            <a:r>
              <a:rPr lang="en-US" altLang="zh-CN" sz="20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000" dirty="0">
                <a:sym typeface="Symbol" panose="05050102010706020507" pitchFamily="18" charset="2"/>
              </a:rPr>
              <a:t>  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E, </a:t>
            </a:r>
            <a:r>
              <a:rPr lang="en-US" altLang="zh-CN" sz="2000" dirty="0">
                <a:sym typeface="Symbol" panose="05050102010706020507" pitchFamily="18" charset="2"/>
              </a:rPr>
              <a:t>taken in non-decreasing order by weight  </a:t>
            </a:r>
            <a:r>
              <a:rPr lang="en-US" altLang="zh-CN" sz="2000" b="1" dirty="0">
                <a:sym typeface="Symbol" panose="05050102010706020507" pitchFamily="18" charset="2"/>
              </a:rPr>
              <a:t>do</a:t>
            </a:r>
            <a:endParaRPr lang="en-US" altLang="zh-CN" sz="2000" b="1" dirty="0"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6        </a:t>
            </a:r>
            <a:r>
              <a:rPr lang="en-US" altLang="zh-CN" sz="2000" b="1" dirty="0">
                <a:sym typeface="Symbol" panose="05050102010706020507" pitchFamily="18" charset="2"/>
              </a:rPr>
              <a:t>if</a:t>
            </a:r>
            <a:r>
              <a:rPr lang="en-US" altLang="zh-CN" sz="2000" dirty="0">
                <a:sym typeface="Symbol" panose="05050102010706020507" pitchFamily="18" charset="2"/>
              </a:rPr>
              <a:t> Find-Set(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000" dirty="0">
                <a:sym typeface="Symbol" panose="05050102010706020507" pitchFamily="18" charset="2"/>
              </a:rPr>
              <a:t>)  Find-Set(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000" dirty="0">
                <a:sym typeface="Symbol" panose="05050102010706020507" pitchFamily="18" charset="2"/>
              </a:rPr>
              <a:t>) 	</a:t>
            </a:r>
            <a:r>
              <a:rPr lang="en-US" altLang="zh-CN" sz="2000" dirty="0">
                <a:solidFill>
                  <a:srgbClr val="0070C0"/>
                </a:solidFill>
                <a:sym typeface="Symbol" panose="05050102010706020507" pitchFamily="18" charset="2"/>
              </a:rPr>
              <a:t>// </a:t>
            </a:r>
            <a:r>
              <a:rPr lang="en-US" altLang="zh-CN" sz="2000" i="1" dirty="0" err="1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000" dirty="0" err="1">
                <a:solidFill>
                  <a:srgbClr val="0070C0"/>
                </a:solidFill>
                <a:sym typeface="Symbol" panose="05050102010706020507" pitchFamily="18" charset="2"/>
              </a:rPr>
              <a:t>&amp;</a:t>
            </a:r>
            <a:r>
              <a:rPr lang="en-US" altLang="zh-CN" sz="2000" i="1" dirty="0" err="1">
                <a:solidFill>
                  <a:srgbClr val="0070C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000" dirty="0">
                <a:solidFill>
                  <a:srgbClr val="0070C0"/>
                </a:solidFill>
                <a:sym typeface="Symbol" panose="05050102010706020507" pitchFamily="18" charset="2"/>
              </a:rPr>
              <a:t> on different trees</a:t>
            </a:r>
            <a:endParaRPr lang="en-US" altLang="zh-CN" sz="2000" dirty="0">
              <a:solidFill>
                <a:srgbClr val="0070C0"/>
              </a:solidFill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7                 </a:t>
            </a:r>
            <a:r>
              <a:rPr lang="en-US" altLang="zh-CN" sz="2000" b="1" dirty="0">
                <a:sym typeface="Symbol" panose="05050102010706020507" pitchFamily="18" charset="2"/>
              </a:rPr>
              <a:t>then</a:t>
            </a:r>
            <a:r>
              <a:rPr lang="en-US" altLang="zh-CN" sz="2000" dirty="0">
                <a:sym typeface="Symbol" panose="05050102010706020507" pitchFamily="18" charset="2"/>
              </a:rPr>
              <a:t>  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sym typeface="Symbol" panose="05050102010706020507" pitchFamily="18" charset="2"/>
              </a:rPr>
              <a:t>  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 {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000" dirty="0" err="1">
                <a:sym typeface="Symbol" panose="05050102010706020507" pitchFamily="18" charset="2"/>
              </a:rPr>
              <a:t>,</a:t>
            </a:r>
            <a:r>
              <a:rPr lang="en-US" altLang="zh-CN" sz="20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000" dirty="0">
                <a:sym typeface="Symbol" panose="05050102010706020507" pitchFamily="18" charset="2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endParaRPr lang="en-US" altLang="zh-CN" sz="2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8                          Union(</a:t>
            </a:r>
            <a:r>
              <a:rPr lang="en-US" altLang="zh-CN" sz="20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000" dirty="0" err="1">
                <a:sym typeface="Symbol" panose="05050102010706020507" pitchFamily="18" charset="2"/>
              </a:rPr>
              <a:t>,</a:t>
            </a:r>
            <a:r>
              <a:rPr lang="en-US" altLang="zh-CN" sz="20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000" dirty="0">
                <a:sym typeface="Symbol" panose="05050102010706020507" pitchFamily="18" charset="2"/>
              </a:rPr>
              <a:t>)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9  return 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None/>
            </a:pPr>
            <a:endParaRPr lang="en-US" altLang="zh-CN" sz="1400" dirty="0">
              <a:sym typeface="Symbol" panose="05050102010706020507" pitchFamily="18" charset="2"/>
            </a:endParaRPr>
          </a:p>
          <a:p>
            <a:r>
              <a:rPr lang="en-US" altLang="zh-CN" sz="2000" b="1" dirty="0" err="1"/>
              <a:t>Make_Set</a:t>
            </a:r>
            <a:r>
              <a:rPr lang="en-US" altLang="zh-CN" sz="2000" dirty="0"/>
              <a:t>(</a:t>
            </a:r>
            <a:r>
              <a:rPr lang="en-US" altLang="zh-CN" sz="2000" i="1" dirty="0"/>
              <a:t>v</a:t>
            </a:r>
            <a:r>
              <a:rPr lang="en-US" altLang="zh-CN" sz="2000" dirty="0"/>
              <a:t>):    Create a new set whose only member is pointed to by </a:t>
            </a:r>
            <a:r>
              <a:rPr lang="en-US" altLang="zh-CN" sz="2000" i="1" dirty="0"/>
              <a:t>v</a:t>
            </a:r>
            <a:r>
              <a:rPr lang="en-US" altLang="zh-CN" sz="2000" dirty="0"/>
              <a:t>. Note that for this operation </a:t>
            </a:r>
            <a:r>
              <a:rPr lang="en-US" altLang="zh-CN" sz="2000" i="1" dirty="0"/>
              <a:t>v</a:t>
            </a:r>
            <a:r>
              <a:rPr lang="en-US" altLang="zh-CN" sz="2000" dirty="0"/>
              <a:t> must already be in a set.</a:t>
            </a:r>
            <a:endParaRPr lang="en-US" altLang="zh-CN" sz="2000" dirty="0"/>
          </a:p>
          <a:p>
            <a:r>
              <a:rPr lang="en-US" altLang="zh-CN" sz="2000" b="1" dirty="0" err="1"/>
              <a:t>Find_Set</a:t>
            </a:r>
            <a:r>
              <a:rPr lang="en-US" altLang="zh-CN" sz="2000" dirty="0"/>
              <a:t>(</a:t>
            </a:r>
            <a:r>
              <a:rPr lang="en-US" altLang="zh-CN" sz="2000" i="1" dirty="0"/>
              <a:t>v</a:t>
            </a:r>
            <a:r>
              <a:rPr lang="en-US" altLang="zh-CN" sz="2000" dirty="0"/>
              <a:t>):    Returns a pointer to the set containing </a:t>
            </a:r>
            <a:r>
              <a:rPr lang="en-US" altLang="zh-CN" sz="2000" i="1" dirty="0"/>
              <a:t>v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r>
              <a:rPr lang="en-US" altLang="zh-CN" sz="2000" b="1" dirty="0"/>
              <a:t>Union</a:t>
            </a:r>
            <a:r>
              <a:rPr lang="en-US" altLang="zh-CN" sz="2000" dirty="0"/>
              <a:t>(</a:t>
            </a:r>
            <a:r>
              <a:rPr lang="en-US" altLang="zh-CN" sz="2000" i="1" dirty="0"/>
              <a:t>u</a:t>
            </a:r>
            <a:r>
              <a:rPr lang="en-US" altLang="zh-CN" sz="2000" dirty="0"/>
              <a:t>, </a:t>
            </a:r>
            <a:r>
              <a:rPr lang="en-US" altLang="zh-CN" sz="2000" i="1" dirty="0"/>
              <a:t>v</a:t>
            </a:r>
            <a:r>
              <a:rPr lang="en-US" altLang="zh-CN" sz="2000" dirty="0"/>
              <a:t>):     Unites the dynamic sets that contain </a:t>
            </a:r>
            <a:r>
              <a:rPr lang="en-US" altLang="zh-CN" sz="2000" i="1" dirty="0"/>
              <a:t>u</a:t>
            </a:r>
            <a:r>
              <a:rPr lang="en-US" altLang="zh-CN" sz="2000" dirty="0"/>
              <a:t> and </a:t>
            </a:r>
            <a:r>
              <a:rPr lang="en-US" altLang="zh-CN" sz="2000" i="1" dirty="0"/>
              <a:t>v</a:t>
            </a:r>
            <a:r>
              <a:rPr lang="en-US" altLang="zh-CN" sz="2000" dirty="0"/>
              <a:t> into a new set that is union of these two sets.</a:t>
            </a:r>
            <a:endParaRPr lang="en-US" altLang="zh-CN" sz="2000" dirty="0"/>
          </a:p>
          <a:p>
            <a:pPr eaLnBrk="1" hangingPunct="1">
              <a:buNone/>
            </a:pPr>
            <a:endParaRPr lang="en-US" altLang="zh-CN" sz="1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Implementation of </a:t>
            </a:r>
            <a:r>
              <a:rPr lang="en-US" altLang="zh-CN" sz="2800" dirty="0" err="1"/>
              <a:t>Kruskal's</a:t>
            </a:r>
            <a:r>
              <a:rPr lang="en-US" altLang="zh-CN" sz="2800" dirty="0"/>
              <a:t> Algorithm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p[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maxn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],r[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maxm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  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j) {return w[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]&lt;w[j]};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find(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x) 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{return (p[x] == -1) ? x : p[x]=find(p[x]);}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union(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y) { p[y] = x;}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Kruskal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for(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p[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= -1;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for(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r[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sort(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r,r+m,cmp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for(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m;i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e = r[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], x = find(u[e]), y = find(v[e]);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if (x!=y) {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+= w[e]; union(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);}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Time Complexity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MAKE-SETs requires O(V)</a:t>
            </a:r>
            <a:endParaRPr lang="en-US" altLang="zh-CN" dirty="0" smtClean="0"/>
          </a:p>
          <a:p>
            <a:r>
              <a:rPr lang="en-US" altLang="zh-CN" dirty="0" smtClean="0"/>
              <a:t>Edge sorting requires O(E </a:t>
            </a:r>
            <a:r>
              <a:rPr lang="en-US" altLang="zh-CN" dirty="0" err="1" smtClean="0"/>
              <a:t>logE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r>
              <a:rPr lang="en-US" altLang="zh-CN" dirty="0" smtClean="0"/>
              <a:t>FIND-SETs and UNIONs perform O(E) time. Assuming the implementation of disjoint-set data structure that uses union by rank and path compression, so amortized in O(E α(V)). </a:t>
            </a:r>
            <a:r>
              <a:rPr lang="pt-BR" altLang="zh-CN" dirty="0" smtClean="0"/>
              <a:t>(α</a:t>
            </a:r>
            <a:r>
              <a:rPr lang="zh-CN" altLang="en-US" dirty="0" smtClean="0"/>
              <a:t>为反</a:t>
            </a:r>
            <a:r>
              <a:rPr lang="en-US" altLang="zh-CN" dirty="0" err="1" smtClean="0"/>
              <a:t>ackerman</a:t>
            </a:r>
            <a:r>
              <a:rPr lang="zh-CN" altLang="en-US" dirty="0" smtClean="0"/>
              <a:t>函数</a:t>
            </a:r>
            <a:r>
              <a:rPr lang="pt-BR" altLang="zh-CN" dirty="0" smtClean="0"/>
              <a:t>)</a:t>
            </a:r>
            <a:endParaRPr lang="en-US" altLang="zh-CN" dirty="0" smtClean="0"/>
          </a:p>
          <a:p>
            <a:r>
              <a:rPr lang="pt-BR" altLang="zh-CN" dirty="0" smtClean="0"/>
              <a:t>α(V) = O(log V) = O(log E)</a:t>
            </a:r>
            <a:endParaRPr lang="en-US" altLang="zh-CN" dirty="0" smtClean="0"/>
          </a:p>
          <a:p>
            <a:r>
              <a:rPr lang="en-US" altLang="zh-CN" dirty="0" smtClean="0"/>
              <a:t>Total Time: O(E </a:t>
            </a:r>
            <a:r>
              <a:rPr lang="en-US" altLang="zh-CN" dirty="0" err="1" smtClean="0"/>
              <a:t>logE</a:t>
            </a:r>
            <a:r>
              <a:rPr lang="en-US" altLang="zh-CN" dirty="0" smtClean="0"/>
              <a:t>) = O(E </a:t>
            </a:r>
            <a:r>
              <a:rPr lang="en-US" altLang="zh-CN" dirty="0" err="1" smtClean="0"/>
              <a:t>logV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r>
              <a:rPr lang="en-US" altLang="zh-CN" dirty="0" smtClean="0"/>
              <a:t>If edges are already sorted, O(E α(V)), which is almost linear.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Templates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248" y="1050191"/>
            <a:ext cx="11239500" cy="504310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71864" y="5954797"/>
            <a:ext cx="2121093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Lazy implementation of </a:t>
            </a:r>
            <a:r>
              <a:rPr lang="en-US" altLang="zh-CN" sz="1200" dirty="0" smtClean="0"/>
              <a:t>Prim</a:t>
            </a:r>
            <a:endParaRPr lang="zh-CN" altLang="en-US" sz="1200" dirty="0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References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1"/>
              </a:rPr>
              <a:t>https://www.bilibili.com/video/BV1f54y1d7ba</a:t>
            </a:r>
            <a:r>
              <a:rPr lang="en-US" altLang="zh-CN" dirty="0" smtClean="0">
                <a:hlinkClick r:id="rId1"/>
              </a:rPr>
              <a:t>/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Extended learning: Try to understand lazy implementation and eager implementation of Prim’s algorithm</a:t>
            </a:r>
            <a:endParaRPr lang="en-US" altLang="zh-CN" dirty="0" smtClean="0"/>
          </a:p>
          <a:p>
            <a:r>
              <a:rPr lang="en-US" altLang="zh-CN" dirty="0">
                <a:hlinkClick r:id="rId2"/>
              </a:rPr>
              <a:t>https://www.bilibili.com/video/BV1gY4y1B7vd</a:t>
            </a:r>
            <a:r>
              <a:rPr lang="en-US" altLang="zh-CN" dirty="0" smtClean="0">
                <a:hlinkClick r:id="rId2"/>
              </a:rPr>
              <a:t>/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881189" y="1357314"/>
            <a:ext cx="8429625" cy="64293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altLang="zh-CN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  <a:endParaRPr lang="en-US" altLang="zh-CN" sz="44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738563" y="2714625"/>
            <a:ext cx="4868862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Studio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Studio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Studio 1">
        <a:dk1>
          <a:srgbClr val="000000"/>
        </a:dk1>
        <a:lt1>
          <a:srgbClr val="FFFFFF"/>
        </a:lt1>
        <a:dk2>
          <a:srgbClr val="3366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2">
        <a:dk1>
          <a:srgbClr val="000000"/>
        </a:dk1>
        <a:lt1>
          <a:srgbClr val="FFFFFF"/>
        </a:lt1>
        <a:dk2>
          <a:srgbClr val="3732A0"/>
        </a:dk2>
        <a:lt2>
          <a:srgbClr val="666699"/>
        </a:lt2>
        <a:accent1>
          <a:srgbClr val="CCCCFF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8A8A"/>
        </a:accent6>
        <a:hlink>
          <a:srgbClr val="3366CC"/>
        </a:hlink>
        <a:folHlink>
          <a:srgbClr val="9094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3">
        <a:dk1>
          <a:srgbClr val="000000"/>
        </a:dk1>
        <a:lt1>
          <a:srgbClr val="FFFFFF"/>
        </a:lt1>
        <a:dk2>
          <a:srgbClr val="CD0505"/>
        </a:dk2>
        <a:lt2>
          <a:srgbClr val="5F5F5F"/>
        </a:lt2>
        <a:accent1>
          <a:srgbClr val="D2D5DE"/>
        </a:accent1>
        <a:accent2>
          <a:srgbClr val="D55757"/>
        </a:accent2>
        <a:accent3>
          <a:srgbClr val="FFFFFF"/>
        </a:accent3>
        <a:accent4>
          <a:srgbClr val="000000"/>
        </a:accent4>
        <a:accent5>
          <a:srgbClr val="E5E7EC"/>
        </a:accent5>
        <a:accent6>
          <a:srgbClr val="C14E4E"/>
        </a:accent6>
        <a:hlink>
          <a:srgbClr val="F42D1E"/>
        </a:hlink>
        <a:folHlink>
          <a:srgbClr val="7C84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4">
        <a:dk1>
          <a:srgbClr val="000000"/>
        </a:dk1>
        <a:lt1>
          <a:srgbClr val="FFFFFF"/>
        </a:lt1>
        <a:dk2>
          <a:srgbClr val="551A07"/>
        </a:dk2>
        <a:lt2>
          <a:srgbClr val="CC3300"/>
        </a:lt2>
        <a:accent1>
          <a:srgbClr val="F4B400"/>
        </a:accent1>
        <a:accent2>
          <a:srgbClr val="993300"/>
        </a:accent2>
        <a:accent3>
          <a:srgbClr val="FFFFFF"/>
        </a:accent3>
        <a:accent4>
          <a:srgbClr val="000000"/>
        </a:accent4>
        <a:accent5>
          <a:srgbClr val="F8D6AA"/>
        </a:accent5>
        <a:accent6>
          <a:srgbClr val="8A2D00"/>
        </a:accent6>
        <a:hlink>
          <a:srgbClr val="FF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5">
        <a:dk1>
          <a:srgbClr val="000000"/>
        </a:dk1>
        <a:lt1>
          <a:srgbClr val="FFFFFF"/>
        </a:lt1>
        <a:dk2>
          <a:srgbClr val="FF0000"/>
        </a:dk2>
        <a:lt2>
          <a:srgbClr val="FFCC00"/>
        </a:lt2>
        <a:accent1>
          <a:srgbClr val="66CC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008A00"/>
        </a:accent6>
        <a:hlink>
          <a:srgbClr val="FF33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6">
        <a:dk1>
          <a:srgbClr val="666633"/>
        </a:dk1>
        <a:lt1>
          <a:srgbClr val="FFFFFF"/>
        </a:lt1>
        <a:dk2>
          <a:srgbClr val="000000"/>
        </a:dk2>
        <a:lt2>
          <a:srgbClr val="CC3300"/>
        </a:lt2>
        <a:accent1>
          <a:srgbClr val="8080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C0C0AA"/>
        </a:accent5>
        <a:accent6>
          <a:srgbClr val="E78A00"/>
        </a:accent6>
        <a:hlink>
          <a:srgbClr val="CC6600"/>
        </a:hlink>
        <a:folHlink>
          <a:srgbClr val="434B1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7">
        <a:dk1>
          <a:srgbClr val="766997"/>
        </a:dk1>
        <a:lt1>
          <a:srgbClr val="FFFFFF"/>
        </a:lt1>
        <a:dk2>
          <a:srgbClr val="530901"/>
        </a:dk2>
        <a:lt2>
          <a:srgbClr val="FFFFFF"/>
        </a:lt2>
        <a:accent1>
          <a:srgbClr val="FF3300"/>
        </a:accent1>
        <a:accent2>
          <a:srgbClr val="CC6600"/>
        </a:accent2>
        <a:accent3>
          <a:srgbClr val="B3AAAA"/>
        </a:accent3>
        <a:accent4>
          <a:srgbClr val="DADADA"/>
        </a:accent4>
        <a:accent5>
          <a:srgbClr val="FFADAA"/>
        </a:accent5>
        <a:accent6>
          <a:srgbClr val="B95C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8">
        <a:dk1>
          <a:srgbClr val="666699"/>
        </a:dk1>
        <a:lt1>
          <a:srgbClr val="FFFFFF"/>
        </a:lt1>
        <a:dk2>
          <a:srgbClr val="4C004C"/>
        </a:dk2>
        <a:lt2>
          <a:srgbClr val="FFFFFF"/>
        </a:lt2>
        <a:accent1>
          <a:srgbClr val="0099CC"/>
        </a:accent1>
        <a:accent2>
          <a:srgbClr val="993366"/>
        </a:accent2>
        <a:accent3>
          <a:srgbClr val="B2AAB2"/>
        </a:accent3>
        <a:accent4>
          <a:srgbClr val="DADADA"/>
        </a:accent4>
        <a:accent5>
          <a:srgbClr val="AACAE2"/>
        </a:accent5>
        <a:accent6>
          <a:srgbClr val="8A2D5C"/>
        </a:accent6>
        <a:hlink>
          <a:srgbClr val="99CC00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9">
        <a:dk1>
          <a:srgbClr val="565682"/>
        </a:dk1>
        <a:lt1>
          <a:srgbClr val="FFFFFF"/>
        </a:lt1>
        <a:dk2>
          <a:srgbClr val="1E1551"/>
        </a:dk2>
        <a:lt2>
          <a:srgbClr val="CCFFFF"/>
        </a:lt2>
        <a:accent1>
          <a:srgbClr val="33CCCC"/>
        </a:accent1>
        <a:accent2>
          <a:srgbClr val="009999"/>
        </a:accent2>
        <a:accent3>
          <a:srgbClr val="ABAAB3"/>
        </a:accent3>
        <a:accent4>
          <a:srgbClr val="DADADA"/>
        </a:accent4>
        <a:accent5>
          <a:srgbClr val="ADE2E2"/>
        </a:accent5>
        <a:accent6>
          <a:srgbClr val="008A8A"/>
        </a:accent6>
        <a:hlink>
          <a:srgbClr val="FF9900"/>
        </a:hlink>
        <a:folHlink>
          <a:srgbClr val="00598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10">
        <a:dk1>
          <a:srgbClr val="CCCC99"/>
        </a:dk1>
        <a:lt1>
          <a:srgbClr val="FFFFFF"/>
        </a:lt1>
        <a:dk2>
          <a:srgbClr val="2E5D5C"/>
        </a:dk2>
        <a:lt2>
          <a:srgbClr val="FFFFFF"/>
        </a:lt2>
        <a:accent1>
          <a:srgbClr val="0099CC"/>
        </a:accent1>
        <a:accent2>
          <a:srgbClr val="D6E0E0"/>
        </a:accent2>
        <a:accent3>
          <a:srgbClr val="ADB6B5"/>
        </a:accent3>
        <a:accent4>
          <a:srgbClr val="DADADA"/>
        </a:accent4>
        <a:accent5>
          <a:srgbClr val="AACAE2"/>
        </a:accent5>
        <a:accent6>
          <a:srgbClr val="C2CBCB"/>
        </a:accent6>
        <a:hlink>
          <a:srgbClr val="CCCC99"/>
        </a:hlink>
        <a:folHlink>
          <a:srgbClr val="428A8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4458</Words>
  <Application>WPS 演示</Application>
  <PresentationFormat>宽屏</PresentationFormat>
  <Paragraphs>401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宋体</vt:lpstr>
      <vt:lpstr>Wingdings</vt:lpstr>
      <vt:lpstr>Arial Black</vt:lpstr>
      <vt:lpstr>Times New Roman</vt:lpstr>
      <vt:lpstr>Arial</vt:lpstr>
      <vt:lpstr>Symbol</vt:lpstr>
      <vt:lpstr>微软雅黑</vt:lpstr>
      <vt:lpstr>Arial Unicode MS</vt:lpstr>
      <vt:lpstr>Calibri</vt:lpstr>
      <vt:lpstr>Courier New</vt:lpstr>
      <vt:lpstr>2_Studio</vt:lpstr>
      <vt:lpstr>Lecture 21 Graph (III)</vt:lpstr>
      <vt:lpstr>Outline</vt:lpstr>
      <vt:lpstr>Minimum Spanning Trees</vt:lpstr>
      <vt:lpstr>Two Spanning Trees</vt:lpstr>
      <vt:lpstr>Prim's Algorithm for Minimum Spanning Trees</vt:lpstr>
      <vt:lpstr>Example of Prim’s Algorithm</vt:lpstr>
      <vt:lpstr>Example of Prim’s Algorithm</vt:lpstr>
      <vt:lpstr>Example of Prim’s Algorithm</vt:lpstr>
      <vt:lpstr>Example of Prim’s Algorithm</vt:lpstr>
      <vt:lpstr>Example of Prim’s Algorithm</vt:lpstr>
      <vt:lpstr>Example of Prim’s Algorithm</vt:lpstr>
      <vt:lpstr>Example of Prim’s Algorithm</vt:lpstr>
      <vt:lpstr>Example of Prim’s Algorithm</vt:lpstr>
      <vt:lpstr>Implementation of Prim's Algorithm</vt:lpstr>
      <vt:lpstr>PowerPoint 演示文稿</vt:lpstr>
      <vt:lpstr>Exercise</vt:lpstr>
      <vt:lpstr>Time Complexity</vt:lpstr>
      <vt:lpstr>Kruskal's Algorithm for Minimum Spanning Trees</vt:lpstr>
      <vt:lpstr>Kruskal's Algorithm for Minimum Spanning Trees</vt:lpstr>
      <vt:lpstr>Kruskal's Algorithm</vt:lpstr>
      <vt:lpstr>Implementation of Kruskal's Algorithm</vt:lpstr>
      <vt:lpstr>Time Complexity</vt:lpstr>
      <vt:lpstr>Templates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Introduction</dc:title>
  <dc:creator>ZZZ</dc:creator>
  <cp:lastModifiedBy>梁玮麟</cp:lastModifiedBy>
  <cp:revision>1108</cp:revision>
  <dcterms:created xsi:type="dcterms:W3CDTF">2014-09-15T06:27:00Z</dcterms:created>
  <dcterms:modified xsi:type="dcterms:W3CDTF">2025-12-22T08:09:02Z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9438D162856B45D4A23013B32AD51485_13</vt:lpwstr>
  </property>
  <property fmtid="{D5CDD505-2E9C-101B-9397-08002B2CF9AE}" pid="3" name="KSOProductBuildVer">
    <vt:lpwstr>2052-12.1.0.24034</vt:lpwstr>
  </property>
</Properties>
</file>