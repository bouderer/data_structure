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0"/>
  </p:notesMasterIdLst>
  <p:handoutMasterIdLst>
    <p:handoutMasterId r:id="rId31"/>
  </p:handoutMasterIdLst>
  <p:sldIdLst>
    <p:sldId id="256" r:id="rId2"/>
    <p:sldId id="368" r:id="rId3"/>
    <p:sldId id="360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9" r:id="rId12"/>
    <p:sldId id="370" r:id="rId13"/>
    <p:sldId id="371" r:id="rId14"/>
    <p:sldId id="372" r:id="rId15"/>
    <p:sldId id="373" r:id="rId16"/>
    <p:sldId id="375" r:id="rId17"/>
    <p:sldId id="376" r:id="rId18"/>
    <p:sldId id="377" r:id="rId19"/>
    <p:sldId id="378" r:id="rId20"/>
    <p:sldId id="379" r:id="rId21"/>
    <p:sldId id="352" r:id="rId22"/>
    <p:sldId id="353" r:id="rId23"/>
    <p:sldId id="354" r:id="rId24"/>
    <p:sldId id="355" r:id="rId25"/>
    <p:sldId id="356" r:id="rId26"/>
    <p:sldId id="359" r:id="rId27"/>
    <p:sldId id="357" r:id="rId28"/>
    <p:sldId id="26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99" autoAdjust="0"/>
  </p:normalViewPr>
  <p:slideViewPr>
    <p:cSldViewPr>
      <p:cViewPr varScale="1">
        <p:scale>
          <a:sx n="133" d="100"/>
          <a:sy n="133" d="100"/>
        </p:scale>
        <p:origin x="133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1D4C8-AD22-4880-9484-3393AAEA21B4}" type="datetimeFigureOut">
              <a:rPr lang="zh-CN" altLang="en-US" smtClean="0"/>
              <a:pPr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5F2AC-91B5-4045-8919-646887698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BEC3C-C740-4938-B957-964D0E0312A7}" type="datetimeFigureOut">
              <a:rPr lang="zh-CN" altLang="en-US" smtClean="0"/>
              <a:pPr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86499-B8C4-4393-BB2B-FE4804D7EC6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kumimoji="0" lang="en-US" altLang="zh-CN" dirty="0" smtClean="0"/>
              <a:t>*</a:t>
            </a:r>
            <a:r>
              <a:rPr kumimoji="0" lang="zh-CN" altLang="en-US" dirty="0" smtClean="0"/>
              <a:t>：不考察</a:t>
            </a:r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CA728A-43F0-49BF-8B8D-B1697E3B1699}" type="slidenum">
              <a:rPr lang="en-US" altLang="zh-CN" smtClean="0">
                <a:latin typeface="Arial" charset="0"/>
              </a:rPr>
              <a:pPr/>
              <a:t>1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F86499-B8C4-4393-BB2B-FE4804D7EC61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112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F86499-B8C4-4393-BB2B-FE4804D7EC61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660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zhangzizhen@gmail.com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>
            <a:spLocks noChangeArrowheads="1"/>
          </p:cNvSpPr>
          <p:nvPr userDrawn="1"/>
        </p:nvSpPr>
        <p:spPr bwMode="auto">
          <a:xfrm>
            <a:off x="304800" y="381001"/>
            <a:ext cx="11582400" cy="6048375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latin typeface="Times New Roman" pitchFamily="18" charset="0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white">
          <a:xfrm>
            <a:off x="436034" y="488950"/>
            <a:ext cx="11247967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latin typeface="Times New Roman" pitchFamily="18" charset="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blackWhite">
          <a:xfrm>
            <a:off x="1828800" y="4500563"/>
            <a:ext cx="8534400" cy="13573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1800">
              <a:latin typeface="Arial" pitchFamily="34" charset="0"/>
            </a:endParaRPr>
          </a:p>
        </p:txBody>
      </p:sp>
      <p:pic>
        <p:nvPicPr>
          <p:cNvPr id="6" name="Picture 11" descr="sysu_logo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0300" y="76261"/>
            <a:ext cx="2445420" cy="688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2095530" y="4500570"/>
            <a:ext cx="8191500" cy="102797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48" charset="2"/>
              <a:buNone/>
              <a:defRPr/>
            </a:pPr>
            <a:r>
              <a:rPr lang="en-US" altLang="zh-CN" sz="1800" b="1" dirty="0" smtClean="0">
                <a:solidFill>
                  <a:srgbClr val="3A7877"/>
                </a:solidFill>
              </a:rPr>
              <a:t>Data Structures and Algorithms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itchFamily="48" charset="2"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Zizhen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Zhang, School of Computer Science and Engineering, Sun </a:t>
            </a:r>
            <a:r>
              <a:rPr kumimoji="0" lang="en-US" altLang="zh-CN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Yat-sen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University</a:t>
            </a:r>
            <a:endParaRPr kumimoji="0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itchFamily="48" charset="2"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  <a:hlinkClick r:id="rId3"/>
              </a:rPr>
              <a:t>zhangzizhen@gmail.com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14400" y="1519240"/>
            <a:ext cx="10363200" cy="2266950"/>
          </a:xfrm>
        </p:spPr>
        <p:txBody>
          <a:bodyPr anchor="ctr" anchorCtr="1"/>
          <a:lstStyle>
            <a:lvl1pPr algn="ctr">
              <a:defRPr sz="4100" i="1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6251" y="214314"/>
            <a:ext cx="112395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1" y="928688"/>
            <a:ext cx="11239500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pic>
        <p:nvPicPr>
          <p:cNvPr id="1028" name="Picture 15" descr="C:\Documents and Settings\Administrator\桌面\Briefcase\Web程序设计与AJAX 课程\gif图片下载\英文校名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03751" y="6581776"/>
            <a:ext cx="33020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直接连接符 20"/>
          <p:cNvCxnSpPr/>
          <p:nvPr/>
        </p:nvCxnSpPr>
        <p:spPr>
          <a:xfrm>
            <a:off x="476251" y="855664"/>
            <a:ext cx="11239500" cy="1587"/>
          </a:xfrm>
          <a:prstGeom prst="line">
            <a:avLst/>
          </a:prstGeom>
          <a:ln w="381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Box 26"/>
          <p:cNvSpPr txBox="1">
            <a:spLocks noChangeArrowheads="1"/>
          </p:cNvSpPr>
          <p:nvPr/>
        </p:nvSpPr>
        <p:spPr bwMode="auto">
          <a:xfrm>
            <a:off x="5143501" y="71439"/>
            <a:ext cx="66675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CN" sz="1100" i="1" dirty="0" smtClean="0">
                <a:solidFill>
                  <a:srgbClr val="3A7877"/>
                </a:solidFill>
                <a:latin typeface="Arial" pitchFamily="34" charset="0"/>
              </a:rPr>
              <a:t>Data structures</a:t>
            </a:r>
            <a:r>
              <a:rPr lang="en-US" altLang="zh-CN" sz="1100" i="1" baseline="0" dirty="0" smtClean="0">
                <a:solidFill>
                  <a:srgbClr val="3A7877"/>
                </a:solidFill>
                <a:latin typeface="Arial" pitchFamily="34" charset="0"/>
              </a:rPr>
              <a:t> and algorithms</a:t>
            </a:r>
            <a:endParaRPr lang="zh-CN" altLang="en-US" sz="1100" i="1" dirty="0">
              <a:solidFill>
                <a:srgbClr val="3A7877"/>
              </a:solidFill>
              <a:latin typeface="Arial" pitchFamily="34" charset="0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686800" y="6615113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FED218EC-7653-412D-96B2-7145C570315F}" type="slidenum">
              <a:rPr lang="en-US" altLang="zh-CN" sz="1000" b="1">
                <a:solidFill>
                  <a:srgbClr val="3A7877"/>
                </a:solidFill>
                <a:latin typeface="Arial" pitchFamily="34" charset="0"/>
              </a:rPr>
              <a:pPr algn="ctr">
                <a:defRPr/>
              </a:pPr>
              <a:t>‹#›</a:t>
            </a:fld>
            <a:r>
              <a:rPr lang="en-US" altLang="zh-CN" sz="1000" b="1" dirty="0">
                <a:solidFill>
                  <a:srgbClr val="3A7877"/>
                </a:solidFill>
                <a:latin typeface="Arial" pitchFamily="34" charset="0"/>
              </a:rPr>
              <a:t> </a:t>
            </a:r>
            <a:r>
              <a:rPr lang="en-US" altLang="zh-CN" sz="1000" b="1" dirty="0" smtClean="0">
                <a:solidFill>
                  <a:srgbClr val="3A7877"/>
                </a:solidFill>
                <a:latin typeface="Arial" pitchFamily="34" charset="0"/>
              </a:rPr>
              <a:t>/</a:t>
            </a:r>
            <a:endParaRPr lang="en-US" altLang="zh-CN" sz="1000" b="1" dirty="0">
              <a:solidFill>
                <a:srgbClr val="3A7877"/>
              </a:solidFill>
              <a:latin typeface="Arial" pitchFamily="34" charset="0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952500" y="6615113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28F2FBAF-9894-4EB8-8AC6-3F534D888B82}" type="datetime4">
              <a:rPr lang="en-US" altLang="zh-CN" sz="1000" b="1">
                <a:solidFill>
                  <a:srgbClr val="3A7877"/>
                </a:solidFill>
                <a:latin typeface="Arial" pitchFamily="34" charset="0"/>
              </a:rPr>
              <a:pPr algn="ctr">
                <a:defRPr/>
              </a:pPr>
              <a:t>November 25, 2025</a:t>
            </a:fld>
            <a:endParaRPr lang="en-US" altLang="zh-CN" sz="1000" b="1" dirty="0">
              <a:solidFill>
                <a:srgbClr val="3A7877"/>
              </a:solidFill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ransition spd="slow"/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Predictive_tex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hyperlink" Target="http://en.wikipedia.org/wiki/Mobile_telephone" TargetMode="External"/><Relationship Id="rId4" Type="http://schemas.openxmlformats.org/officeDocument/2006/relationships/hyperlink" Target="http://en.wikipedia.org/wiki/Autocomplete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py4y1a7v8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altLang="zh-CN" i="0" dirty="0" smtClean="0"/>
              <a:t>Lecture </a:t>
            </a:r>
            <a:r>
              <a:rPr kumimoji="0" lang="en-US" altLang="zh-CN" i="0" dirty="0" smtClean="0"/>
              <a:t>18</a:t>
            </a:r>
            <a:r>
              <a:rPr kumimoji="0" lang="en-US" altLang="zh-CN" i="0" dirty="0" smtClean="0"/>
              <a:t/>
            </a:r>
            <a:br>
              <a:rPr kumimoji="0" lang="en-US" altLang="zh-CN" i="0" dirty="0" smtClean="0"/>
            </a:br>
            <a:r>
              <a:rPr kumimoji="0" lang="en-US" altLang="zh-CN" i="0" dirty="0" smtClean="0"/>
              <a:t>Tree Extensions</a:t>
            </a:r>
            <a:endParaRPr kumimoji="0" lang="zh-CN" altLang="en-US" i="0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zh-CN" dirty="0" smtClean="0"/>
              <a:t>Huffman Trees</a:t>
            </a:r>
          </a:p>
          <a:p>
            <a:r>
              <a:rPr lang="en-US" altLang="zh-CN" dirty="0" smtClean="0"/>
              <a:t>Threaded Binary Trees</a:t>
            </a:r>
          </a:p>
          <a:p>
            <a:r>
              <a:rPr lang="en-US" altLang="zh-CN" dirty="0"/>
              <a:t>Lexicographic Search Trees: Tries*</a:t>
            </a:r>
          </a:p>
          <a:p>
            <a:r>
              <a:rPr kumimoji="0" lang="en-US" altLang="zh-CN" dirty="0" smtClean="0"/>
              <a:t>Splay </a:t>
            </a:r>
            <a:r>
              <a:rPr kumimoji="0" lang="en-US" altLang="zh-CN" dirty="0"/>
              <a:t>Trees*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0325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Huffman Coding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Consider the following data, which is taken from a Postscript file.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Notice that there are many more occurrences of 0 and 1 than the other characters.</a:t>
            </a:r>
            <a:endParaRPr lang="zh-CN" altLang="en-US" dirty="0" smtClean="0"/>
          </a:p>
          <a:p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3592" y="1340768"/>
            <a:ext cx="1714512" cy="3022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4055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Huffman Coding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What would happen if we used the following code to store the data rather than the fixed length code?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sz="1200" dirty="0"/>
          </a:p>
          <a:p>
            <a:endParaRPr lang="en-US" altLang="zh-CN" dirty="0" smtClean="0"/>
          </a:p>
          <a:p>
            <a:r>
              <a:rPr lang="en-US" altLang="zh-CN" dirty="0" smtClean="0"/>
              <a:t>To store the string 0748901 we would get 0000011101001000100100000001 using the fixed length code and 10110001010000111011010 using the variable length code.</a:t>
            </a:r>
            <a:endParaRPr lang="zh-CN" altLang="en-US" dirty="0" smtClean="0"/>
          </a:p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5538" y="1767742"/>
            <a:ext cx="1714512" cy="2732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9216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Huffman Tree: Optimal Binary 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In order to be able to decode the variable length code properly it is necessary that it be a </a:t>
            </a:r>
            <a:r>
              <a:rPr lang="en-US" altLang="zh-CN" dirty="0" smtClean="0">
                <a:solidFill>
                  <a:srgbClr val="FF0000"/>
                </a:solidFill>
              </a:rPr>
              <a:t>prefix code </a:t>
            </a:r>
            <a:r>
              <a:rPr lang="en-US" altLang="zh-CN" dirty="0" smtClean="0"/>
              <a:t>— that is, a code in which no codeword is a prefix of any other </a:t>
            </a:r>
            <a:r>
              <a:rPr lang="en-US" altLang="zh-CN" dirty="0" err="1" smtClean="0"/>
              <a:t>codeword</a:t>
            </a:r>
            <a:r>
              <a:rPr lang="en-US" altLang="zh-CN" dirty="0" smtClean="0"/>
              <a:t>.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Decoding such a code is </a:t>
            </a:r>
          </a:p>
          <a:p>
            <a:pPr>
              <a:buNone/>
            </a:pPr>
            <a:r>
              <a:rPr lang="en-US" altLang="zh-CN" dirty="0" smtClean="0"/>
              <a:t>	done using </a:t>
            </a:r>
            <a:r>
              <a:rPr lang="en-US" altLang="zh-CN" dirty="0" smtClean="0">
                <a:solidFill>
                  <a:srgbClr val="FF0000"/>
                </a:solidFill>
              </a:rPr>
              <a:t>a binary tree</a:t>
            </a:r>
            <a:r>
              <a:rPr lang="en-US" altLang="zh-CN" dirty="0" smtClean="0"/>
              <a:t>,</a:t>
            </a:r>
          </a:p>
          <a:p>
            <a:pPr>
              <a:buNone/>
            </a:pPr>
            <a:r>
              <a:rPr lang="en-US" altLang="zh-CN" dirty="0" smtClean="0"/>
              <a:t>	called </a:t>
            </a:r>
            <a:r>
              <a:rPr lang="en-US" altLang="zh-CN" dirty="0" smtClean="0">
                <a:solidFill>
                  <a:srgbClr val="FF0000"/>
                </a:solidFill>
              </a:rPr>
              <a:t>Huffman tree</a:t>
            </a:r>
            <a:r>
              <a:rPr lang="en-US" altLang="zh-CN" dirty="0" smtClean="0"/>
              <a:t>.</a:t>
            </a:r>
            <a:endParaRPr lang="zh-CN" altLang="en-US" dirty="0" smtClean="0"/>
          </a:p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0016" y="1988840"/>
            <a:ext cx="3672408" cy="402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8746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Huffman Coding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Now assign to each </a:t>
            </a:r>
            <a:r>
              <a:rPr lang="en-US" altLang="zh-CN" dirty="0" smtClean="0">
                <a:solidFill>
                  <a:srgbClr val="FF0000"/>
                </a:solidFill>
              </a:rPr>
              <a:t>leaf</a:t>
            </a:r>
            <a:r>
              <a:rPr lang="en-US" altLang="zh-CN" dirty="0" smtClean="0"/>
              <a:t> of the tree a value, </a:t>
            </a:r>
            <a:r>
              <a:rPr lang="en-US" altLang="zh-CN" i="1" dirty="0" smtClean="0"/>
              <a:t>f(c)</a:t>
            </a:r>
            <a:r>
              <a:rPr lang="en-US" altLang="zh-CN" dirty="0" smtClean="0"/>
              <a:t>, which is the frequency of occurrence of the character </a:t>
            </a:r>
            <a:r>
              <a:rPr lang="en-US" altLang="zh-CN" i="1" dirty="0" smtClean="0"/>
              <a:t>c</a:t>
            </a:r>
            <a:r>
              <a:rPr lang="en-US" altLang="zh-CN" dirty="0" smtClean="0"/>
              <a:t> represented by the leaf.</a:t>
            </a:r>
          </a:p>
          <a:p>
            <a:r>
              <a:rPr lang="en-US" altLang="zh-CN" dirty="0" smtClean="0"/>
              <a:t>Let </a:t>
            </a:r>
            <a:r>
              <a:rPr lang="en-US" altLang="zh-CN" i="1" dirty="0" err="1" smtClean="0"/>
              <a:t>d</a:t>
            </a:r>
            <a:r>
              <a:rPr lang="en-US" altLang="zh-CN" i="1" baseline="-25000" dirty="0" err="1" smtClean="0"/>
              <a:t>T</a:t>
            </a:r>
            <a:r>
              <a:rPr lang="en-US" altLang="zh-CN" i="1" dirty="0" smtClean="0"/>
              <a:t>(c)</a:t>
            </a:r>
            <a:r>
              <a:rPr lang="en-US" altLang="zh-CN" dirty="0" smtClean="0"/>
              <a:t> be the depth of character </a:t>
            </a:r>
            <a:r>
              <a:rPr lang="en-US" altLang="zh-CN" i="1" dirty="0" err="1" smtClean="0"/>
              <a:t>c</a:t>
            </a:r>
            <a:r>
              <a:rPr lang="en-US" altLang="zh-CN" dirty="0" err="1" smtClean="0"/>
              <a:t>’s</a:t>
            </a:r>
            <a:r>
              <a:rPr lang="en-US" altLang="zh-CN" dirty="0" smtClean="0"/>
              <a:t> leaf in the tree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Then the number of bits required to encode a file is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which we define as the </a:t>
            </a:r>
            <a:r>
              <a:rPr lang="en-US" altLang="zh-CN" dirty="0" smtClean="0">
                <a:solidFill>
                  <a:srgbClr val="FF0000"/>
                </a:solidFill>
              </a:rPr>
              <a:t>cost</a:t>
            </a:r>
            <a:r>
              <a:rPr lang="en-US" altLang="zh-CN" dirty="0" smtClean="0"/>
              <a:t>, or weighted path length (</a:t>
            </a:r>
            <a:r>
              <a:rPr lang="en-US" altLang="zh-CN" dirty="0" smtClean="0">
                <a:solidFill>
                  <a:srgbClr val="FF0000"/>
                </a:solidFill>
              </a:rPr>
              <a:t>WPL</a:t>
            </a:r>
            <a:r>
              <a:rPr lang="en-US" altLang="zh-CN" dirty="0" smtClean="0"/>
              <a:t>)</a:t>
            </a:r>
            <a:r>
              <a:rPr lang="en-US" altLang="zh-CN" dirty="0" smtClean="0"/>
              <a:t> </a:t>
            </a:r>
            <a:r>
              <a:rPr lang="en-US" altLang="zh-CN" dirty="0" smtClean="0"/>
              <a:t>of the tree T.</a:t>
            </a:r>
            <a:endParaRPr lang="zh-CN" altLang="en-US" dirty="0" smtClean="0"/>
          </a:p>
          <a:p>
            <a:endParaRPr lang="zh-CN" altLang="en-US" dirty="0"/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>
            <p:extLst/>
          </p:nvPr>
        </p:nvGraphicFramePr>
        <p:xfrm>
          <a:off x="2783632" y="2708920"/>
          <a:ext cx="39116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Equation" r:id="rId3" imgW="1460160" imgH="266400" progId="">
                  <p:embed/>
                </p:oleObj>
              </mc:Choice>
              <mc:Fallback>
                <p:oleObj name="Equation" r:id="rId3" imgW="1460160" imgH="266400" progId="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2708920"/>
                        <a:ext cx="3911600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236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Huffman Coding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For example, the number of bits required to store the string 0748901 can be computed from the tree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: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	giving B(T) = 2×1+1×3+1×3+1×4+1×5+1×6 = 23.</a:t>
            </a:r>
          </a:p>
          <a:p>
            <a:pPr>
              <a:buNone/>
            </a:pPr>
            <a:r>
              <a:rPr lang="en-US" altLang="zh-CN" dirty="0" smtClean="0"/>
              <a:t>	Thus, the cost of the tree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 is 23.</a:t>
            </a:r>
            <a:endParaRPr lang="zh-CN" altLang="en-US" dirty="0" smtClean="0"/>
          </a:p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664" y="1772816"/>
            <a:ext cx="3856625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4651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Huffman Coding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 tree representing an optimal code for a file is always a </a:t>
            </a:r>
            <a:r>
              <a:rPr lang="en-US" altLang="zh-CN" dirty="0" smtClean="0">
                <a:solidFill>
                  <a:srgbClr val="FF0000"/>
                </a:solidFill>
              </a:rPr>
              <a:t>full</a:t>
            </a:r>
            <a:r>
              <a:rPr lang="en-US" altLang="zh-CN" dirty="0" smtClean="0"/>
              <a:t> binary tree (note, full </a:t>
            </a:r>
            <a:r>
              <a:rPr lang="en-US" altLang="zh-CN" dirty="0" err="1" smtClean="0"/>
              <a:t>v.s</a:t>
            </a:r>
            <a:r>
              <a:rPr lang="en-US" altLang="zh-CN" dirty="0" smtClean="0"/>
              <a:t>. complete, perfect) — namely, one where every node is either a leaf or has precisely two children.</a:t>
            </a:r>
          </a:p>
          <a:p>
            <a:r>
              <a:rPr lang="en-US" altLang="zh-CN" dirty="0" smtClean="0"/>
              <a:t>Therefore if we are dealing with an alphabet of 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 symbols we can be sure that our tree has precisely 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 leaves and 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−1 internal nodes, each with two children.</a:t>
            </a:r>
          </a:p>
          <a:p>
            <a:r>
              <a:rPr lang="en-US" altLang="zh-CN" dirty="0" smtClean="0"/>
              <a:t>Huffman invented a </a:t>
            </a:r>
            <a:r>
              <a:rPr lang="en-US" altLang="zh-CN" dirty="0" smtClean="0">
                <a:solidFill>
                  <a:srgbClr val="FF0000"/>
                </a:solidFill>
              </a:rPr>
              <a:t>greedy</a:t>
            </a:r>
            <a:r>
              <a:rPr lang="en-US" altLang="zh-CN" dirty="0" smtClean="0"/>
              <a:t> algorithm to construct such an optimal tree. The resulting code is called a </a:t>
            </a:r>
            <a:r>
              <a:rPr lang="en-US" altLang="zh-CN" dirty="0" smtClean="0">
                <a:solidFill>
                  <a:srgbClr val="FF0000"/>
                </a:solidFill>
              </a:rPr>
              <a:t>Huffman code </a:t>
            </a:r>
            <a:r>
              <a:rPr lang="en-US" altLang="zh-CN" dirty="0" smtClean="0"/>
              <a:t>for that file.</a:t>
            </a:r>
            <a:endParaRPr lang="zh-CN" altLang="en-US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954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Huffman’s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Huffman’s algorithm</a:t>
            </a:r>
            <a:r>
              <a:rPr lang="en-US" altLang="zh-CN" dirty="0" smtClean="0"/>
              <a:t>: The algorithm starts by creating a forest of 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 single nodes, each representing one character, and each with an associated value, being the frequency of occurrence of that character. These values are placed into a </a:t>
            </a:r>
            <a:r>
              <a:rPr lang="en-US" altLang="zh-CN" dirty="0" smtClean="0">
                <a:solidFill>
                  <a:srgbClr val="FF0000"/>
                </a:solidFill>
              </a:rPr>
              <a:t>priority queue</a:t>
            </a:r>
            <a:r>
              <a:rPr lang="en-US" altLang="zh-CN" dirty="0" smtClean="0"/>
              <a:t> (implemented as a linear array).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Then repeat the following procedure 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 − 1 times:</a:t>
            </a:r>
          </a:p>
          <a:p>
            <a:pPr lvl="1"/>
            <a:r>
              <a:rPr lang="en-US" altLang="zh-CN" dirty="0" smtClean="0"/>
              <a:t>Remove from the priority queue the two nodes </a:t>
            </a:r>
            <a:r>
              <a:rPr lang="en-US" altLang="zh-CN" i="1" dirty="0" smtClean="0"/>
              <a:t>L</a:t>
            </a:r>
            <a:r>
              <a:rPr lang="en-US" altLang="zh-CN" dirty="0" smtClean="0"/>
              <a:t> and </a:t>
            </a:r>
            <a:r>
              <a:rPr lang="en-US" altLang="zh-CN" i="1" dirty="0" smtClean="0"/>
              <a:t>R</a:t>
            </a:r>
            <a:r>
              <a:rPr lang="en-US" altLang="zh-CN" dirty="0" smtClean="0"/>
              <a:t> with the lowest values, and create a internal node of the binary tree whose left child is </a:t>
            </a:r>
            <a:r>
              <a:rPr lang="en-US" altLang="zh-CN" i="1" dirty="0" smtClean="0"/>
              <a:t>L</a:t>
            </a:r>
            <a:r>
              <a:rPr lang="en-US" altLang="zh-CN" dirty="0" smtClean="0"/>
              <a:t> and right child </a:t>
            </a:r>
            <a:r>
              <a:rPr lang="en-US" altLang="zh-CN" i="1" dirty="0" smtClean="0"/>
              <a:t>R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 smtClean="0"/>
              <a:t>Compute the value of the new node as the sum of the values of </a:t>
            </a:r>
            <a:r>
              <a:rPr lang="en-US" altLang="zh-CN" i="1" dirty="0" smtClean="0"/>
              <a:t>L</a:t>
            </a:r>
            <a:r>
              <a:rPr lang="en-US" altLang="zh-CN" dirty="0" smtClean="0"/>
              <a:t> and </a:t>
            </a:r>
            <a:r>
              <a:rPr lang="en-US" altLang="zh-CN" i="1" dirty="0" smtClean="0"/>
              <a:t>R</a:t>
            </a:r>
            <a:r>
              <a:rPr lang="en-US" altLang="zh-CN" dirty="0" smtClean="0"/>
              <a:t> and insert this into the priority queue.</a:t>
            </a:r>
            <a:endParaRPr lang="zh-CN" altLang="en-US" dirty="0" smtClean="0"/>
          </a:p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7648" y="2636912"/>
            <a:ext cx="497626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3356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Exercise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Given Char = {a, b, c, d, e, f} and </a:t>
            </a:r>
            <a:r>
              <a:rPr lang="en-US" altLang="zh-CN" dirty="0" err="1" smtClean="0"/>
              <a:t>Freq</a:t>
            </a:r>
            <a:r>
              <a:rPr lang="en-US" altLang="zh-CN" dirty="0" smtClean="0"/>
              <a:t> = {8, 3, 4, 6, 5, 5}, build the Huffman Tree.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3748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Threaded Binary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threaded binary tree is a type of binary tree data structure where the </a:t>
            </a:r>
            <a:r>
              <a:rPr lang="en-US" altLang="zh-CN" dirty="0">
                <a:solidFill>
                  <a:srgbClr val="FF0000"/>
                </a:solidFill>
              </a:rPr>
              <a:t>empty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FF0000"/>
                </a:solidFill>
              </a:rPr>
              <a:t>right</a:t>
            </a:r>
            <a:r>
              <a:rPr lang="en-US" altLang="zh-CN" dirty="0"/>
              <a:t> child pointers in a binary tree are replaced with </a:t>
            </a:r>
            <a:r>
              <a:rPr lang="en-US" altLang="zh-CN" dirty="0">
                <a:solidFill>
                  <a:srgbClr val="FF0000"/>
                </a:solidFill>
              </a:rPr>
              <a:t>threads</a:t>
            </a:r>
            <a:r>
              <a:rPr lang="en-US" altLang="zh-CN" dirty="0"/>
              <a:t> that link nodes directly to their in-order </a:t>
            </a:r>
            <a:r>
              <a:rPr lang="en-US" altLang="zh-CN" dirty="0">
                <a:solidFill>
                  <a:srgbClr val="FF0000"/>
                </a:solidFill>
              </a:rPr>
              <a:t>predecessor</a:t>
            </a:r>
            <a:r>
              <a:rPr lang="en-US" altLang="zh-CN" dirty="0"/>
              <a:t> or </a:t>
            </a:r>
            <a:r>
              <a:rPr lang="en-US" altLang="zh-CN" dirty="0">
                <a:solidFill>
                  <a:srgbClr val="FF0000"/>
                </a:solidFill>
              </a:rPr>
              <a:t>successor</a:t>
            </a:r>
            <a:r>
              <a:rPr lang="en-US" altLang="zh-CN" dirty="0"/>
              <a:t>, thereby providing a way to traverse the tree without using recursion or a stack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The idea of threaded binary trees is to make </a:t>
            </a:r>
            <a:r>
              <a:rPr lang="en-US" altLang="zh-CN" dirty="0" err="1">
                <a:solidFill>
                  <a:srgbClr val="FF0000"/>
                </a:solidFill>
              </a:rPr>
              <a:t>inorder</a:t>
            </a:r>
            <a:r>
              <a:rPr lang="en-US" altLang="zh-CN" dirty="0"/>
              <a:t> traversal </a:t>
            </a:r>
            <a:r>
              <a:rPr lang="en-US" altLang="zh-CN" dirty="0">
                <a:solidFill>
                  <a:srgbClr val="FF0000"/>
                </a:solidFill>
              </a:rPr>
              <a:t>faster</a:t>
            </a:r>
            <a:r>
              <a:rPr lang="en-US" altLang="zh-CN" dirty="0"/>
              <a:t> and do it without stack and without recursion. Threaded binary trees can be useful when space is a concern, as they can eliminate the need for a stack during traversal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There are two types of threaded binary trees. </a:t>
            </a:r>
            <a:endParaRPr lang="en-US" altLang="zh-CN" dirty="0" smtClean="0"/>
          </a:p>
          <a:p>
            <a:pPr lvl="1"/>
            <a:r>
              <a:rPr lang="en-US" altLang="zh-CN" b="1" i="1" dirty="0" smtClean="0"/>
              <a:t>Single </a:t>
            </a:r>
            <a:r>
              <a:rPr lang="en-US" altLang="zh-CN" b="1" i="1" dirty="0"/>
              <a:t>Threaded: </a:t>
            </a:r>
            <a:r>
              <a:rPr lang="en-US" altLang="zh-CN" dirty="0"/>
              <a:t>Where a </a:t>
            </a:r>
            <a:r>
              <a:rPr lang="en-US" altLang="zh-CN" dirty="0">
                <a:solidFill>
                  <a:srgbClr val="FF0000"/>
                </a:solidFill>
              </a:rPr>
              <a:t>NULL right pointers </a:t>
            </a:r>
            <a:r>
              <a:rPr lang="en-US" altLang="zh-CN" dirty="0"/>
              <a:t>is made to point to the </a:t>
            </a:r>
            <a:r>
              <a:rPr lang="en-US" altLang="zh-CN" dirty="0" err="1"/>
              <a:t>inorder</a:t>
            </a:r>
            <a:r>
              <a:rPr lang="en-US" altLang="zh-CN" dirty="0"/>
              <a:t> successor (if successor exists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b="1" i="1" dirty="0" smtClean="0"/>
              <a:t>Double </a:t>
            </a:r>
            <a:r>
              <a:rPr lang="en-US" altLang="zh-CN" b="1" i="1" dirty="0"/>
              <a:t>Threaded:</a:t>
            </a:r>
            <a:r>
              <a:rPr lang="en-US" altLang="zh-CN" dirty="0"/>
              <a:t> Where both </a:t>
            </a:r>
            <a:r>
              <a:rPr lang="en-US" altLang="zh-CN" dirty="0">
                <a:solidFill>
                  <a:srgbClr val="FF0000"/>
                </a:solidFill>
              </a:rPr>
              <a:t>left and right NULL pointers </a:t>
            </a:r>
            <a:r>
              <a:rPr lang="en-US" altLang="zh-CN" dirty="0"/>
              <a:t>are made to point to </a:t>
            </a:r>
            <a:r>
              <a:rPr lang="en-US" altLang="zh-CN" dirty="0" err="1"/>
              <a:t>inorder</a:t>
            </a:r>
            <a:r>
              <a:rPr lang="en-US" altLang="zh-CN" dirty="0"/>
              <a:t> predecessor and </a:t>
            </a:r>
            <a:r>
              <a:rPr lang="en-US" altLang="zh-CN" dirty="0" err="1"/>
              <a:t>inorder</a:t>
            </a:r>
            <a:r>
              <a:rPr lang="en-US" altLang="zh-CN" dirty="0"/>
              <a:t> successor respectively. The predecessor threads are useful for reverse </a:t>
            </a:r>
            <a:r>
              <a:rPr lang="en-US" altLang="zh-CN" dirty="0" err="1"/>
              <a:t>inorder</a:t>
            </a:r>
            <a:r>
              <a:rPr lang="en-US" altLang="zh-CN" dirty="0"/>
              <a:t> traversal and </a:t>
            </a:r>
            <a:r>
              <a:rPr lang="en-US" altLang="zh-CN" dirty="0" err="1"/>
              <a:t>postorder</a:t>
            </a:r>
            <a:r>
              <a:rPr lang="en-US" altLang="zh-CN" dirty="0"/>
              <a:t> traversal.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7226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内容占位符 2"/>
          <p:cNvSpPr txBox="1">
            <a:spLocks/>
          </p:cNvSpPr>
          <p:nvPr/>
        </p:nvSpPr>
        <p:spPr bwMode="auto">
          <a:xfrm>
            <a:off x="6008365" y="927894"/>
            <a:ext cx="5583161" cy="554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b="1" kern="0" dirty="0" smtClean="0"/>
              <a:t>Double Threaded</a:t>
            </a:r>
            <a:endParaRPr lang="zh-CN" altLang="en-US" kern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Threaded Binary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251" y="928688"/>
            <a:ext cx="5577829" cy="5572125"/>
          </a:xfrm>
        </p:spPr>
        <p:txBody>
          <a:bodyPr/>
          <a:lstStyle/>
          <a:p>
            <a:r>
              <a:rPr lang="en-US" altLang="zh-CN" b="1" dirty="0"/>
              <a:t>Single Threaded</a:t>
            </a:r>
            <a:endParaRPr lang="zh-CN" altLang="en-US" dirty="0"/>
          </a:p>
        </p:txBody>
      </p:sp>
      <p:pic>
        <p:nvPicPr>
          <p:cNvPr id="5122" name="Picture 2" descr="threadedB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81" y="1864990"/>
            <a:ext cx="4198049" cy="322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6312024" y="1809750"/>
            <a:ext cx="4248472" cy="3131418"/>
            <a:chOff x="3810000" y="1790700"/>
            <a:chExt cx="4572000" cy="3276600"/>
          </a:xfrm>
        </p:grpSpPr>
        <p:sp>
          <p:nvSpPr>
            <p:cNvPr id="5" name="Oval 4"/>
            <p:cNvSpPr>
              <a:spLocks noChangeArrowheads="1"/>
            </p:cNvSpPr>
            <p:nvPr/>
          </p:nvSpPr>
          <p:spPr bwMode="auto">
            <a:xfrm>
              <a:off x="6553200" y="2628900"/>
              <a:ext cx="609600" cy="533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6019800" y="3619500"/>
              <a:ext cx="609600" cy="533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cxnSp>
          <p:nvCxnSpPr>
            <p:cNvPr id="7" name="AutoShape 6"/>
            <p:cNvCxnSpPr>
              <a:cxnSpLocks noChangeShapeType="1"/>
              <a:stCxn id="5" idx="3"/>
              <a:endCxn id="6" idx="0"/>
            </p:cNvCxnSpPr>
            <p:nvPr/>
          </p:nvCxnSpPr>
          <p:spPr bwMode="auto">
            <a:xfrm flipH="1">
              <a:off x="6324600" y="3084513"/>
              <a:ext cx="317500" cy="53498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5029200" y="3619500"/>
              <a:ext cx="609600" cy="533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9" name="AutoShape 8"/>
            <p:cNvCxnSpPr>
              <a:cxnSpLocks noChangeShapeType="1"/>
              <a:stCxn id="10" idx="5"/>
              <a:endCxn id="8" idx="0"/>
            </p:cNvCxnSpPr>
            <p:nvPr/>
          </p:nvCxnSpPr>
          <p:spPr bwMode="auto">
            <a:xfrm>
              <a:off x="4940300" y="3236913"/>
              <a:ext cx="393700" cy="38258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4419600" y="2781300"/>
              <a:ext cx="609600" cy="533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11" name="AutoShape 10"/>
            <p:cNvCxnSpPr>
              <a:cxnSpLocks noChangeShapeType="1"/>
              <a:stCxn id="18" idx="3"/>
              <a:endCxn id="10" idx="0"/>
            </p:cNvCxnSpPr>
            <p:nvPr/>
          </p:nvCxnSpPr>
          <p:spPr bwMode="auto">
            <a:xfrm flipH="1">
              <a:off x="4724400" y="2246313"/>
              <a:ext cx="850900" cy="53498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7239000" y="3619500"/>
              <a:ext cx="609600" cy="533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</a:rPr>
                <a:t>11</a:t>
              </a:r>
            </a:p>
          </p:txBody>
        </p:sp>
        <p:cxnSp>
          <p:nvCxnSpPr>
            <p:cNvPr id="13" name="AutoShape 12"/>
            <p:cNvCxnSpPr>
              <a:cxnSpLocks noChangeShapeType="1"/>
              <a:stCxn id="5" idx="5"/>
              <a:endCxn id="12" idx="0"/>
            </p:cNvCxnSpPr>
            <p:nvPr/>
          </p:nvCxnSpPr>
          <p:spPr bwMode="auto">
            <a:xfrm>
              <a:off x="7073900" y="3084513"/>
              <a:ext cx="469900" cy="53498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7772400" y="4533900"/>
              <a:ext cx="609600" cy="533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44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13</a:t>
              </a:r>
            </a:p>
          </p:txBody>
        </p:sp>
        <p:cxnSp>
          <p:nvCxnSpPr>
            <p:cNvPr id="15" name="AutoShape 14"/>
            <p:cNvCxnSpPr>
              <a:cxnSpLocks noChangeShapeType="1"/>
              <a:stCxn id="12" idx="5"/>
              <a:endCxn id="14" idx="0"/>
            </p:cNvCxnSpPr>
            <p:nvPr/>
          </p:nvCxnSpPr>
          <p:spPr bwMode="auto">
            <a:xfrm>
              <a:off x="7759700" y="4075113"/>
              <a:ext cx="317500" cy="45878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3810000" y="3619500"/>
              <a:ext cx="609600" cy="533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7" name="AutoShape 16"/>
            <p:cNvCxnSpPr>
              <a:cxnSpLocks noChangeShapeType="1"/>
              <a:stCxn id="10" idx="3"/>
              <a:endCxn id="16" idx="0"/>
            </p:cNvCxnSpPr>
            <p:nvPr/>
          </p:nvCxnSpPr>
          <p:spPr bwMode="auto">
            <a:xfrm flipH="1">
              <a:off x="4114800" y="3236913"/>
              <a:ext cx="393700" cy="38258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5486400" y="1790700"/>
              <a:ext cx="609600" cy="533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6705600" y="4533900"/>
              <a:ext cx="609600" cy="5334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kumimoji="1" lang="en-US" altLang="zh-CN" sz="4400">
                  <a:solidFill>
                    <a:schemeClr val="bg1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cxnSp>
          <p:nvCxnSpPr>
            <p:cNvPr id="20" name="AutoShape 19"/>
            <p:cNvCxnSpPr>
              <a:cxnSpLocks noChangeShapeType="1"/>
              <a:stCxn id="12" idx="3"/>
              <a:endCxn id="19" idx="0"/>
            </p:cNvCxnSpPr>
            <p:nvPr/>
          </p:nvCxnSpPr>
          <p:spPr bwMode="auto">
            <a:xfrm flipH="1">
              <a:off x="7010400" y="4075113"/>
              <a:ext cx="317500" cy="45878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20"/>
            <p:cNvCxnSpPr>
              <a:cxnSpLocks noChangeShapeType="1"/>
              <a:stCxn id="18" idx="5"/>
              <a:endCxn id="5" idx="0"/>
            </p:cNvCxnSpPr>
            <p:nvPr/>
          </p:nvCxnSpPr>
          <p:spPr bwMode="auto">
            <a:xfrm>
              <a:off x="6007100" y="2246313"/>
              <a:ext cx="850900" cy="38258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21"/>
            <p:cNvCxnSpPr>
              <a:cxnSpLocks noChangeShapeType="1"/>
              <a:stCxn id="16" idx="4"/>
              <a:endCxn id="10" idx="4"/>
            </p:cNvCxnSpPr>
            <p:nvPr/>
          </p:nvCxnSpPr>
          <p:spPr bwMode="auto">
            <a:xfrm rot="5400000" flipH="1" flipV="1">
              <a:off x="4000500" y="3429000"/>
              <a:ext cx="838200" cy="609600"/>
            </a:xfrm>
            <a:prstGeom prst="curvedConnector3">
              <a:avLst>
                <a:gd name="adj1" fmla="val -27273"/>
              </a:avLst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22"/>
            <p:cNvCxnSpPr>
              <a:cxnSpLocks noChangeShapeType="1"/>
              <a:stCxn id="8" idx="4"/>
              <a:endCxn id="18" idx="4"/>
            </p:cNvCxnSpPr>
            <p:nvPr/>
          </p:nvCxnSpPr>
          <p:spPr bwMode="auto">
            <a:xfrm rot="5400000" flipH="1" flipV="1">
              <a:off x="4648200" y="3009900"/>
              <a:ext cx="1828800" cy="457200"/>
            </a:xfrm>
            <a:prstGeom prst="curvedConnector3">
              <a:avLst>
                <a:gd name="adj1" fmla="val -12500"/>
              </a:avLst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AutoShape 23"/>
            <p:cNvCxnSpPr>
              <a:cxnSpLocks noChangeShapeType="1"/>
              <a:stCxn id="6" idx="4"/>
              <a:endCxn id="5" idx="4"/>
            </p:cNvCxnSpPr>
            <p:nvPr/>
          </p:nvCxnSpPr>
          <p:spPr bwMode="auto">
            <a:xfrm rot="5400000" flipH="1" flipV="1">
              <a:off x="6096000" y="3390900"/>
              <a:ext cx="990600" cy="533400"/>
            </a:xfrm>
            <a:prstGeom prst="curvedConnector3">
              <a:avLst>
                <a:gd name="adj1" fmla="val -23079"/>
              </a:avLst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AutoShape 24"/>
            <p:cNvCxnSpPr>
              <a:cxnSpLocks noChangeShapeType="1"/>
              <a:stCxn id="19" idx="4"/>
              <a:endCxn id="12" idx="4"/>
            </p:cNvCxnSpPr>
            <p:nvPr/>
          </p:nvCxnSpPr>
          <p:spPr bwMode="auto">
            <a:xfrm rot="5400000" flipH="1" flipV="1">
              <a:off x="6819900" y="4343400"/>
              <a:ext cx="914400" cy="533400"/>
            </a:xfrm>
            <a:prstGeom prst="curvedConnector3">
              <a:avLst>
                <a:gd name="adj1" fmla="val -25000"/>
              </a:avLst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AutoShape 25"/>
            <p:cNvCxnSpPr>
              <a:cxnSpLocks noChangeShapeType="1"/>
              <a:stCxn id="8" idx="4"/>
              <a:endCxn id="10" idx="4"/>
            </p:cNvCxnSpPr>
            <p:nvPr/>
          </p:nvCxnSpPr>
          <p:spPr bwMode="auto">
            <a:xfrm rot="16200000" flipV="1">
              <a:off x="4610100" y="3429000"/>
              <a:ext cx="838200" cy="609600"/>
            </a:xfrm>
            <a:prstGeom prst="curvedConnector3">
              <a:avLst>
                <a:gd name="adj1" fmla="val -27273"/>
              </a:avLst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AutoShape 26"/>
            <p:cNvCxnSpPr>
              <a:cxnSpLocks noChangeShapeType="1"/>
              <a:stCxn id="6" idx="4"/>
              <a:endCxn id="18" idx="4"/>
            </p:cNvCxnSpPr>
            <p:nvPr/>
          </p:nvCxnSpPr>
          <p:spPr bwMode="auto">
            <a:xfrm rot="16200000" flipV="1">
              <a:off x="5143500" y="2971800"/>
              <a:ext cx="1828800" cy="533400"/>
            </a:xfrm>
            <a:prstGeom prst="curvedConnector3">
              <a:avLst>
                <a:gd name="adj1" fmla="val -12500"/>
              </a:avLst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AutoShape 27"/>
            <p:cNvCxnSpPr>
              <a:cxnSpLocks noChangeShapeType="1"/>
              <a:stCxn id="19" idx="4"/>
              <a:endCxn id="5" idx="4"/>
            </p:cNvCxnSpPr>
            <p:nvPr/>
          </p:nvCxnSpPr>
          <p:spPr bwMode="auto">
            <a:xfrm rot="16200000" flipV="1">
              <a:off x="5981700" y="4038600"/>
              <a:ext cx="1905000" cy="152400"/>
            </a:xfrm>
            <a:prstGeom prst="curvedConnector5">
              <a:avLst>
                <a:gd name="adj1" fmla="val -12000"/>
                <a:gd name="adj2" fmla="val 350000"/>
                <a:gd name="adj3" fmla="val 25329"/>
              </a:avLst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AutoShape 28"/>
            <p:cNvCxnSpPr>
              <a:cxnSpLocks noChangeShapeType="1"/>
              <a:stCxn id="14" idx="4"/>
              <a:endCxn id="12" idx="4"/>
            </p:cNvCxnSpPr>
            <p:nvPr/>
          </p:nvCxnSpPr>
          <p:spPr bwMode="auto">
            <a:xfrm rot="16200000" flipV="1">
              <a:off x="7353300" y="4343400"/>
              <a:ext cx="914400" cy="533400"/>
            </a:xfrm>
            <a:prstGeom prst="curvedConnector3">
              <a:avLst>
                <a:gd name="adj1" fmla="val -25000"/>
              </a:avLst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" name="文本框 29"/>
          <p:cNvSpPr txBox="1"/>
          <p:nvPr/>
        </p:nvSpPr>
        <p:spPr>
          <a:xfrm>
            <a:off x="4278634" y="5521775"/>
            <a:ext cx="387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/>
              <a:t>Inorder</a:t>
            </a:r>
            <a:r>
              <a:rPr lang="en-US" altLang="zh-CN" sz="2400" dirty="0" smtClean="0"/>
              <a:t>: 1 3 5 6 7 8 9 11 13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48262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879978" y="928687"/>
            <a:ext cx="5835773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kern="0" dirty="0" smtClean="0"/>
              <a:t>Threaded binary tree with head node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Threaded Binary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251" y="928688"/>
            <a:ext cx="5835773" cy="5572125"/>
          </a:xfrm>
        </p:spPr>
        <p:txBody>
          <a:bodyPr/>
          <a:lstStyle/>
          <a:p>
            <a:r>
              <a:rPr lang="en-US" altLang="zh-CN" dirty="0" smtClean="0"/>
              <a:t>Node definition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ltag</a:t>
            </a:r>
            <a:r>
              <a:rPr lang="en-US" altLang="zh-CN" sz="2000" dirty="0" smtClean="0"/>
              <a:t>=0: </a:t>
            </a:r>
            <a:r>
              <a:rPr lang="en-US" altLang="zh-CN" sz="2000" dirty="0" err="1" smtClean="0"/>
              <a:t>lchild</a:t>
            </a:r>
            <a:r>
              <a:rPr lang="en-US" altLang="zh-CN" sz="2000" dirty="0" smtClean="0"/>
              <a:t> points to left child</a:t>
            </a:r>
          </a:p>
          <a:p>
            <a:pPr marL="0" indent="0"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ltag</a:t>
            </a:r>
            <a:r>
              <a:rPr lang="en-US" altLang="zh-CN" sz="2000" dirty="0" smtClean="0"/>
              <a:t>=1: </a:t>
            </a:r>
            <a:r>
              <a:rPr lang="en-US" altLang="zh-CN" sz="2000" dirty="0" err="1" smtClean="0"/>
              <a:t>lchild</a:t>
            </a:r>
            <a:r>
              <a:rPr lang="en-US" altLang="zh-CN" sz="2000" dirty="0" smtClean="0"/>
              <a:t> points </a:t>
            </a:r>
            <a:r>
              <a:rPr lang="en-US" altLang="zh-CN" sz="2000" dirty="0"/>
              <a:t>to predecessor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rtag</a:t>
            </a:r>
            <a:r>
              <a:rPr lang="en-US" altLang="zh-CN" sz="2000" dirty="0" smtClean="0"/>
              <a:t>=0: </a:t>
            </a:r>
            <a:r>
              <a:rPr lang="en-US" altLang="zh-CN" sz="2000" dirty="0" err="1" smtClean="0"/>
              <a:t>rchild</a:t>
            </a:r>
            <a:r>
              <a:rPr lang="en-US" altLang="zh-CN" sz="2000" dirty="0" smtClean="0"/>
              <a:t> points to right child</a:t>
            </a: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rtag</a:t>
            </a:r>
            <a:r>
              <a:rPr lang="en-US" altLang="zh-CN" sz="2000" dirty="0" smtClean="0"/>
              <a:t>=1: </a:t>
            </a:r>
            <a:r>
              <a:rPr lang="en-US" altLang="zh-CN" sz="2000" dirty="0" err="1" smtClean="0"/>
              <a:t>rchild</a:t>
            </a:r>
            <a:r>
              <a:rPr lang="en-US" altLang="zh-CN" sz="2000" dirty="0" smtClean="0"/>
              <a:t> points to successor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57" y="1568217"/>
            <a:ext cx="5093478" cy="2164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440" y="1700808"/>
            <a:ext cx="4223188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3"/>
          <p:cNvGrpSpPr>
            <a:grpSpLocks/>
          </p:cNvGrpSpPr>
          <p:nvPr/>
        </p:nvGrpSpPr>
        <p:grpSpPr bwMode="auto">
          <a:xfrm>
            <a:off x="555257" y="4293096"/>
            <a:ext cx="4904754" cy="497087"/>
            <a:chOff x="1760" y="1123"/>
            <a:chExt cx="5040" cy="468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1760" y="1123"/>
              <a:ext cx="900" cy="468"/>
            </a:xfrm>
            <a:prstGeom prst="rect">
              <a:avLst/>
            </a:prstGeom>
            <a:solidFill>
              <a:srgbClr val="00FF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>
              <a:flatTx/>
            </a:bodyPr>
            <a:lstStyle/>
            <a:p>
              <a:pPr algn="ctr" eaLnBrk="0" hangingPunct="0"/>
              <a:r>
                <a:rPr lang="en-US" altLang="zh-CN" sz="2400">
                  <a:latin typeface="Times New Roman" pitchFamily="18" charset="0"/>
                </a:rPr>
                <a:t> ltag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660" y="1123"/>
              <a:ext cx="1080" cy="468"/>
            </a:xfrm>
            <a:prstGeom prst="rect">
              <a:avLst/>
            </a:prstGeom>
            <a:solidFill>
              <a:srgbClr val="00FF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>
              <a:flatTx/>
            </a:bodyPr>
            <a:lstStyle/>
            <a:p>
              <a:pPr algn="ctr" eaLnBrk="0" hangingPunct="0"/>
              <a:r>
                <a:rPr lang="en-US" altLang="zh-CN" sz="2400">
                  <a:latin typeface="Times New Roman" pitchFamily="18" charset="0"/>
                </a:rPr>
                <a:t> lchild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3740" y="1123"/>
              <a:ext cx="1080" cy="468"/>
            </a:xfrm>
            <a:prstGeom prst="rect">
              <a:avLst/>
            </a:prstGeom>
            <a:solidFill>
              <a:srgbClr val="00FF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>
              <a:flatTx/>
            </a:bodyPr>
            <a:lstStyle/>
            <a:p>
              <a:pPr algn="ctr" eaLnBrk="0" hangingPunct="0"/>
              <a:r>
                <a:rPr lang="en-US" altLang="zh-CN" sz="2400">
                  <a:latin typeface="Times New Roman" pitchFamily="18" charset="0"/>
                </a:rPr>
                <a:t>  data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4820" y="1123"/>
              <a:ext cx="1080" cy="468"/>
            </a:xfrm>
            <a:prstGeom prst="rect">
              <a:avLst/>
            </a:prstGeom>
            <a:solidFill>
              <a:srgbClr val="00FF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>
              <a:flatTx/>
            </a:bodyPr>
            <a:lstStyle/>
            <a:p>
              <a:pPr algn="ctr" eaLnBrk="0" hangingPunct="0"/>
              <a:r>
                <a:rPr lang="en-US" altLang="zh-CN" sz="2400">
                  <a:latin typeface="Times New Roman" pitchFamily="18" charset="0"/>
                </a:rPr>
                <a:t> rchild</a:t>
              </a: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5900" y="1123"/>
              <a:ext cx="900" cy="468"/>
            </a:xfrm>
            <a:prstGeom prst="rect">
              <a:avLst/>
            </a:prstGeom>
            <a:solidFill>
              <a:srgbClr val="00FF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</p:spPr>
          <p:txBody>
            <a:bodyPr>
              <a:flatTx/>
            </a:bodyPr>
            <a:lstStyle/>
            <a:p>
              <a:pPr algn="ctr" eaLnBrk="0" hangingPunct="0"/>
              <a:r>
                <a:rPr lang="en-US" altLang="zh-CN" sz="2400" dirty="0">
                  <a:latin typeface="Times New Roman" pitchFamily="18" charset="0"/>
                </a:rPr>
                <a:t> rtag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590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Threaded Binary </a:t>
            </a:r>
            <a:r>
              <a:rPr lang="en-US" altLang="zh-CN" dirty="0" smtClean="0"/>
              <a:t>Tree Traversal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251" y="928688"/>
            <a:ext cx="6699869" cy="5572125"/>
          </a:xfrm>
        </p:spPr>
        <p:txBody>
          <a:bodyPr/>
          <a:lstStyle/>
          <a:p>
            <a:r>
              <a:rPr lang="en-US" altLang="zh-CN" dirty="0" err="1" smtClean="0"/>
              <a:t>Inorder</a:t>
            </a:r>
            <a:r>
              <a:rPr lang="en-US" altLang="zh-CN" dirty="0" smtClean="0"/>
              <a:t> traversal</a:t>
            </a:r>
          </a:p>
          <a:p>
            <a:pPr lvl="1"/>
            <a:r>
              <a:rPr lang="en-US" altLang="zh-CN" dirty="0" smtClean="0"/>
              <a:t>We </a:t>
            </a:r>
            <a:r>
              <a:rPr lang="en-US" altLang="zh-CN" dirty="0"/>
              <a:t>start at the leftmost node in the tree, print it, and follow its right </a:t>
            </a:r>
            <a:r>
              <a:rPr lang="en-US" altLang="zh-CN" dirty="0" smtClean="0"/>
              <a:t>thread.</a:t>
            </a:r>
            <a:endParaRPr lang="en-US" altLang="zh-CN" dirty="0"/>
          </a:p>
          <a:p>
            <a:pPr lvl="1"/>
            <a:r>
              <a:rPr lang="en-US" altLang="zh-CN" dirty="0"/>
              <a:t>If we follow a thread to the right, we output the node and continue to its </a:t>
            </a:r>
            <a:r>
              <a:rPr lang="en-US" altLang="zh-CN" dirty="0" smtClean="0"/>
              <a:t>right.</a:t>
            </a:r>
            <a:endParaRPr lang="en-US" altLang="zh-CN" dirty="0"/>
          </a:p>
          <a:p>
            <a:pPr lvl="1"/>
            <a:r>
              <a:rPr lang="en-US" altLang="zh-CN" dirty="0"/>
              <a:t>If we follow a link to the right, we go to the leftmost node, print it, and </a:t>
            </a:r>
            <a:r>
              <a:rPr lang="en-US" altLang="zh-CN" dirty="0" smtClean="0"/>
              <a:t>continue.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2" descr="threadedTravers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6" y="1035179"/>
            <a:ext cx="3120887" cy="544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360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279576" y="3645024"/>
            <a:ext cx="3528392" cy="295232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Different Types of Threaded </a:t>
            </a:r>
            <a:r>
              <a:rPr lang="en-US" altLang="zh-CN" dirty="0"/>
              <a:t>Binary Trees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16" y="1051980"/>
            <a:ext cx="5129658" cy="2686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608" y="3789040"/>
            <a:ext cx="6180835" cy="271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78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/>
              <a:t>Lexicographic Search Trees: </a:t>
            </a:r>
            <a:r>
              <a:rPr lang="en-US" altLang="zh-CN" sz="2800" b="1" dirty="0" smtClean="0"/>
              <a:t>Tries*(</a:t>
            </a:r>
            <a:r>
              <a:rPr lang="zh-CN" altLang="en-US" sz="2800" b="1" dirty="0"/>
              <a:t>字典树</a:t>
            </a:r>
            <a:r>
              <a:rPr lang="en-US" altLang="zh-CN" sz="2800" b="1" dirty="0"/>
              <a:t>)</a:t>
            </a:r>
            <a:endParaRPr lang="zh-CN" alt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7808" y="900925"/>
            <a:ext cx="80867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3552" y="1904293"/>
            <a:ext cx="7215238" cy="4610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5306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C++ </a:t>
            </a:r>
            <a:r>
              <a:rPr lang="en-US" altLang="zh-CN" b="1" dirty="0" err="1" smtClean="0"/>
              <a:t>Trie</a:t>
            </a:r>
            <a:r>
              <a:rPr lang="en-US" altLang="zh-CN" b="1" dirty="0" smtClean="0"/>
              <a:t> Declarations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The term “</a:t>
            </a:r>
            <a:r>
              <a:rPr lang="en-US" altLang="zh-CN" dirty="0" err="1" smtClean="0"/>
              <a:t>trie</a:t>
            </a:r>
            <a:r>
              <a:rPr lang="en-US" altLang="zh-CN" dirty="0" smtClean="0"/>
              <a:t>” originated as letters extracted from the word </a:t>
            </a:r>
            <a:r>
              <a:rPr lang="en-US" altLang="zh-CN" i="1" dirty="0" smtClean="0">
                <a:solidFill>
                  <a:srgbClr val="FF0000"/>
                </a:solidFill>
              </a:rPr>
              <a:t>retrieval</a:t>
            </a:r>
            <a:r>
              <a:rPr lang="en-US" altLang="zh-CN" dirty="0" smtClean="0"/>
              <a:t>, but it is usually pronounced like the word “try”.</a:t>
            </a:r>
          </a:p>
          <a:p>
            <a:r>
              <a:rPr lang="en-US" altLang="zh-CN" dirty="0" smtClean="0"/>
              <a:t>Every Record has a Key that is an alphanumeric string.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8335" y="2496894"/>
            <a:ext cx="5669366" cy="1446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3666" y="4015325"/>
            <a:ext cx="2202672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18335" y="4305760"/>
            <a:ext cx="3057781" cy="1750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标注 6"/>
          <p:cNvSpPr/>
          <p:nvPr/>
        </p:nvSpPr>
        <p:spPr>
          <a:xfrm>
            <a:off x="5375920" y="5301208"/>
            <a:ext cx="3714776" cy="642942"/>
          </a:xfrm>
          <a:prstGeom prst="wedgeRectCallout">
            <a:avLst>
              <a:gd name="adj1" fmla="val -95513"/>
              <a:gd name="adj2" fmla="val 89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The constructor sets all pointer members to NULL!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14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Searching a </a:t>
            </a:r>
            <a:r>
              <a:rPr lang="en-US" altLang="zh-CN" b="1" dirty="0" err="1" smtClean="0"/>
              <a:t>Trie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596" y="928670"/>
            <a:ext cx="6643734" cy="57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标注 4"/>
          <p:cNvSpPr/>
          <p:nvPr/>
        </p:nvSpPr>
        <p:spPr>
          <a:xfrm>
            <a:off x="8024826" y="3571876"/>
            <a:ext cx="2286016" cy="857256"/>
          </a:xfrm>
          <a:prstGeom prst="wedgeRectCallout">
            <a:avLst>
              <a:gd name="adj1" fmla="val -62659"/>
              <a:gd name="adj2" fmla="val -129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Determine which branch to move to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08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Insertion into a </a:t>
            </a:r>
            <a:r>
              <a:rPr lang="en-US" altLang="zh-CN" b="1" dirty="0" err="1" smtClean="0"/>
              <a:t>Trie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596" y="928670"/>
            <a:ext cx="6572296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标注 4"/>
          <p:cNvSpPr/>
          <p:nvPr/>
        </p:nvSpPr>
        <p:spPr>
          <a:xfrm>
            <a:off x="8024826" y="4143380"/>
            <a:ext cx="2286016" cy="857256"/>
          </a:xfrm>
          <a:prstGeom prst="wedgeRectCallout">
            <a:avLst>
              <a:gd name="adj1" fmla="val -88866"/>
              <a:gd name="adj2" fmla="val 54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Note the </a:t>
            </a:r>
            <a:r>
              <a:rPr lang="en-US" altLang="zh-CN" dirty="0" err="1">
                <a:solidFill>
                  <a:schemeClr val="tx1"/>
                </a:solidFill>
              </a:rPr>
              <a:t>Trie_node</a:t>
            </a:r>
            <a:r>
              <a:rPr lang="en-US" altLang="zh-CN" dirty="0">
                <a:solidFill>
                  <a:schemeClr val="tx1"/>
                </a:solidFill>
              </a:rPr>
              <a:t> constructor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86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Trie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A common application of a </a:t>
            </a:r>
            <a:r>
              <a:rPr lang="en-US" altLang="zh-CN" dirty="0" err="1" smtClean="0"/>
              <a:t>trie</a:t>
            </a:r>
            <a:r>
              <a:rPr lang="en-US" altLang="zh-CN" dirty="0" smtClean="0"/>
              <a:t> is storing a </a:t>
            </a:r>
            <a:r>
              <a:rPr lang="en-US" altLang="zh-CN" dirty="0" smtClean="0">
                <a:hlinkClick r:id="rId3" tooltip="Predictive text"/>
              </a:rPr>
              <a:t>predictive text</a:t>
            </a:r>
            <a:r>
              <a:rPr lang="en-US" altLang="zh-CN" dirty="0" smtClean="0"/>
              <a:t> or </a:t>
            </a:r>
            <a:r>
              <a:rPr lang="en-US" altLang="zh-CN" dirty="0" err="1" smtClean="0">
                <a:hlinkClick r:id="rId4" tooltip="Autocomplete"/>
              </a:rPr>
              <a:t>autocomplete</a:t>
            </a:r>
            <a:r>
              <a:rPr lang="en-US" altLang="zh-CN" dirty="0" smtClean="0"/>
              <a:t> dictionary, such as found on a </a:t>
            </a:r>
            <a:r>
              <a:rPr lang="en-US" altLang="zh-CN" dirty="0" smtClean="0">
                <a:hlinkClick r:id="rId5" tooltip="Mobile telephone"/>
              </a:rPr>
              <a:t>mobile telephone</a:t>
            </a:r>
            <a:r>
              <a:rPr lang="en-US" altLang="zh-CN" dirty="0" smtClean="0"/>
              <a:t>. Such applications take advantage of a </a:t>
            </a:r>
            <a:r>
              <a:rPr lang="en-US" altLang="zh-CN" dirty="0" err="1" smtClean="0"/>
              <a:t>trie’s</a:t>
            </a:r>
            <a:r>
              <a:rPr lang="en-US" altLang="zh-CN" dirty="0" smtClean="0"/>
              <a:t> ability to quickly search for, insert, and delete entries</a:t>
            </a:r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95472" y="1214422"/>
            <a:ext cx="8181757" cy="157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2007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Splay </a:t>
            </a:r>
            <a:r>
              <a:rPr lang="en-US" altLang="zh-CN" b="1" dirty="0" smtClean="0"/>
              <a:t>Trees*: </a:t>
            </a:r>
            <a:r>
              <a:rPr lang="en-US" altLang="zh-CN" b="1" dirty="0"/>
              <a:t>A Self-Adjusting Data Structure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some applications, we wish to keep records that are </a:t>
            </a:r>
            <a:r>
              <a:rPr lang="en-US" altLang="zh-CN" dirty="0" smtClean="0">
                <a:solidFill>
                  <a:srgbClr val="FF0000"/>
                </a:solidFill>
              </a:rPr>
              <a:t>newly inserted </a:t>
            </a:r>
            <a:r>
              <a:rPr lang="en-US" altLang="zh-CN" dirty="0"/>
              <a:t>or </a:t>
            </a:r>
            <a:r>
              <a:rPr lang="en-US" altLang="zh-CN" dirty="0">
                <a:solidFill>
                  <a:srgbClr val="FF0000"/>
                </a:solidFill>
              </a:rPr>
              <a:t>frequently accessed </a:t>
            </a:r>
            <a:r>
              <a:rPr lang="en-US" altLang="zh-CN" dirty="0"/>
              <a:t>very </a:t>
            </a:r>
            <a:r>
              <a:rPr lang="en-US" altLang="zh-CN" dirty="0">
                <a:solidFill>
                  <a:srgbClr val="FF0000"/>
                </a:solidFill>
              </a:rPr>
              <a:t>close to</a:t>
            </a:r>
            <a:r>
              <a:rPr lang="en-US" altLang="zh-CN" dirty="0"/>
              <a:t> the root, </a:t>
            </a:r>
            <a:r>
              <a:rPr lang="en-US" altLang="zh-CN" dirty="0" smtClean="0"/>
              <a:t>while records </a:t>
            </a:r>
            <a:r>
              <a:rPr lang="en-US" altLang="zh-CN" dirty="0"/>
              <a:t>that are </a:t>
            </a:r>
            <a:r>
              <a:rPr lang="en-US" altLang="zh-CN" dirty="0">
                <a:solidFill>
                  <a:srgbClr val="FF0000"/>
                </a:solidFill>
              </a:rPr>
              <a:t>inactive</a:t>
            </a:r>
            <a:r>
              <a:rPr lang="en-US" altLang="zh-CN" dirty="0"/>
              <a:t> may be placed </a:t>
            </a:r>
            <a:r>
              <a:rPr lang="en-US" altLang="zh-CN" dirty="0">
                <a:solidFill>
                  <a:srgbClr val="FF0000"/>
                </a:solidFill>
              </a:rPr>
              <a:t>far off</a:t>
            </a:r>
            <a:r>
              <a:rPr lang="en-US" altLang="zh-CN" dirty="0"/>
              <a:t>, near or in </a:t>
            </a:r>
            <a:r>
              <a:rPr lang="en-US" altLang="zh-CN" dirty="0" smtClean="0"/>
              <a:t>the leaves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We make a binary search tree into a </a:t>
            </a:r>
            <a:r>
              <a:rPr lang="en-US" altLang="zh-CN" i="1" dirty="0">
                <a:solidFill>
                  <a:srgbClr val="FF0000"/>
                </a:solidFill>
              </a:rPr>
              <a:t>self-adjusting</a:t>
            </a:r>
            <a:r>
              <a:rPr lang="en-US" altLang="zh-CN" i="1" dirty="0"/>
              <a:t> </a:t>
            </a:r>
            <a:r>
              <a:rPr lang="en-US" altLang="zh-CN" dirty="0" smtClean="0"/>
              <a:t>data structure </a:t>
            </a:r>
            <a:r>
              <a:rPr lang="en-US" altLang="zh-CN" dirty="0"/>
              <a:t>that </a:t>
            </a:r>
            <a:r>
              <a:rPr lang="en-US" altLang="zh-CN" i="1" dirty="0"/>
              <a:t>automatically </a:t>
            </a:r>
            <a:r>
              <a:rPr lang="en-US" altLang="zh-CN" dirty="0"/>
              <a:t>changes its shape to bring </a:t>
            </a:r>
            <a:r>
              <a:rPr lang="en-US" altLang="zh-CN" dirty="0" smtClean="0"/>
              <a:t>records closer </a:t>
            </a:r>
            <a:r>
              <a:rPr lang="en-US" altLang="zh-CN" dirty="0"/>
              <a:t>to the root as they are more frequently </a:t>
            </a:r>
            <a:r>
              <a:rPr lang="en-US" altLang="zh-CN" dirty="0" smtClean="0"/>
              <a:t>accessed, allowing </a:t>
            </a:r>
            <a:r>
              <a:rPr lang="en-US" altLang="zh-CN" dirty="0"/>
              <a:t>inactive records to drift slowly out toward the leaves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In a </a:t>
            </a:r>
            <a:r>
              <a:rPr lang="en-US" altLang="zh-CN" b="1" i="1" dirty="0"/>
              <a:t>splay</a:t>
            </a:r>
            <a:r>
              <a:rPr lang="en-US" altLang="zh-CN" i="1" dirty="0"/>
              <a:t> tree</a:t>
            </a:r>
            <a:r>
              <a:rPr lang="en-US" altLang="zh-CN" dirty="0"/>
              <a:t>, every time we access a node, whether </a:t>
            </a:r>
            <a:r>
              <a:rPr lang="en-US" altLang="zh-CN" dirty="0" smtClean="0"/>
              <a:t>for insertion </a:t>
            </a:r>
            <a:r>
              <a:rPr lang="en-US" altLang="zh-CN" dirty="0"/>
              <a:t>or retrieval, we </a:t>
            </a:r>
            <a:r>
              <a:rPr lang="en-US" altLang="zh-CN" dirty="0">
                <a:solidFill>
                  <a:srgbClr val="FF0000"/>
                </a:solidFill>
              </a:rPr>
              <a:t>lift</a:t>
            </a:r>
            <a:r>
              <a:rPr lang="en-US" altLang="zh-CN" dirty="0"/>
              <a:t> the newly-accessed node all </a:t>
            </a:r>
            <a:r>
              <a:rPr lang="en-US" altLang="zh-CN" dirty="0" smtClean="0"/>
              <a:t>the way </a:t>
            </a:r>
            <a:r>
              <a:rPr lang="en-US" altLang="zh-CN" dirty="0"/>
              <a:t>up to become the </a:t>
            </a:r>
            <a:r>
              <a:rPr lang="en-US" altLang="zh-CN" dirty="0">
                <a:solidFill>
                  <a:srgbClr val="FF0000"/>
                </a:solidFill>
              </a:rPr>
              <a:t>root</a:t>
            </a:r>
            <a:r>
              <a:rPr lang="en-US" altLang="zh-CN" dirty="0"/>
              <a:t> of the </a:t>
            </a:r>
            <a:r>
              <a:rPr lang="en-US" altLang="zh-CN" dirty="0" smtClean="0"/>
              <a:t>modified </a:t>
            </a:r>
            <a:r>
              <a:rPr lang="en-US" altLang="zh-CN" dirty="0"/>
              <a:t>tree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We use rotations like those of AVL trees, but now with </a:t>
            </a:r>
            <a:r>
              <a:rPr lang="en-US" altLang="zh-CN" i="1" dirty="0" smtClean="0">
                <a:solidFill>
                  <a:srgbClr val="FF0000"/>
                </a:solidFill>
              </a:rPr>
              <a:t>many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rotations </a:t>
            </a:r>
            <a:r>
              <a:rPr lang="en-US" altLang="zh-CN" dirty="0"/>
              <a:t>done for </a:t>
            </a:r>
            <a:r>
              <a:rPr lang="en-US" altLang="zh-CN" i="1" dirty="0">
                <a:solidFill>
                  <a:srgbClr val="FF0000"/>
                </a:solidFill>
              </a:rPr>
              <a:t>every</a:t>
            </a:r>
            <a:r>
              <a:rPr lang="en-US" altLang="zh-CN" i="1" dirty="0"/>
              <a:t> </a:t>
            </a:r>
            <a:r>
              <a:rPr lang="en-US" altLang="zh-CN" dirty="0"/>
              <a:t>insertion or retrieval in the tree.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0375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Splay </a:t>
            </a:r>
            <a:r>
              <a:rPr lang="en-US" altLang="zh-CN" b="1" dirty="0" smtClean="0"/>
              <a:t>Rotations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move the target node </a:t>
            </a:r>
            <a:r>
              <a:rPr lang="en-US" altLang="zh-CN" dirty="0">
                <a:solidFill>
                  <a:srgbClr val="FF0000"/>
                </a:solidFill>
              </a:rPr>
              <a:t>two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levels up </a:t>
            </a:r>
            <a:r>
              <a:rPr lang="en-US" altLang="zh-CN" dirty="0"/>
              <a:t>the tree at each </a:t>
            </a:r>
            <a:r>
              <a:rPr lang="en-US" altLang="zh-CN" dirty="0" smtClean="0"/>
              <a:t>step.</a:t>
            </a:r>
          </a:p>
          <a:p>
            <a:r>
              <a:rPr lang="en-US" altLang="zh-CN" dirty="0" smtClean="0"/>
              <a:t>Consider </a:t>
            </a:r>
            <a:r>
              <a:rPr lang="en-US" altLang="zh-CN" dirty="0"/>
              <a:t>the path going from the root </a:t>
            </a:r>
            <a:r>
              <a:rPr lang="en-US" altLang="zh-CN" i="1" dirty="0"/>
              <a:t>down </a:t>
            </a:r>
            <a:r>
              <a:rPr lang="en-US" altLang="zh-CN" dirty="0"/>
              <a:t>to the </a:t>
            </a:r>
            <a:r>
              <a:rPr lang="en-US" altLang="zh-CN" dirty="0" smtClean="0"/>
              <a:t>accessed node.</a:t>
            </a:r>
          </a:p>
          <a:p>
            <a:pPr lvl="1"/>
            <a:r>
              <a:rPr lang="en-US" altLang="zh-CN" dirty="0" smtClean="0"/>
              <a:t>If </a:t>
            </a:r>
            <a:r>
              <a:rPr lang="en-US" altLang="zh-CN" dirty="0"/>
              <a:t>we move left, we say that we </a:t>
            </a:r>
            <a:r>
              <a:rPr lang="en-US" altLang="zh-CN" i="1" dirty="0" smtClean="0">
                <a:solidFill>
                  <a:srgbClr val="FF0000"/>
                </a:solidFill>
              </a:rPr>
              <a:t>zig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 smtClean="0"/>
              <a:t>If </a:t>
            </a:r>
            <a:r>
              <a:rPr lang="en-US" altLang="zh-CN" dirty="0"/>
              <a:t>we move </a:t>
            </a:r>
            <a:r>
              <a:rPr lang="en-US" altLang="zh-CN" dirty="0" smtClean="0"/>
              <a:t>right we </a:t>
            </a:r>
            <a:r>
              <a:rPr lang="en-US" altLang="zh-CN" dirty="0"/>
              <a:t>say that we </a:t>
            </a:r>
            <a:r>
              <a:rPr lang="en-US" altLang="zh-CN" i="1" dirty="0" smtClean="0">
                <a:solidFill>
                  <a:srgbClr val="FF0000"/>
                </a:solidFill>
              </a:rPr>
              <a:t>zag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 smtClean="0"/>
              <a:t>A </a:t>
            </a:r>
            <a:r>
              <a:rPr lang="en-US" altLang="zh-CN" dirty="0"/>
              <a:t>move of two steps left (going down) </a:t>
            </a:r>
            <a:r>
              <a:rPr lang="en-US" altLang="zh-CN" dirty="0" smtClean="0"/>
              <a:t>is called </a:t>
            </a:r>
            <a:r>
              <a:rPr lang="en-US" altLang="zh-CN" i="1" dirty="0" smtClean="0">
                <a:solidFill>
                  <a:srgbClr val="FF0000"/>
                </a:solidFill>
              </a:rPr>
              <a:t>zig-zig</a:t>
            </a:r>
            <a:r>
              <a:rPr lang="en-US" altLang="zh-CN" i="1" dirty="0" smtClean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A move of two steps </a:t>
            </a:r>
            <a:r>
              <a:rPr lang="en-US" altLang="zh-CN" dirty="0" smtClean="0"/>
              <a:t>right is called </a:t>
            </a:r>
            <a:r>
              <a:rPr lang="en-US" altLang="zh-CN" i="1" dirty="0" smtClean="0">
                <a:solidFill>
                  <a:srgbClr val="FF0000"/>
                </a:solidFill>
              </a:rPr>
              <a:t>zag-zag</a:t>
            </a:r>
            <a:r>
              <a:rPr lang="en-US" altLang="zh-CN" i="1" dirty="0" smtClean="0"/>
              <a:t>.</a:t>
            </a:r>
            <a:endParaRPr lang="en-US" altLang="zh-CN" dirty="0"/>
          </a:p>
          <a:p>
            <a:pPr lvl="1"/>
            <a:r>
              <a:rPr lang="en-US" altLang="zh-CN" dirty="0" smtClean="0"/>
              <a:t>Left </a:t>
            </a:r>
            <a:r>
              <a:rPr lang="en-US" altLang="zh-CN" dirty="0"/>
              <a:t>then </a:t>
            </a:r>
            <a:r>
              <a:rPr lang="en-US" altLang="zh-CN" dirty="0" smtClean="0"/>
              <a:t>right: </a:t>
            </a:r>
            <a:r>
              <a:rPr lang="en-US" altLang="zh-CN" i="1" dirty="0" smtClean="0">
                <a:solidFill>
                  <a:srgbClr val="FF0000"/>
                </a:solidFill>
              </a:rPr>
              <a:t>zig-zag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 smtClean="0"/>
              <a:t>Right </a:t>
            </a:r>
            <a:r>
              <a:rPr lang="en-US" altLang="zh-CN" dirty="0"/>
              <a:t>then </a:t>
            </a:r>
            <a:r>
              <a:rPr lang="en-US" altLang="zh-CN" dirty="0" smtClean="0"/>
              <a:t>left: </a:t>
            </a:r>
            <a:r>
              <a:rPr lang="en-US" altLang="zh-CN" i="1" dirty="0" smtClean="0">
                <a:solidFill>
                  <a:srgbClr val="FF0000"/>
                </a:solidFill>
              </a:rPr>
              <a:t>zag-zig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If </a:t>
            </a:r>
            <a:r>
              <a:rPr lang="en-US" altLang="zh-CN" dirty="0"/>
              <a:t>the length of the </a:t>
            </a:r>
            <a:r>
              <a:rPr lang="en-US" altLang="zh-CN" dirty="0" smtClean="0"/>
              <a:t>path is </a:t>
            </a:r>
            <a:r>
              <a:rPr lang="en-US" altLang="zh-CN" dirty="0"/>
              <a:t>odd, either a single </a:t>
            </a:r>
            <a:r>
              <a:rPr lang="en-US" altLang="zh-CN" i="1" dirty="0">
                <a:solidFill>
                  <a:srgbClr val="FF0000"/>
                </a:solidFill>
              </a:rPr>
              <a:t>zig</a:t>
            </a:r>
            <a:r>
              <a:rPr lang="en-US" altLang="zh-CN" i="1" dirty="0"/>
              <a:t> </a:t>
            </a:r>
            <a:r>
              <a:rPr lang="en-US" altLang="zh-CN" dirty="0"/>
              <a:t>move or a </a:t>
            </a:r>
            <a:r>
              <a:rPr lang="en-US" altLang="zh-CN" i="1" dirty="0">
                <a:solidFill>
                  <a:srgbClr val="FF0000"/>
                </a:solidFill>
              </a:rPr>
              <a:t>zag</a:t>
            </a:r>
            <a:r>
              <a:rPr lang="en-US" altLang="zh-CN" i="1" dirty="0"/>
              <a:t> </a:t>
            </a:r>
            <a:r>
              <a:rPr lang="en-US" altLang="zh-CN" dirty="0"/>
              <a:t>move occurs at </a:t>
            </a:r>
            <a:r>
              <a:rPr lang="en-US" altLang="zh-CN" dirty="0" smtClean="0"/>
              <a:t>the end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2377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Splay Rotations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251" y="928688"/>
            <a:ext cx="6843885" cy="5572125"/>
          </a:xfrm>
        </p:spPr>
        <p:txBody>
          <a:bodyPr/>
          <a:lstStyle/>
          <a:p>
            <a:r>
              <a:rPr lang="en-US" altLang="zh-CN" sz="2200" dirty="0"/>
              <a:t>The zig-zag case is identical to that of an AVL </a:t>
            </a:r>
            <a:r>
              <a:rPr lang="en-US" altLang="zh-CN" sz="2200" dirty="0">
                <a:solidFill>
                  <a:srgbClr val="FF0000"/>
                </a:solidFill>
              </a:rPr>
              <a:t>double </a:t>
            </a:r>
            <a:r>
              <a:rPr lang="en-US" altLang="zh-CN" sz="2200" dirty="0" smtClean="0">
                <a:solidFill>
                  <a:srgbClr val="FF0000"/>
                </a:solidFill>
              </a:rPr>
              <a:t>rotation</a:t>
            </a:r>
            <a:r>
              <a:rPr lang="en-US" altLang="zh-CN" sz="2200" dirty="0" smtClean="0"/>
              <a:t>.</a:t>
            </a:r>
            <a:endParaRPr lang="en-US" altLang="zh-CN" sz="2200" dirty="0"/>
          </a:p>
          <a:p>
            <a:r>
              <a:rPr lang="en-US" altLang="zh-CN" sz="2200" dirty="0" smtClean="0"/>
              <a:t>The </a:t>
            </a:r>
            <a:r>
              <a:rPr lang="en-US" altLang="zh-CN" sz="2200" dirty="0"/>
              <a:t>zig case is identical to a </a:t>
            </a:r>
            <a:r>
              <a:rPr lang="en-US" altLang="zh-CN" sz="2200" dirty="0">
                <a:solidFill>
                  <a:srgbClr val="FF0000"/>
                </a:solidFill>
              </a:rPr>
              <a:t>single rotation</a:t>
            </a:r>
            <a:r>
              <a:rPr lang="en-US" altLang="zh-CN" sz="2200" dirty="0"/>
              <a:t>.</a:t>
            </a:r>
          </a:p>
          <a:p>
            <a:r>
              <a:rPr lang="en-US" altLang="zh-CN" sz="2200" dirty="0"/>
              <a:t>The zig-zig case is </a:t>
            </a:r>
            <a:r>
              <a:rPr lang="en-US" altLang="zh-CN" sz="2200" i="1" dirty="0">
                <a:solidFill>
                  <a:srgbClr val="FF0000"/>
                </a:solidFill>
              </a:rPr>
              <a:t>not </a:t>
            </a:r>
            <a:r>
              <a:rPr lang="en-US" altLang="zh-CN" sz="2200" dirty="0">
                <a:solidFill>
                  <a:srgbClr val="FF0000"/>
                </a:solidFill>
              </a:rPr>
              <a:t>the same </a:t>
            </a:r>
            <a:r>
              <a:rPr lang="en-US" altLang="zh-CN" sz="2200" dirty="0"/>
              <a:t>as would be obtained by </a:t>
            </a:r>
            <a:r>
              <a:rPr lang="en-US" altLang="zh-CN" sz="2200" dirty="0" smtClean="0"/>
              <a:t>lifting the </a:t>
            </a:r>
            <a:r>
              <a:rPr lang="en-US" altLang="zh-CN" sz="2200" i="1" dirty="0"/>
              <a:t>target</a:t>
            </a:r>
            <a:r>
              <a:rPr lang="en-US" altLang="zh-CN" sz="2200" dirty="0"/>
              <a:t> node twice with single </a:t>
            </a:r>
            <a:r>
              <a:rPr lang="en-US" altLang="zh-CN" sz="2200" dirty="0" smtClean="0"/>
              <a:t>rotations (see bottom example).</a:t>
            </a:r>
          </a:p>
          <a:p>
            <a:pPr lvl="1"/>
            <a:r>
              <a:rPr lang="en-US" altLang="zh-CN" dirty="0" smtClean="0"/>
              <a:t>It should be lifting the </a:t>
            </a:r>
            <a:r>
              <a:rPr lang="en-US" altLang="zh-CN" i="1" dirty="0" smtClean="0"/>
              <a:t>middle</a:t>
            </a:r>
            <a:r>
              <a:rPr lang="en-US" altLang="zh-CN" dirty="0" smtClean="0"/>
              <a:t> node first, then the </a:t>
            </a:r>
            <a:r>
              <a:rPr lang="en-US" altLang="zh-CN" i="1" dirty="0" smtClean="0"/>
              <a:t>small</a:t>
            </a:r>
            <a:r>
              <a:rPr lang="en-US" altLang="zh-CN" dirty="0" smtClean="0"/>
              <a:t> (target) node next</a:t>
            </a:r>
          </a:p>
          <a:p>
            <a:r>
              <a:rPr lang="en-US" altLang="zh-CN" sz="2200" dirty="0"/>
              <a:t>Always think of </a:t>
            </a:r>
            <a:r>
              <a:rPr lang="en-US" altLang="zh-CN" sz="2200" dirty="0">
                <a:solidFill>
                  <a:srgbClr val="FF0000"/>
                </a:solidFill>
              </a:rPr>
              <a:t>lifting</a:t>
            </a:r>
            <a:r>
              <a:rPr lang="en-US" altLang="zh-CN" sz="2200" dirty="0"/>
              <a:t> the target </a:t>
            </a:r>
            <a:r>
              <a:rPr lang="en-US" altLang="zh-CN" sz="2200" i="1" dirty="0"/>
              <a:t>two </a:t>
            </a:r>
            <a:r>
              <a:rPr lang="en-US" altLang="zh-CN" sz="2200" dirty="0"/>
              <a:t>levels at a time (</a:t>
            </a:r>
            <a:r>
              <a:rPr lang="en-US" altLang="zh-CN" sz="2200" dirty="0" smtClean="0"/>
              <a:t>except for </a:t>
            </a:r>
            <a:r>
              <a:rPr lang="en-US" altLang="zh-CN" sz="2200" dirty="0"/>
              <a:t>a single </a:t>
            </a:r>
            <a:r>
              <a:rPr lang="en-US" altLang="zh-CN" sz="2200" i="1" dirty="0"/>
              <a:t>zig</a:t>
            </a:r>
            <a:r>
              <a:rPr lang="en-US" altLang="zh-CN" sz="2200" dirty="0"/>
              <a:t> or </a:t>
            </a:r>
            <a:r>
              <a:rPr lang="en-US" altLang="zh-CN" sz="2200" i="1" dirty="0"/>
              <a:t>zag</a:t>
            </a:r>
            <a:r>
              <a:rPr lang="en-US" altLang="zh-CN" sz="2200" dirty="0"/>
              <a:t> step at the end</a:t>
            </a:r>
            <a:r>
              <a:rPr lang="en-US" altLang="zh-CN" sz="2200" dirty="0" smtClean="0"/>
              <a:t>).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126" y="2924944"/>
            <a:ext cx="4606251" cy="18949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205" y="952305"/>
            <a:ext cx="4535546" cy="204464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8" y="4973782"/>
            <a:ext cx="3969169" cy="1492472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911421" y="4765452"/>
            <a:ext cx="6336705" cy="1700802"/>
            <a:chOff x="623392" y="4567059"/>
            <a:chExt cx="6336705" cy="170080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392" y="4581128"/>
              <a:ext cx="3302514" cy="168673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08995" y="4567059"/>
              <a:ext cx="2951102" cy="1700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3160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92" y="1124744"/>
            <a:ext cx="6768752" cy="523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01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Top-Down and Bottom-Up Splaying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By hand, we perform </a:t>
            </a:r>
            <a:r>
              <a:rPr lang="en-US" altLang="zh-CN" i="1" dirty="0">
                <a:solidFill>
                  <a:srgbClr val="FF0000"/>
                </a:solidFill>
              </a:rPr>
              <a:t>bottom-up</a:t>
            </a:r>
            <a:r>
              <a:rPr lang="en-US" altLang="zh-CN" i="1" dirty="0"/>
              <a:t> </a:t>
            </a:r>
            <a:r>
              <a:rPr lang="en-US" altLang="zh-CN" dirty="0"/>
              <a:t>splaying, beginning at </a:t>
            </a:r>
            <a:r>
              <a:rPr lang="en-US" altLang="zh-CN" dirty="0" smtClean="0"/>
              <a:t>the target </a:t>
            </a:r>
            <a:r>
              <a:rPr lang="en-US" altLang="zh-CN" dirty="0"/>
              <a:t>node and </a:t>
            </a:r>
            <a:r>
              <a:rPr lang="en-US" altLang="zh-CN" dirty="0">
                <a:solidFill>
                  <a:srgbClr val="FF0000"/>
                </a:solidFill>
              </a:rPr>
              <a:t>moving up </a:t>
            </a:r>
            <a:r>
              <a:rPr lang="en-US" altLang="zh-CN" dirty="0"/>
              <a:t>the path to the root two steps </a:t>
            </a:r>
            <a:r>
              <a:rPr lang="en-US" altLang="zh-CN" dirty="0" smtClean="0"/>
              <a:t>at a </a:t>
            </a:r>
            <a:r>
              <a:rPr lang="en-US" altLang="zh-CN" dirty="0"/>
              <a:t>time. A </a:t>
            </a:r>
            <a:r>
              <a:rPr lang="en-US" altLang="zh-CN" dirty="0">
                <a:solidFill>
                  <a:srgbClr val="FF0000"/>
                </a:solidFill>
              </a:rPr>
              <a:t>single</a:t>
            </a:r>
            <a:r>
              <a:rPr lang="en-US" altLang="zh-CN" dirty="0"/>
              <a:t> zig or zag move may occur </a:t>
            </a:r>
            <a:r>
              <a:rPr lang="en-US" altLang="zh-CN" dirty="0">
                <a:solidFill>
                  <a:srgbClr val="FF0000"/>
                </a:solidFill>
              </a:rPr>
              <a:t>at the top</a:t>
            </a:r>
            <a:r>
              <a:rPr lang="en-US" altLang="zh-CN" dirty="0"/>
              <a:t> of </a:t>
            </a:r>
            <a:r>
              <a:rPr lang="en-US" altLang="zh-CN" dirty="0" smtClean="0"/>
              <a:t>the tree.</a:t>
            </a:r>
          </a:p>
          <a:p>
            <a:r>
              <a:rPr lang="en-US" altLang="zh-CN" dirty="0" smtClean="0"/>
              <a:t>Bottom-up </a:t>
            </a:r>
            <a:r>
              <a:rPr lang="en-US" altLang="zh-CN" dirty="0"/>
              <a:t>splaying is essentially a </a:t>
            </a:r>
            <a:r>
              <a:rPr lang="en-US" altLang="zh-CN" dirty="0">
                <a:solidFill>
                  <a:srgbClr val="FF0000"/>
                </a:solidFill>
              </a:rPr>
              <a:t>two-pass </a:t>
            </a:r>
            <a:r>
              <a:rPr lang="en-US" altLang="zh-CN" dirty="0" smtClean="0">
                <a:solidFill>
                  <a:srgbClr val="FF0000"/>
                </a:solidFill>
              </a:rPr>
              <a:t>method</a:t>
            </a:r>
            <a:r>
              <a:rPr lang="en-US" altLang="zh-CN" dirty="0" smtClean="0"/>
              <a:t>, first </a:t>
            </a:r>
            <a:r>
              <a:rPr lang="en-US" altLang="zh-CN" dirty="0">
                <a:solidFill>
                  <a:srgbClr val="FF0000"/>
                </a:solidFill>
              </a:rPr>
              <a:t>searching down </a:t>
            </a:r>
            <a:r>
              <a:rPr lang="en-US" altLang="zh-CN" dirty="0"/>
              <a:t>the tree and then </a:t>
            </a:r>
            <a:r>
              <a:rPr lang="en-US" altLang="zh-CN" dirty="0">
                <a:solidFill>
                  <a:srgbClr val="FF0000"/>
                </a:solidFill>
              </a:rPr>
              <a:t>splaying</a:t>
            </a:r>
            <a:r>
              <a:rPr lang="en-US" altLang="zh-CN" dirty="0"/>
              <a:t> the target </a:t>
            </a:r>
            <a:r>
              <a:rPr lang="en-US" altLang="zh-CN" dirty="0" smtClean="0">
                <a:solidFill>
                  <a:srgbClr val="FF0000"/>
                </a:solidFill>
              </a:rPr>
              <a:t>up</a:t>
            </a:r>
            <a:r>
              <a:rPr lang="en-US" altLang="zh-CN" dirty="0" smtClean="0"/>
              <a:t> to </a:t>
            </a:r>
            <a:r>
              <a:rPr lang="en-US" altLang="zh-CN" dirty="0"/>
              <a:t>the root.</a:t>
            </a:r>
          </a:p>
          <a:p>
            <a:r>
              <a:rPr lang="en-US" altLang="zh-CN" dirty="0"/>
              <a:t>In a computer algorithm, we splay from the </a:t>
            </a:r>
            <a:r>
              <a:rPr lang="en-US" altLang="zh-CN" dirty="0" smtClean="0">
                <a:solidFill>
                  <a:srgbClr val="FF0000"/>
                </a:solidFill>
              </a:rPr>
              <a:t>top-down </a:t>
            </a:r>
            <a:r>
              <a:rPr lang="en-US" altLang="zh-CN" dirty="0"/>
              <a:t>while</a:t>
            </a:r>
            <a:r>
              <a:rPr lang="en-US" altLang="zh-CN" i="1" dirty="0"/>
              <a:t> </a:t>
            </a:r>
            <a:r>
              <a:rPr lang="en-US" altLang="zh-CN" dirty="0" smtClean="0"/>
              <a:t>we are </a:t>
            </a:r>
            <a:r>
              <a:rPr lang="en-US" altLang="zh-CN" dirty="0"/>
              <a:t>searching for the target node. When we </a:t>
            </a:r>
            <a:r>
              <a:rPr lang="en-US" altLang="zh-CN" dirty="0" smtClean="0"/>
              <a:t>find </a:t>
            </a:r>
            <a:r>
              <a:rPr lang="en-US" altLang="zh-CN" dirty="0"/>
              <a:t>the target, </a:t>
            </a:r>
            <a:r>
              <a:rPr lang="en-US" altLang="zh-CN" dirty="0" smtClean="0"/>
              <a:t>it is </a:t>
            </a:r>
            <a:r>
              <a:rPr lang="en-US" altLang="zh-CN" dirty="0"/>
              <a:t>immediately moved to the root of the tree, or, if the </a:t>
            </a:r>
            <a:r>
              <a:rPr lang="en-US" altLang="zh-CN" dirty="0" smtClean="0"/>
              <a:t>search is </a:t>
            </a:r>
            <a:r>
              <a:rPr lang="en-US" altLang="zh-CN" dirty="0"/>
              <a:t>unsuccessful, </a:t>
            </a:r>
            <a:r>
              <a:rPr lang="en-US" altLang="zh-CN" dirty="0">
                <a:solidFill>
                  <a:srgbClr val="FF0000"/>
                </a:solidFill>
              </a:rPr>
              <a:t>a new root</a:t>
            </a:r>
            <a:r>
              <a:rPr lang="en-US" altLang="zh-CN" dirty="0"/>
              <a:t> is created that holds the </a:t>
            </a:r>
            <a:r>
              <a:rPr lang="en-US" altLang="zh-CN" dirty="0" smtClean="0"/>
              <a:t>target. In </a:t>
            </a:r>
            <a:r>
              <a:rPr lang="en-US" altLang="zh-CN" dirty="0"/>
              <a:t>top-down splaying, a single zig or zag move occurs </a:t>
            </a:r>
            <a:r>
              <a:rPr lang="en-US" altLang="zh-CN" dirty="0">
                <a:solidFill>
                  <a:srgbClr val="FF0000"/>
                </a:solidFill>
              </a:rPr>
              <a:t>at </a:t>
            </a:r>
            <a:r>
              <a:rPr lang="en-US" altLang="zh-CN" dirty="0" smtClean="0">
                <a:solidFill>
                  <a:srgbClr val="FF0000"/>
                </a:solidFill>
              </a:rPr>
              <a:t>the bottom </a:t>
            </a:r>
            <a:r>
              <a:rPr lang="en-US" altLang="zh-CN" dirty="0"/>
              <a:t>of the splaying process.</a:t>
            </a:r>
          </a:p>
          <a:p>
            <a:r>
              <a:rPr lang="en-US" altLang="zh-CN" dirty="0"/>
              <a:t>If you run the splaying function we develop on the </a:t>
            </a:r>
            <a:r>
              <a:rPr lang="en-US" altLang="zh-CN" dirty="0" smtClean="0"/>
              <a:t>example trees</a:t>
            </a:r>
            <a:r>
              <a:rPr lang="en-US" altLang="zh-CN" dirty="0"/>
              <a:t>, you will obtain the </a:t>
            </a:r>
            <a:r>
              <a:rPr lang="en-US" altLang="zh-CN" dirty="0">
                <a:solidFill>
                  <a:srgbClr val="FF0000"/>
                </a:solidFill>
              </a:rPr>
              <a:t>same </a:t>
            </a:r>
            <a:r>
              <a:rPr lang="en-US" altLang="zh-CN" dirty="0"/>
              <a:t>results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as doing </a:t>
            </a:r>
            <a:r>
              <a:rPr lang="en-US" altLang="zh-CN" dirty="0" smtClean="0"/>
              <a:t>bottom-up splaying </a:t>
            </a:r>
            <a:r>
              <a:rPr lang="en-US" altLang="zh-CN" dirty="0"/>
              <a:t>by hand when the target is moved an </a:t>
            </a:r>
            <a:r>
              <a:rPr lang="en-US" altLang="zh-CN" dirty="0">
                <a:solidFill>
                  <a:srgbClr val="FF0000"/>
                </a:solidFill>
              </a:rPr>
              <a:t>even</a:t>
            </a:r>
            <a:r>
              <a:rPr lang="en-US" altLang="zh-CN" dirty="0"/>
              <a:t> </a:t>
            </a:r>
            <a:r>
              <a:rPr lang="en-US" altLang="zh-CN" dirty="0" smtClean="0"/>
              <a:t>number of </a:t>
            </a:r>
            <a:r>
              <a:rPr lang="en-US" altLang="zh-CN" dirty="0"/>
              <a:t>levels, but the results will be </a:t>
            </a:r>
            <a:r>
              <a:rPr lang="en-US" altLang="zh-CN" dirty="0">
                <a:solidFill>
                  <a:srgbClr val="FF0000"/>
                </a:solidFill>
              </a:rPr>
              <a:t>different</a:t>
            </a:r>
            <a:r>
              <a:rPr lang="en-US" altLang="zh-CN" dirty="0"/>
              <a:t> when it moves </a:t>
            </a:r>
            <a:r>
              <a:rPr lang="en-US" altLang="zh-CN" dirty="0" smtClean="0"/>
              <a:t>an </a:t>
            </a:r>
            <a:r>
              <a:rPr lang="en-US" altLang="zh-CN" dirty="0" smtClean="0">
                <a:solidFill>
                  <a:srgbClr val="FF0000"/>
                </a:solidFill>
              </a:rPr>
              <a:t>odd</a:t>
            </a:r>
            <a:r>
              <a:rPr lang="en-US" altLang="zh-CN" dirty="0" smtClean="0"/>
              <a:t> </a:t>
            </a:r>
            <a:r>
              <a:rPr lang="en-US" altLang="zh-CN" dirty="0"/>
              <a:t>number of levels.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793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Complexity of Splaying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The </a:t>
            </a:r>
            <a:r>
              <a:rPr lang="en-US" altLang="zh-CN" dirty="0"/>
              <a:t>fact that insertions and retrievals in a splay tree, over </a:t>
            </a:r>
            <a:r>
              <a:rPr lang="en-US" altLang="zh-CN" dirty="0" smtClean="0"/>
              <a:t>a long </a:t>
            </a:r>
            <a:r>
              <a:rPr lang="en-US" altLang="zh-CN" dirty="0"/>
              <a:t>sequence, are </a:t>
            </a:r>
            <a:r>
              <a:rPr lang="en-US" altLang="zh-CN" i="1" dirty="0">
                <a:solidFill>
                  <a:srgbClr val="FF0000"/>
                </a:solidFill>
              </a:rPr>
              <a:t>guaranteed</a:t>
            </a:r>
            <a:r>
              <a:rPr lang="en-US" altLang="zh-CN" i="1" dirty="0"/>
              <a:t> </a:t>
            </a:r>
            <a:r>
              <a:rPr lang="en-US" altLang="zh-CN" dirty="0"/>
              <a:t>to take only </a:t>
            </a:r>
            <a:r>
              <a:rPr lang="en-US" altLang="zh-CN" i="1" dirty="0" smtClean="0"/>
              <a:t>O(</a:t>
            </a:r>
            <a:r>
              <a:rPr lang="en-US" altLang="zh-CN" dirty="0" smtClean="0"/>
              <a:t>log </a:t>
            </a:r>
            <a:r>
              <a:rPr lang="en-US" altLang="zh-CN" i="1" dirty="0" smtClean="0"/>
              <a:t>n) </a:t>
            </a:r>
            <a:r>
              <a:rPr lang="en-US" altLang="zh-CN" dirty="0" smtClean="0"/>
              <a:t>time.</a:t>
            </a:r>
          </a:p>
          <a:p>
            <a:r>
              <a:rPr lang="en-US" altLang="zh-CN" dirty="0" smtClean="0"/>
              <a:t>At </a:t>
            </a:r>
            <a:r>
              <a:rPr lang="en-US" altLang="zh-CN" dirty="0"/>
              <a:t>any time, it is quite </a:t>
            </a:r>
            <a:r>
              <a:rPr lang="en-US" altLang="zh-CN" dirty="0" smtClean="0">
                <a:solidFill>
                  <a:srgbClr val="FF0000"/>
                </a:solidFill>
              </a:rPr>
              <a:t>possible</a:t>
            </a:r>
            <a:r>
              <a:rPr lang="en-US" altLang="zh-CN" dirty="0" smtClean="0"/>
              <a:t> for </a:t>
            </a:r>
            <a:r>
              <a:rPr lang="en-US" altLang="zh-CN" dirty="0"/>
              <a:t>a splay tree to </a:t>
            </a:r>
            <a:r>
              <a:rPr lang="en-US" altLang="zh-CN" dirty="0">
                <a:solidFill>
                  <a:srgbClr val="FF0000"/>
                </a:solidFill>
              </a:rPr>
              <a:t>degenerate</a:t>
            </a:r>
            <a:r>
              <a:rPr lang="en-US" altLang="zh-CN" dirty="0"/>
              <a:t> into a highly unbalanced shape.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038" y="1052736"/>
            <a:ext cx="7135926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45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Splay 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</a:t>
            </a:r>
            <a:r>
              <a:rPr lang="en-US" altLang="zh-CN" dirty="0" smtClean="0">
                <a:hlinkClick r:id="rId2"/>
              </a:rPr>
              <a:t>www.bilibili.com/video/BV1py4y1a7v8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1361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881189" y="1357314"/>
            <a:ext cx="8429625" cy="64293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8563" y="2714625"/>
            <a:ext cx="4868862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8225</TotalTime>
  <Words>1586</Words>
  <Application>Microsoft Office PowerPoint</Application>
  <PresentationFormat>宽屏</PresentationFormat>
  <Paragraphs>170</Paragraphs>
  <Slides>28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宋体</vt:lpstr>
      <vt:lpstr>Arial</vt:lpstr>
      <vt:lpstr>Arial Black</vt:lpstr>
      <vt:lpstr>Calibri</vt:lpstr>
      <vt:lpstr>Times New Roman</vt:lpstr>
      <vt:lpstr>Wingdings</vt:lpstr>
      <vt:lpstr>2_Studio</vt:lpstr>
      <vt:lpstr>Equation</vt:lpstr>
      <vt:lpstr>Lecture 18 Tree Extensions</vt:lpstr>
      <vt:lpstr>Outline</vt:lpstr>
      <vt:lpstr>Huffman Coding</vt:lpstr>
      <vt:lpstr>Huffman Coding</vt:lpstr>
      <vt:lpstr>Huffman Tree: Optimal Binary Tree</vt:lpstr>
      <vt:lpstr>Huffman Coding</vt:lpstr>
      <vt:lpstr>Huffman Coding</vt:lpstr>
      <vt:lpstr>Huffman Coding</vt:lpstr>
      <vt:lpstr>Huffman’s Algorithm</vt:lpstr>
      <vt:lpstr>Exercise</vt:lpstr>
      <vt:lpstr>Threaded Binary Trees</vt:lpstr>
      <vt:lpstr>Threaded Binary Trees</vt:lpstr>
      <vt:lpstr>Threaded Binary Trees</vt:lpstr>
      <vt:lpstr>Threaded Binary Tree Traversal</vt:lpstr>
      <vt:lpstr>Different Types of Threaded Binary Trees</vt:lpstr>
      <vt:lpstr>Lexicographic Search Trees: Tries*(字典树)</vt:lpstr>
      <vt:lpstr>C++ Trie Declarations</vt:lpstr>
      <vt:lpstr>Searching a Trie</vt:lpstr>
      <vt:lpstr>Insertion into a Trie</vt:lpstr>
      <vt:lpstr>Trie</vt:lpstr>
      <vt:lpstr>Splay Trees*: A Self-Adjusting Data Structure</vt:lpstr>
      <vt:lpstr>Splay Rotations</vt:lpstr>
      <vt:lpstr>Splay Rotations</vt:lpstr>
      <vt:lpstr>Example</vt:lpstr>
      <vt:lpstr>Top-Down and Bottom-Up Splaying</vt:lpstr>
      <vt:lpstr>Complexity of Splaying</vt:lpstr>
      <vt:lpstr>Splay Tree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Introduction</dc:title>
  <dc:creator>ZZZ</dc:creator>
  <cp:lastModifiedBy>zzz</cp:lastModifiedBy>
  <cp:revision>1079</cp:revision>
  <dcterms:created xsi:type="dcterms:W3CDTF">2014-09-15T06:27:30Z</dcterms:created>
  <dcterms:modified xsi:type="dcterms:W3CDTF">2025-11-25T04:59:32Z</dcterms:modified>
</cp:coreProperties>
</file>