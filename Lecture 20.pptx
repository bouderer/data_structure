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7"/>
  </p:notesMasterIdLst>
  <p:handoutMasterIdLst>
    <p:handoutMasterId r:id="rId38"/>
  </p:handoutMasterIdLst>
  <p:sldIdLst>
    <p:sldId id="256" r:id="rId2"/>
    <p:sldId id="312" r:id="rId3"/>
    <p:sldId id="292" r:id="rId4"/>
    <p:sldId id="293" r:id="rId5"/>
    <p:sldId id="294" r:id="rId6"/>
    <p:sldId id="295" r:id="rId7"/>
    <p:sldId id="296" r:id="rId8"/>
    <p:sldId id="297" r:id="rId9"/>
    <p:sldId id="298" r:id="rId10"/>
    <p:sldId id="299" r:id="rId11"/>
    <p:sldId id="311" r:id="rId12"/>
    <p:sldId id="300" r:id="rId13"/>
    <p:sldId id="301" r:id="rId14"/>
    <p:sldId id="302" r:id="rId15"/>
    <p:sldId id="303" r:id="rId16"/>
    <p:sldId id="304" r:id="rId17"/>
    <p:sldId id="305" r:id="rId18"/>
    <p:sldId id="306" r:id="rId19"/>
    <p:sldId id="307" r:id="rId20"/>
    <p:sldId id="308" r:id="rId21"/>
    <p:sldId id="309" r:id="rId22"/>
    <p:sldId id="310" r:id="rId23"/>
    <p:sldId id="329" r:id="rId24"/>
    <p:sldId id="331" r:id="rId25"/>
    <p:sldId id="330" r:id="rId26"/>
    <p:sldId id="336" r:id="rId27"/>
    <p:sldId id="335" r:id="rId28"/>
    <p:sldId id="334" r:id="rId29"/>
    <p:sldId id="337" r:id="rId30"/>
    <p:sldId id="338" r:id="rId31"/>
    <p:sldId id="339" r:id="rId32"/>
    <p:sldId id="340" r:id="rId33"/>
    <p:sldId id="332" r:id="rId34"/>
    <p:sldId id="333" r:id="rId35"/>
    <p:sldId id="263"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699" autoAdjust="0"/>
  </p:normalViewPr>
  <p:slideViewPr>
    <p:cSldViewPr>
      <p:cViewPr varScale="1">
        <p:scale>
          <a:sx n="133" d="100"/>
          <a:sy n="133" d="100"/>
        </p:scale>
        <p:origin x="1338" y="114"/>
      </p:cViewPr>
      <p:guideLst>
        <p:guide orient="horz" pos="2160"/>
        <p:guide pos="3840"/>
      </p:guideLst>
    </p:cSldViewPr>
  </p:slideViewPr>
  <p:notesTextViewPr>
    <p:cViewPr>
      <p:scale>
        <a:sx n="100" d="100"/>
        <a:sy n="100" d="100"/>
      </p:scale>
      <p:origin x="0" y="0"/>
    </p:cViewPr>
  </p:notesTextViewPr>
  <p:notesViewPr>
    <p:cSldViewPr>
      <p:cViewPr varScale="1">
        <p:scale>
          <a:sx n="54" d="100"/>
          <a:sy n="54" d="100"/>
        </p:scale>
        <p:origin x="-292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D41D4C8-AD22-4880-9484-3393AAEA21B4}" type="datetimeFigureOut">
              <a:rPr lang="zh-CN" altLang="en-US" smtClean="0"/>
              <a:pPr/>
              <a:t>2025/12/09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85F2AC-91B5-4045-8919-6468876986A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BBEC3C-C740-4938-B957-964D0E0312A7}" type="datetimeFigureOut">
              <a:rPr lang="zh-CN" altLang="en-US" smtClean="0"/>
              <a:pPr/>
              <a:t>2025/12/09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F86499-B8C4-4393-BB2B-FE4804D7EC61}"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xfrm>
            <a:off x="381000" y="685800"/>
            <a:ext cx="6096000" cy="3429000"/>
          </a:xfrm>
          <a:ln/>
        </p:spPr>
      </p:sp>
      <p:sp>
        <p:nvSpPr>
          <p:cNvPr id="19459" name="备注占位符 2"/>
          <p:cNvSpPr>
            <a:spLocks noGrp="1"/>
          </p:cNvSpPr>
          <p:nvPr>
            <p:ph type="body" idx="1"/>
          </p:nvPr>
        </p:nvSpPr>
        <p:spPr>
          <a:noFill/>
          <a:ln/>
        </p:spPr>
        <p:txBody>
          <a:bodyPr/>
          <a:lstStyle/>
          <a:p>
            <a:endParaRPr kumimoji="0" lang="zh-CN" altLang="en-US" smtClean="0"/>
          </a:p>
        </p:txBody>
      </p:sp>
      <p:sp>
        <p:nvSpPr>
          <p:cNvPr id="19460" name="灯片编号占位符 3"/>
          <p:cNvSpPr>
            <a:spLocks noGrp="1"/>
          </p:cNvSpPr>
          <p:nvPr>
            <p:ph type="sldNum" sz="quarter" idx="5"/>
          </p:nvPr>
        </p:nvSpPr>
        <p:spPr>
          <a:noFill/>
        </p:spPr>
        <p:txBody>
          <a:bodyPr/>
          <a:lstStyle/>
          <a:p>
            <a:fld id="{81CA728A-43F0-49BF-8B8D-B1697E3B1699}" type="slidenum">
              <a:rPr lang="en-US" altLang="zh-CN" smtClean="0">
                <a:latin typeface="Arial" charset="0"/>
              </a:rPr>
              <a:pPr/>
              <a:t>1</a:t>
            </a:fld>
            <a:endParaRPr lang="en-US" altLang="zh-CN" smtClean="0">
              <a:latin typeface="Arial" charset="0"/>
            </a:endParaRPr>
          </a:p>
        </p:txBody>
      </p:sp>
      <p:sp>
        <p:nvSpPr>
          <p:cNvPr id="5" name="页脚占位符 4"/>
          <p:cNvSpPr>
            <a:spLocks noGrp="1"/>
          </p:cNvSpPr>
          <p:nvPr>
            <p:ph type="ftr" sz="quarter" idx="10"/>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mailto:zhangzizhen@gmail.com"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3" name="AutoShape 2"/>
          <p:cNvSpPr>
            <a:spLocks noChangeArrowheads="1"/>
          </p:cNvSpPr>
          <p:nvPr userDrawn="1"/>
        </p:nvSpPr>
        <p:spPr bwMode="auto">
          <a:xfrm>
            <a:off x="304800" y="381001"/>
            <a:ext cx="11582400" cy="6048375"/>
          </a:xfrm>
          <a:prstGeom prst="roundRect">
            <a:avLst>
              <a:gd name="adj" fmla="val 7912"/>
            </a:avLst>
          </a:prstGeom>
          <a:solidFill>
            <a:schemeClr val="folHlink"/>
          </a:solidFill>
          <a:ln w="9525">
            <a:noFill/>
            <a:round/>
            <a:headEnd/>
            <a:tailEnd/>
          </a:ln>
        </p:spPr>
        <p:txBody>
          <a:bodyPr wrap="none" anchor="ctr"/>
          <a:lstStyle/>
          <a:p>
            <a:pPr algn="ctr">
              <a:defRPr/>
            </a:pPr>
            <a:endParaRPr lang="zh-CN" altLang="en-US" sz="2400">
              <a:latin typeface="Times New Roman" pitchFamily="18" charset="0"/>
            </a:endParaRPr>
          </a:p>
        </p:txBody>
      </p:sp>
      <p:sp>
        <p:nvSpPr>
          <p:cNvPr id="4" name="AutoShape 3"/>
          <p:cNvSpPr>
            <a:spLocks noChangeArrowheads="1"/>
          </p:cNvSpPr>
          <p:nvPr/>
        </p:nvSpPr>
        <p:spPr bwMode="white">
          <a:xfrm>
            <a:off x="436034" y="488950"/>
            <a:ext cx="11247967" cy="4768850"/>
          </a:xfrm>
          <a:prstGeom prst="roundRect">
            <a:avLst>
              <a:gd name="adj" fmla="val 7310"/>
            </a:avLst>
          </a:prstGeom>
          <a:solidFill>
            <a:schemeClr val="bg1"/>
          </a:solidFill>
          <a:ln w="9525">
            <a:noFill/>
            <a:round/>
            <a:headEnd/>
            <a:tailEnd/>
          </a:ln>
        </p:spPr>
        <p:txBody>
          <a:bodyPr wrap="none" anchor="ctr"/>
          <a:lstStyle/>
          <a:p>
            <a:pPr algn="ctr">
              <a:defRPr/>
            </a:pPr>
            <a:endParaRPr lang="zh-CN" altLang="en-US" sz="2400">
              <a:latin typeface="Times New Roman" pitchFamily="18" charset="0"/>
            </a:endParaRPr>
          </a:p>
        </p:txBody>
      </p:sp>
      <p:sp>
        <p:nvSpPr>
          <p:cNvPr id="5" name="AutoShape 4"/>
          <p:cNvSpPr>
            <a:spLocks noChangeArrowheads="1"/>
          </p:cNvSpPr>
          <p:nvPr/>
        </p:nvSpPr>
        <p:spPr bwMode="blackWhite">
          <a:xfrm>
            <a:off x="1828800" y="4500563"/>
            <a:ext cx="8534400" cy="1357312"/>
          </a:xfrm>
          <a:prstGeom prst="roundRect">
            <a:avLst>
              <a:gd name="adj" fmla="val 16667"/>
            </a:avLst>
          </a:prstGeom>
          <a:solidFill>
            <a:schemeClr val="bg1"/>
          </a:solidFill>
          <a:ln w="50800">
            <a:solidFill>
              <a:schemeClr val="bg2"/>
            </a:solidFill>
            <a:round/>
            <a:headEnd/>
            <a:tailEnd/>
          </a:ln>
        </p:spPr>
        <p:txBody>
          <a:bodyPr wrap="none" anchor="ctr"/>
          <a:lstStyle/>
          <a:p>
            <a:pPr algn="ctr">
              <a:defRPr/>
            </a:pPr>
            <a:endParaRPr lang="zh-CN" altLang="en-US" sz="1800">
              <a:latin typeface="Arial" pitchFamily="34" charset="0"/>
            </a:endParaRPr>
          </a:p>
        </p:txBody>
      </p:sp>
      <p:pic>
        <p:nvPicPr>
          <p:cNvPr id="6" name="Picture 11" descr="sysu_logo2"/>
          <p:cNvPicPr>
            <a:picLocks noChangeAspect="1" noChangeArrowheads="1"/>
          </p:cNvPicPr>
          <p:nvPr userDrawn="1"/>
        </p:nvPicPr>
        <p:blipFill>
          <a:blip r:embed="rId2" cstate="print"/>
          <a:srcRect/>
          <a:stretch>
            <a:fillRect/>
          </a:stretch>
        </p:blipFill>
        <p:spPr bwMode="auto">
          <a:xfrm>
            <a:off x="1130300" y="57621"/>
            <a:ext cx="2517428" cy="707553"/>
          </a:xfrm>
          <a:prstGeom prst="rect">
            <a:avLst/>
          </a:prstGeom>
          <a:noFill/>
          <a:ln w="9525">
            <a:noFill/>
            <a:miter lim="800000"/>
            <a:headEnd/>
            <a:tailEnd/>
          </a:ln>
        </p:spPr>
      </p:pic>
      <p:sp>
        <p:nvSpPr>
          <p:cNvPr id="7" name="TextBox 6"/>
          <p:cNvSpPr txBox="1">
            <a:spLocks noChangeArrowheads="1"/>
          </p:cNvSpPr>
          <p:nvPr userDrawn="1"/>
        </p:nvSpPr>
        <p:spPr bwMode="auto">
          <a:xfrm>
            <a:off x="2095530" y="4500570"/>
            <a:ext cx="8191500" cy="1027974"/>
          </a:xfrm>
          <a:prstGeom prst="rect">
            <a:avLst/>
          </a:prstGeom>
          <a:noFill/>
          <a:ln>
            <a:noFill/>
          </a:ln>
          <a:extLst>
            <a:ext uri="{909E8E84-426E-40dd-AFC4-6F175D3DCCD1}"/>
            <a:ext uri="{91240B29-F687-4f45-9708-019B960494DF}"/>
          </a:extLst>
        </p:spPr>
        <p:txBody>
          <a:bodyPr wrap="squar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spcBef>
                <a:spcPct val="20000"/>
              </a:spcBef>
              <a:buClr>
                <a:schemeClr val="bg2"/>
              </a:buClr>
              <a:buSzPct val="70000"/>
              <a:buFont typeface="Wingdings" pitchFamily="48" charset="2"/>
              <a:buNone/>
              <a:defRPr/>
            </a:pPr>
            <a:r>
              <a:rPr lang="en-US" altLang="zh-CN" sz="1800" b="1" dirty="0" smtClean="0">
                <a:solidFill>
                  <a:srgbClr val="3A7877"/>
                </a:solidFill>
              </a:rPr>
              <a:t>Data Structures and Algorithms</a:t>
            </a:r>
          </a:p>
          <a:p>
            <a:pPr marL="0" marR="0" lvl="0" indent="0" algn="l" defTabSz="914400" rtl="0" eaLnBrk="1" fontAlgn="auto" latinLnBrk="0" hangingPunct="1">
              <a:lnSpc>
                <a:spcPct val="120000"/>
              </a:lnSpc>
              <a:spcBef>
                <a:spcPct val="20000"/>
              </a:spcBef>
              <a:spcAft>
                <a:spcPts val="0"/>
              </a:spcAft>
              <a:buClr>
                <a:srgbClr val="CCCC99"/>
              </a:buClr>
              <a:buSzPct val="70000"/>
              <a:buFont typeface="Wingdings" pitchFamily="48" charset="2"/>
              <a:buNone/>
              <a:tabLst/>
              <a:defRPr/>
            </a:pPr>
            <a:r>
              <a:rPr kumimoji="0" lang="en-US" altLang="zh-CN" sz="1400" b="1" i="0" u="none" strike="noStrike" kern="1200" cap="none" spc="0" normalizeH="0" baseline="0" noProof="0" dirty="0" err="1" smtClean="0">
                <a:ln>
                  <a:noFill/>
                </a:ln>
                <a:solidFill>
                  <a:srgbClr val="3A7877"/>
                </a:solidFill>
                <a:effectLst/>
                <a:uLnTx/>
                <a:uFillTx/>
                <a:latin typeface="Arial"/>
                <a:ea typeface="宋体"/>
                <a:cs typeface="+mn-cs"/>
              </a:rPr>
              <a:t>Zizhen</a:t>
            </a: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rPr>
              <a:t> Zhang, School of Computer Science and Engineering, Sun </a:t>
            </a:r>
            <a:r>
              <a:rPr kumimoji="0" lang="en-US" altLang="zh-CN" sz="1400" b="1" i="0" u="none" strike="noStrike" kern="1200" cap="none" spc="0" normalizeH="0" baseline="0" noProof="0" dirty="0" err="1" smtClean="0">
                <a:ln>
                  <a:noFill/>
                </a:ln>
                <a:solidFill>
                  <a:srgbClr val="3A7877"/>
                </a:solidFill>
                <a:effectLst/>
                <a:uLnTx/>
                <a:uFillTx/>
                <a:latin typeface="Arial"/>
                <a:ea typeface="宋体"/>
                <a:cs typeface="+mn-cs"/>
              </a:rPr>
              <a:t>Yat-sen</a:t>
            </a: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rPr>
              <a:t> University</a:t>
            </a:r>
            <a:endParaRPr kumimoji="0" lang="en-US" altLang="zh-CN" sz="1800" b="1" i="0" u="none" strike="noStrike" kern="1200" cap="none" spc="0" normalizeH="0" baseline="0" noProof="0" dirty="0" smtClean="0">
              <a:ln>
                <a:noFill/>
              </a:ln>
              <a:solidFill>
                <a:srgbClr val="3A7877"/>
              </a:solidFill>
              <a:effectLst/>
              <a:uLnTx/>
              <a:uFillTx/>
              <a:latin typeface="Arial"/>
              <a:ea typeface="宋体"/>
              <a:cs typeface="+mn-cs"/>
            </a:endParaRPr>
          </a:p>
          <a:p>
            <a:pPr marL="0" marR="0" lvl="0" indent="0" algn="l" defTabSz="914400" rtl="0" eaLnBrk="1" fontAlgn="auto" latinLnBrk="0" hangingPunct="1">
              <a:lnSpc>
                <a:spcPct val="120000"/>
              </a:lnSpc>
              <a:spcBef>
                <a:spcPct val="20000"/>
              </a:spcBef>
              <a:spcAft>
                <a:spcPts val="0"/>
              </a:spcAft>
              <a:buClr>
                <a:srgbClr val="CCCC99"/>
              </a:buClr>
              <a:buSzPct val="70000"/>
              <a:buFont typeface="Wingdings" pitchFamily="48" charset="2"/>
              <a:buNone/>
              <a:tabLst/>
              <a:defRPr/>
            </a:pP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hlinkClick r:id="rId3"/>
              </a:rPr>
              <a:t>zhangzizhen@gmail.com</a:t>
            </a:r>
            <a:endPar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endParaRPr>
          </a:p>
        </p:txBody>
      </p:sp>
      <p:sp>
        <p:nvSpPr>
          <p:cNvPr id="95237" name="Rectangle 5"/>
          <p:cNvSpPr>
            <a:spLocks noGrp="1" noChangeArrowheads="1"/>
          </p:cNvSpPr>
          <p:nvPr>
            <p:ph type="ctrTitle"/>
          </p:nvPr>
        </p:nvSpPr>
        <p:spPr>
          <a:xfrm>
            <a:off x="914400" y="1519240"/>
            <a:ext cx="10363200" cy="2266950"/>
          </a:xfrm>
        </p:spPr>
        <p:txBody>
          <a:bodyPr anchor="ctr" anchorCtr="1"/>
          <a:lstStyle>
            <a:lvl1pPr algn="ctr">
              <a:defRPr sz="4100" i="1"/>
            </a:lvl1pPr>
          </a:lstStyle>
          <a:p>
            <a:r>
              <a:rPr lang="zh-CN" altLang="en-US"/>
              <a:t>单击此处编辑母版标题样式</a:t>
            </a: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xfrm>
            <a:off x="609600" y="6243638"/>
            <a:ext cx="2844800" cy="457200"/>
          </a:xfrm>
          <a:prstGeom prst="rect">
            <a:avLst/>
          </a:prstGeom>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xfrm>
            <a:off x="4165600" y="6248400"/>
            <a:ext cx="3860800" cy="457200"/>
          </a:xfrm>
          <a:prstGeom prst="rect">
            <a:avLst/>
          </a:prstGeom>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xfrm>
            <a:off x="8737600" y="6243638"/>
            <a:ext cx="2844800" cy="457200"/>
          </a:xfrm>
          <a:prstGeom prst="rect">
            <a:avLst/>
          </a:prstGeom>
          <a:ln/>
        </p:spPr>
        <p:txBody>
          <a:bodyPr/>
          <a:lstStyle>
            <a:lvl1pPr>
              <a:defRPr/>
            </a:lvl1pPr>
          </a:lstStyle>
          <a:p>
            <a:pPr>
              <a:defRPr/>
            </a:pPr>
            <a:fld id="{26623DE1-4CAE-40B5-8704-D5A52C102B64}"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76251" y="214314"/>
            <a:ext cx="11239500" cy="6429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76251" y="928688"/>
            <a:ext cx="11239500" cy="55721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pic>
        <p:nvPicPr>
          <p:cNvPr id="1028" name="Picture 15" descr="C:\Documents and Settings\Administrator\桌面\Briefcase\Web程序设计与AJAX 课程\gif图片下载\英文校名.gif"/>
          <p:cNvPicPr>
            <a:picLocks noChangeAspect="1" noChangeArrowheads="1"/>
          </p:cNvPicPr>
          <p:nvPr/>
        </p:nvPicPr>
        <p:blipFill>
          <a:blip r:embed="rId5" cstate="print"/>
          <a:srcRect/>
          <a:stretch>
            <a:fillRect/>
          </a:stretch>
        </p:blipFill>
        <p:spPr bwMode="auto">
          <a:xfrm>
            <a:off x="4603751" y="6581776"/>
            <a:ext cx="3302000" cy="276225"/>
          </a:xfrm>
          <a:prstGeom prst="rect">
            <a:avLst/>
          </a:prstGeom>
          <a:noFill/>
          <a:ln w="9525">
            <a:noFill/>
            <a:miter lim="800000"/>
            <a:headEnd/>
            <a:tailEnd/>
          </a:ln>
        </p:spPr>
      </p:pic>
      <p:cxnSp>
        <p:nvCxnSpPr>
          <p:cNvPr id="21" name="直接连接符 20"/>
          <p:cNvCxnSpPr/>
          <p:nvPr/>
        </p:nvCxnSpPr>
        <p:spPr>
          <a:xfrm>
            <a:off x="476251" y="855664"/>
            <a:ext cx="11239500" cy="1587"/>
          </a:xfrm>
          <a:prstGeom prst="line">
            <a:avLst/>
          </a:prstGeom>
          <a:ln w="38100">
            <a:solidFill>
              <a:srgbClr val="009900"/>
            </a:solidFill>
          </a:ln>
        </p:spPr>
        <p:style>
          <a:lnRef idx="1">
            <a:schemeClr val="accent1"/>
          </a:lnRef>
          <a:fillRef idx="0">
            <a:schemeClr val="accent1"/>
          </a:fillRef>
          <a:effectRef idx="0">
            <a:schemeClr val="accent1"/>
          </a:effectRef>
          <a:fontRef idx="minor">
            <a:schemeClr val="tx1"/>
          </a:fontRef>
        </p:style>
      </p:cxnSp>
      <p:sp>
        <p:nvSpPr>
          <p:cNvPr id="1030" name="TextBox 26"/>
          <p:cNvSpPr txBox="1">
            <a:spLocks noChangeArrowheads="1"/>
          </p:cNvSpPr>
          <p:nvPr/>
        </p:nvSpPr>
        <p:spPr bwMode="auto">
          <a:xfrm>
            <a:off x="5143501" y="71439"/>
            <a:ext cx="6667500" cy="261937"/>
          </a:xfrm>
          <a:prstGeom prst="rect">
            <a:avLst/>
          </a:prstGeom>
          <a:noFill/>
          <a:ln>
            <a:noFill/>
          </a:ln>
          <a:extLst>
            <a:ext uri="{909E8E84-426E-40dd-AFC4-6F175D3DCCD1}"/>
            <a:ext uri="{91240B29-F687-4f45-9708-019B960494DF}"/>
          </a:extLst>
        </p:spPr>
        <p:txBody>
          <a:bodyPr>
            <a:spAutoFit/>
          </a:bodyPr>
          <a:lstStyle/>
          <a:p>
            <a:pPr algn="r">
              <a:defRPr/>
            </a:pPr>
            <a:r>
              <a:rPr lang="en-US" altLang="zh-CN" sz="1100" i="1" dirty="0" smtClean="0">
                <a:solidFill>
                  <a:srgbClr val="3A7877"/>
                </a:solidFill>
                <a:latin typeface="Arial" pitchFamily="34" charset="0"/>
              </a:rPr>
              <a:t>Data structures</a:t>
            </a:r>
            <a:r>
              <a:rPr lang="en-US" altLang="zh-CN" sz="1100" i="1" baseline="0" dirty="0" smtClean="0">
                <a:solidFill>
                  <a:srgbClr val="3A7877"/>
                </a:solidFill>
                <a:latin typeface="Arial" pitchFamily="34" charset="0"/>
              </a:rPr>
              <a:t> and algorithms</a:t>
            </a:r>
            <a:endParaRPr lang="zh-CN" altLang="en-US" sz="1100" i="1" dirty="0">
              <a:solidFill>
                <a:srgbClr val="3A7877"/>
              </a:solidFill>
              <a:latin typeface="Arial" pitchFamily="34" charset="0"/>
            </a:endParaRPr>
          </a:p>
        </p:txBody>
      </p:sp>
      <p:sp>
        <p:nvSpPr>
          <p:cNvPr id="9" name="Rectangle 4"/>
          <p:cNvSpPr txBox="1">
            <a:spLocks noChangeArrowheads="1"/>
          </p:cNvSpPr>
          <p:nvPr userDrawn="1"/>
        </p:nvSpPr>
        <p:spPr bwMode="auto">
          <a:xfrm>
            <a:off x="8686800" y="6615113"/>
            <a:ext cx="2743200" cy="457200"/>
          </a:xfrm>
          <a:prstGeom prst="rect">
            <a:avLst/>
          </a:prstGeom>
          <a:noFill/>
          <a:ln w="9525">
            <a:noFill/>
            <a:miter lim="800000"/>
            <a:headEnd/>
            <a:tailEnd/>
          </a:ln>
          <a:effectLst/>
        </p:spPr>
        <p:txBody>
          <a:bodyPr/>
          <a:lstStyle/>
          <a:p>
            <a:pPr algn="ctr">
              <a:defRPr/>
            </a:pPr>
            <a:fld id="{FED218EC-7653-412D-96B2-7145C570315F}" type="slidenum">
              <a:rPr lang="en-US" altLang="zh-CN" sz="1000" b="1">
                <a:solidFill>
                  <a:srgbClr val="3A7877"/>
                </a:solidFill>
                <a:latin typeface="Arial" pitchFamily="34" charset="0"/>
              </a:rPr>
              <a:pPr algn="ctr">
                <a:defRPr/>
              </a:pPr>
              <a:t>‹#›</a:t>
            </a:fld>
            <a:r>
              <a:rPr lang="en-US" altLang="zh-CN" sz="1000" b="1" dirty="0">
                <a:solidFill>
                  <a:srgbClr val="3A7877"/>
                </a:solidFill>
                <a:latin typeface="Arial" pitchFamily="34" charset="0"/>
              </a:rPr>
              <a:t> </a:t>
            </a:r>
            <a:r>
              <a:rPr lang="en-US" altLang="zh-CN" sz="1000" b="1" dirty="0" smtClean="0">
                <a:solidFill>
                  <a:srgbClr val="3A7877"/>
                </a:solidFill>
                <a:latin typeface="Arial" pitchFamily="34" charset="0"/>
              </a:rPr>
              <a:t>/</a:t>
            </a:r>
            <a:endParaRPr lang="en-US" altLang="zh-CN" sz="1000" b="1" dirty="0">
              <a:solidFill>
                <a:srgbClr val="3A7877"/>
              </a:solidFill>
              <a:latin typeface="Arial" pitchFamily="34" charset="0"/>
            </a:endParaRPr>
          </a:p>
        </p:txBody>
      </p:sp>
      <p:sp>
        <p:nvSpPr>
          <p:cNvPr id="11" name="Rectangle 4"/>
          <p:cNvSpPr txBox="1">
            <a:spLocks noChangeArrowheads="1"/>
          </p:cNvSpPr>
          <p:nvPr/>
        </p:nvSpPr>
        <p:spPr bwMode="auto">
          <a:xfrm>
            <a:off x="952500" y="6615113"/>
            <a:ext cx="2743200" cy="457200"/>
          </a:xfrm>
          <a:prstGeom prst="rect">
            <a:avLst/>
          </a:prstGeom>
          <a:noFill/>
          <a:ln w="9525">
            <a:noFill/>
            <a:miter lim="800000"/>
            <a:headEnd/>
            <a:tailEnd/>
          </a:ln>
          <a:effectLst/>
        </p:spPr>
        <p:txBody>
          <a:bodyPr/>
          <a:lstStyle/>
          <a:p>
            <a:pPr algn="ctr">
              <a:defRPr/>
            </a:pPr>
            <a:fld id="{28F2FBAF-9894-4EB8-8AC6-3F534D888B82}" type="datetime4">
              <a:rPr lang="en-US" altLang="zh-CN" sz="1000" b="1">
                <a:solidFill>
                  <a:srgbClr val="3A7877"/>
                </a:solidFill>
                <a:latin typeface="Arial" pitchFamily="34" charset="0"/>
              </a:rPr>
              <a:pPr algn="ctr">
                <a:defRPr/>
              </a:pPr>
              <a:t>December 9, 2025</a:t>
            </a:fld>
            <a:endParaRPr lang="en-US" altLang="zh-CN" sz="1000" b="1" dirty="0">
              <a:solidFill>
                <a:srgbClr val="3A7877"/>
              </a:solidFill>
              <a:latin typeface="Arial" pitchFamily="34" charset="0"/>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ransition spd="slow"/>
  <p:timing>
    <p:tnLst>
      <p:par>
        <p:cTn id="1" dur="indefinite" restart="never" nodeType="tmRoot"/>
      </p:par>
    </p:tnLst>
  </p:timing>
  <p:hf hdr="0"/>
  <p:txStyles>
    <p:titleStyle>
      <a:lvl1pPr algn="l" rtl="0" eaLnBrk="0" fontAlgn="base" hangingPunct="0">
        <a:spcBef>
          <a:spcPct val="0"/>
        </a:spcBef>
        <a:spcAft>
          <a:spcPct val="0"/>
        </a:spcAft>
        <a:defRPr kumimoji="1" sz="3300">
          <a:solidFill>
            <a:schemeClr val="tx2"/>
          </a:solidFill>
          <a:latin typeface="+mj-lt"/>
          <a:ea typeface="+mj-ea"/>
          <a:cs typeface="宋体" charset="0"/>
        </a:defRPr>
      </a:lvl1pPr>
      <a:lvl2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2pPr>
      <a:lvl3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3pPr>
      <a:lvl4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4pPr>
      <a:lvl5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5pPr>
      <a:lvl6pPr marL="457200" algn="l" rtl="0" fontAlgn="base">
        <a:spcBef>
          <a:spcPct val="0"/>
        </a:spcBef>
        <a:spcAft>
          <a:spcPct val="0"/>
        </a:spcAft>
        <a:defRPr sz="3300">
          <a:solidFill>
            <a:schemeClr val="tx2"/>
          </a:solidFill>
          <a:latin typeface="Arial Black" pitchFamily="34" charset="0"/>
          <a:ea typeface="宋体" pitchFamily="2" charset="-122"/>
        </a:defRPr>
      </a:lvl6pPr>
      <a:lvl7pPr marL="914400" algn="l" rtl="0" fontAlgn="base">
        <a:spcBef>
          <a:spcPct val="0"/>
        </a:spcBef>
        <a:spcAft>
          <a:spcPct val="0"/>
        </a:spcAft>
        <a:defRPr sz="3300">
          <a:solidFill>
            <a:schemeClr val="tx2"/>
          </a:solidFill>
          <a:latin typeface="Arial Black" pitchFamily="34" charset="0"/>
          <a:ea typeface="宋体" pitchFamily="2" charset="-122"/>
        </a:defRPr>
      </a:lvl7pPr>
      <a:lvl8pPr marL="1371600" algn="l" rtl="0" fontAlgn="base">
        <a:spcBef>
          <a:spcPct val="0"/>
        </a:spcBef>
        <a:spcAft>
          <a:spcPct val="0"/>
        </a:spcAft>
        <a:defRPr sz="3300">
          <a:solidFill>
            <a:schemeClr val="tx2"/>
          </a:solidFill>
          <a:latin typeface="Arial Black" pitchFamily="34" charset="0"/>
          <a:ea typeface="宋体" pitchFamily="2" charset="-122"/>
        </a:defRPr>
      </a:lvl8pPr>
      <a:lvl9pPr marL="1828800" algn="l" rtl="0" fontAlgn="base">
        <a:spcBef>
          <a:spcPct val="0"/>
        </a:spcBef>
        <a:spcAft>
          <a:spcPct val="0"/>
        </a:spcAft>
        <a:defRPr sz="3300">
          <a:solidFill>
            <a:schemeClr val="tx2"/>
          </a:solidFill>
          <a:latin typeface="Arial Black" pitchFamily="34"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0000"/>
        <a:buFont typeface="Wingdings" pitchFamily="2" charset="2"/>
        <a:buChar char="l"/>
        <a:defRPr kumimoji="1" sz="2400">
          <a:solidFill>
            <a:schemeClr val="tx1"/>
          </a:solidFill>
          <a:latin typeface="+mn-lt"/>
          <a:ea typeface="+mn-ea"/>
          <a:cs typeface="宋体" charset="0"/>
        </a:defRPr>
      </a:lvl1pPr>
      <a:lvl2pPr marL="742950" indent="-285750" algn="l" rtl="0" eaLnBrk="0" fontAlgn="base" hangingPunct="0">
        <a:spcBef>
          <a:spcPct val="20000"/>
        </a:spcBef>
        <a:spcAft>
          <a:spcPct val="0"/>
        </a:spcAft>
        <a:buClr>
          <a:schemeClr val="accent1"/>
        </a:buClr>
        <a:buSzPct val="150000"/>
        <a:buChar char="•"/>
        <a:defRPr kumimoji="1" sz="2000">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150000"/>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150000"/>
        <a:buChar char="•"/>
        <a:defRPr kumimoji="1" sz="16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kumimoji="1" sz="1600">
          <a:solidFill>
            <a:schemeClr val="tx1"/>
          </a:solidFill>
          <a:latin typeface="+mn-lt"/>
          <a:ea typeface="+mn-ea"/>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en.wikipedia.org/wiki/Program_Evaluation_and_Review_Techniqu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3"/>
          <p:cNvSpPr>
            <a:spLocks noGrp="1"/>
          </p:cNvSpPr>
          <p:nvPr>
            <p:ph type="ctrTitle"/>
          </p:nvPr>
        </p:nvSpPr>
        <p:spPr/>
        <p:txBody>
          <a:bodyPr/>
          <a:lstStyle/>
          <a:p>
            <a:r>
              <a:rPr kumimoji="0" lang="en-US" altLang="zh-CN" i="0" dirty="0" smtClean="0"/>
              <a:t>Lecture </a:t>
            </a:r>
            <a:r>
              <a:rPr kumimoji="0" lang="en-US" altLang="zh-CN" i="0" dirty="0" smtClean="0"/>
              <a:t>20</a:t>
            </a:r>
            <a:r>
              <a:rPr kumimoji="0" lang="en-US" altLang="zh-CN" i="0" dirty="0" smtClean="0"/>
              <a:t/>
            </a:r>
            <a:br>
              <a:rPr kumimoji="0" lang="en-US" altLang="zh-CN" i="0" dirty="0" smtClean="0"/>
            </a:br>
            <a:r>
              <a:rPr kumimoji="0" lang="en-US" altLang="zh-CN" i="0" dirty="0" smtClean="0"/>
              <a:t>Graphs (II)</a:t>
            </a:r>
            <a:endParaRPr kumimoji="0" lang="zh-CN" altLang="en-US" i="0" dirty="0" smtClean="0"/>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Outline</a:t>
            </a:r>
            <a:endParaRPr lang="zh-CN" altLang="en-US" dirty="0"/>
          </a:p>
        </p:txBody>
      </p:sp>
      <p:sp>
        <p:nvSpPr>
          <p:cNvPr id="3" name="内容占位符 2"/>
          <p:cNvSpPr>
            <a:spLocks noGrp="1"/>
          </p:cNvSpPr>
          <p:nvPr>
            <p:ph idx="1"/>
          </p:nvPr>
        </p:nvSpPr>
        <p:spPr/>
        <p:txBody>
          <a:bodyPr/>
          <a:lstStyle/>
          <a:p>
            <a:r>
              <a:rPr lang="en-US" altLang="zh-CN" dirty="0" smtClean="0"/>
              <a:t>Topological Sorting</a:t>
            </a:r>
          </a:p>
          <a:p>
            <a:pPr lvl="1"/>
            <a:r>
              <a:rPr lang="en-US" altLang="zh-CN" dirty="0" smtClean="0"/>
              <a:t>Breadth First</a:t>
            </a:r>
          </a:p>
          <a:p>
            <a:pPr lvl="1"/>
            <a:r>
              <a:rPr lang="en-US" altLang="zh-CN" dirty="0" smtClean="0"/>
              <a:t>Depth First</a:t>
            </a:r>
          </a:p>
          <a:p>
            <a:r>
              <a:rPr lang="en-US" altLang="zh-CN" dirty="0" smtClean="0"/>
              <a:t>Euler Paths and Circuits*</a:t>
            </a:r>
          </a:p>
          <a:p>
            <a:endParaRPr lang="en-US" altLang="zh-CN"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b="1" dirty="0"/>
              <a:t>Topological Sorting (</a:t>
            </a:r>
            <a:r>
              <a:rPr lang="zh-CN" altLang="en-US" sz="3600" b="1" dirty="0"/>
              <a:t>拓扑排序</a:t>
            </a:r>
            <a:r>
              <a:rPr lang="en-US" altLang="zh-CN" sz="3600" b="1" dirty="0"/>
              <a:t>)</a:t>
            </a:r>
            <a:endParaRPr lang="zh-CN" altLang="en-US" dirty="0"/>
          </a:p>
        </p:txBody>
      </p:sp>
      <p:sp>
        <p:nvSpPr>
          <p:cNvPr id="3" name="内容占位符 2"/>
          <p:cNvSpPr>
            <a:spLocks noGrp="1"/>
          </p:cNvSpPr>
          <p:nvPr>
            <p:ph idx="1"/>
          </p:nvPr>
        </p:nvSpPr>
        <p:spPr/>
        <p:txBody>
          <a:bodyPr/>
          <a:lstStyle/>
          <a:p>
            <a:r>
              <a:rPr lang="en-US" altLang="zh-CN" dirty="0" smtClean="0"/>
              <a:t>Let </a:t>
            </a:r>
            <a:r>
              <a:rPr lang="en-US" altLang="zh-CN" i="1" dirty="0" smtClean="0"/>
              <a:t>G</a:t>
            </a:r>
            <a:r>
              <a:rPr lang="en-US" altLang="zh-CN" dirty="0" smtClean="0"/>
              <a:t> be a directed graph with no cycles (DAG). A </a:t>
            </a:r>
            <a:r>
              <a:rPr lang="en-US" altLang="zh-CN" dirty="0" smtClean="0">
                <a:solidFill>
                  <a:srgbClr val="FF0000"/>
                </a:solidFill>
              </a:rPr>
              <a:t>topological order</a:t>
            </a:r>
            <a:r>
              <a:rPr lang="en-US" altLang="zh-CN" dirty="0" smtClean="0"/>
              <a:t> for </a:t>
            </a:r>
            <a:r>
              <a:rPr lang="en-US" altLang="zh-CN" i="1" dirty="0" smtClean="0"/>
              <a:t>G</a:t>
            </a:r>
            <a:r>
              <a:rPr lang="en-US" altLang="zh-CN" dirty="0" smtClean="0"/>
              <a:t> is a sequential listing of all the vertices in </a:t>
            </a:r>
            <a:r>
              <a:rPr lang="en-US" altLang="zh-CN" i="1" dirty="0" smtClean="0"/>
              <a:t>G</a:t>
            </a:r>
            <a:r>
              <a:rPr lang="en-US" altLang="zh-CN" dirty="0" smtClean="0"/>
              <a:t> such that, for all vertices </a:t>
            </a:r>
            <a:r>
              <a:rPr lang="en-US" altLang="zh-CN" i="1" dirty="0" err="1" smtClean="0"/>
              <a:t>v,w</a:t>
            </a:r>
            <a:r>
              <a:rPr lang="zh-CN" altLang="en-US" dirty="0" smtClean="0"/>
              <a:t>∈</a:t>
            </a:r>
            <a:r>
              <a:rPr lang="en-US" altLang="zh-CN" i="1" dirty="0" smtClean="0"/>
              <a:t>G</a:t>
            </a:r>
            <a:r>
              <a:rPr lang="en-US" altLang="zh-CN" dirty="0" smtClean="0"/>
              <a:t>, if there is an edge from </a:t>
            </a:r>
            <a:r>
              <a:rPr lang="en-US" altLang="zh-CN" i="1" dirty="0" smtClean="0"/>
              <a:t>v</a:t>
            </a:r>
            <a:r>
              <a:rPr lang="en-US" altLang="zh-CN" dirty="0" smtClean="0"/>
              <a:t> to </a:t>
            </a:r>
            <a:r>
              <a:rPr lang="en-US" altLang="zh-CN" i="1" dirty="0" smtClean="0"/>
              <a:t>w</a:t>
            </a:r>
            <a:r>
              <a:rPr lang="en-US" altLang="zh-CN" dirty="0" smtClean="0"/>
              <a:t>, then </a:t>
            </a:r>
            <a:r>
              <a:rPr lang="en-US" altLang="zh-CN" i="1" dirty="0" smtClean="0"/>
              <a:t>v </a:t>
            </a:r>
            <a:r>
              <a:rPr lang="en-US" altLang="zh-CN" dirty="0" smtClean="0"/>
              <a:t>precedes </a:t>
            </a:r>
            <a:r>
              <a:rPr lang="en-US" altLang="zh-CN" i="1" dirty="0" smtClean="0"/>
              <a:t>w</a:t>
            </a:r>
            <a:r>
              <a:rPr lang="en-US" altLang="zh-CN" dirty="0" smtClean="0"/>
              <a:t> in the sequential listing.</a:t>
            </a:r>
          </a:p>
          <a:p>
            <a:pPr eaLnBrk="1" hangingPunct="1"/>
            <a:r>
              <a:rPr lang="en-US" altLang="zh-CN" dirty="0" smtClean="0"/>
              <a:t>The canonical application of topological sorting (topological order) is in scheduling a sequence of jobs or tasks; topological sorting algorithms were first studied in the early 1960s in the context of the </a:t>
            </a:r>
            <a:r>
              <a:rPr lang="en-US" altLang="zh-CN" dirty="0" smtClean="0">
                <a:hlinkClick r:id="rId2" tooltip="Program Evaluation and Review Technique"/>
              </a:rPr>
              <a:t>PERT</a:t>
            </a:r>
            <a:r>
              <a:rPr lang="en-US" altLang="zh-CN" dirty="0" smtClean="0"/>
              <a:t> technique for scheduling in project management. </a:t>
            </a:r>
          </a:p>
          <a:p>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b="1" dirty="0"/>
              <a:t>A DAG Example</a:t>
            </a:r>
            <a:endParaRPr lang="zh-CN" altLang="en-US" dirty="0"/>
          </a:p>
        </p:txBody>
      </p:sp>
      <p:pic>
        <p:nvPicPr>
          <p:cNvPr id="12290" name="Picture 2"/>
          <p:cNvPicPr>
            <a:picLocks noChangeAspect="1" noChangeArrowheads="1"/>
          </p:cNvPicPr>
          <p:nvPr/>
        </p:nvPicPr>
        <p:blipFill>
          <a:blip r:embed="rId2" cstate="print"/>
          <a:srcRect/>
          <a:stretch>
            <a:fillRect/>
          </a:stretch>
        </p:blipFill>
        <p:spPr bwMode="auto">
          <a:xfrm>
            <a:off x="7248128" y="3789040"/>
            <a:ext cx="4252149" cy="2544722"/>
          </a:xfrm>
          <a:prstGeom prst="rect">
            <a:avLst/>
          </a:prstGeom>
          <a:noFill/>
          <a:ln w="9525">
            <a:noFill/>
            <a:miter lim="800000"/>
            <a:headEnd/>
            <a:tailEnd/>
          </a:ln>
          <a:effectLst/>
        </p:spPr>
      </p:pic>
      <p:grpSp>
        <p:nvGrpSpPr>
          <p:cNvPr id="3" name="组合 2"/>
          <p:cNvGrpSpPr/>
          <p:nvPr/>
        </p:nvGrpSpPr>
        <p:grpSpPr>
          <a:xfrm>
            <a:off x="551384" y="1056725"/>
            <a:ext cx="8047036" cy="3639388"/>
            <a:chOff x="802118" y="1056725"/>
            <a:chExt cx="8047036" cy="3639388"/>
          </a:xfrm>
        </p:grpSpPr>
        <p:sp>
          <p:nvSpPr>
            <p:cNvPr id="25" name="Text Box 2"/>
            <p:cNvSpPr txBox="1">
              <a:spLocks noChangeArrowheads="1"/>
            </p:cNvSpPr>
            <p:nvPr/>
          </p:nvSpPr>
          <p:spPr bwMode="auto">
            <a:xfrm>
              <a:off x="931293" y="1556792"/>
              <a:ext cx="4950394" cy="3139321"/>
            </a:xfrm>
            <a:prstGeom prst="rect">
              <a:avLst/>
            </a:prstGeom>
            <a:noFill/>
            <a:ln w="9525">
              <a:noFill/>
              <a:miter lim="800000"/>
              <a:headEnd/>
              <a:tailEnd/>
            </a:ln>
          </p:spPr>
          <p:txBody>
            <a:bodyPr wrap="none">
              <a:spAutoFit/>
            </a:bodyPr>
            <a:lstStyle/>
            <a:p>
              <a:pPr>
                <a:lnSpc>
                  <a:spcPct val="110000"/>
                </a:lnSpc>
              </a:pPr>
              <a:r>
                <a:rPr lang="en-US" altLang="en-US" sz="2000" b="1" dirty="0">
                  <a:solidFill>
                    <a:srgbClr val="000066"/>
                  </a:solidFill>
                  <a:ea typeface="楷体_GB2312" pitchFamily="49" charset="-122"/>
                </a:rPr>
                <a:t>    </a:t>
              </a:r>
              <a:r>
                <a:rPr lang="en-US" altLang="zh-CN" sz="2000" b="1" dirty="0">
                  <a:solidFill>
                    <a:srgbClr val="000066"/>
                  </a:solidFill>
                  <a:ea typeface="楷体_GB2312" pitchFamily="49" charset="-122"/>
                </a:rPr>
                <a:t>C</a:t>
              </a:r>
              <a:r>
                <a:rPr lang="en-US" altLang="zh-CN" sz="2000" b="1" baseline="-25000" dirty="0">
                  <a:solidFill>
                    <a:srgbClr val="000066"/>
                  </a:solidFill>
                  <a:ea typeface="楷体_GB2312" pitchFamily="49" charset="-122"/>
                </a:rPr>
                <a:t>1</a:t>
              </a:r>
              <a:r>
                <a:rPr lang="en-US" altLang="zh-CN" sz="2000" b="1" dirty="0">
                  <a:solidFill>
                    <a:srgbClr val="000066"/>
                  </a:solidFill>
                  <a:ea typeface="楷体_GB2312" pitchFamily="49" charset="-122"/>
                </a:rPr>
                <a:t>                  </a:t>
              </a:r>
              <a:r>
                <a:rPr lang="zh-CN" altLang="en-US" sz="2000" b="1" dirty="0">
                  <a:solidFill>
                    <a:srgbClr val="000066"/>
                  </a:solidFill>
                  <a:ea typeface="楷体_GB2312" pitchFamily="49" charset="-122"/>
                </a:rPr>
                <a:t>高等数学</a:t>
              </a:r>
            </a:p>
            <a:p>
              <a:pPr>
                <a:lnSpc>
                  <a:spcPct val="110000"/>
                </a:lnSpc>
              </a:pPr>
              <a:r>
                <a:rPr lang="zh-CN" altLang="en-US" sz="2000" b="1" dirty="0">
                  <a:solidFill>
                    <a:srgbClr val="000066"/>
                  </a:solidFill>
                  <a:ea typeface="楷体_GB2312" pitchFamily="49" charset="-122"/>
                </a:rPr>
                <a:t>    </a:t>
              </a:r>
              <a:r>
                <a:rPr lang="en-US" altLang="zh-CN" sz="2000" b="1" dirty="0">
                  <a:solidFill>
                    <a:srgbClr val="000066"/>
                  </a:solidFill>
                  <a:ea typeface="楷体_GB2312" pitchFamily="49" charset="-122"/>
                </a:rPr>
                <a:t>C</a:t>
              </a:r>
              <a:r>
                <a:rPr lang="en-US" altLang="zh-CN" sz="2000" b="1" baseline="-25000" dirty="0">
                  <a:solidFill>
                    <a:srgbClr val="000066"/>
                  </a:solidFill>
                  <a:ea typeface="楷体_GB2312" pitchFamily="49" charset="-122"/>
                </a:rPr>
                <a:t>2</a:t>
              </a:r>
              <a:r>
                <a:rPr lang="en-US" altLang="zh-CN" sz="2000" b="1" dirty="0">
                  <a:solidFill>
                    <a:srgbClr val="000066"/>
                  </a:solidFill>
                  <a:ea typeface="楷体_GB2312" pitchFamily="49" charset="-122"/>
                </a:rPr>
                <a:t>              </a:t>
              </a:r>
              <a:r>
                <a:rPr lang="zh-CN" altLang="en-US" sz="2000" b="1" dirty="0">
                  <a:solidFill>
                    <a:srgbClr val="000066"/>
                  </a:solidFill>
                  <a:ea typeface="楷体_GB2312" pitchFamily="49" charset="-122"/>
                </a:rPr>
                <a:t>程序设计基础</a:t>
              </a:r>
            </a:p>
            <a:p>
              <a:pPr>
                <a:lnSpc>
                  <a:spcPct val="110000"/>
                </a:lnSpc>
              </a:pPr>
              <a:r>
                <a:rPr lang="zh-CN" altLang="en-US" sz="2000" b="1" dirty="0">
                  <a:solidFill>
                    <a:srgbClr val="000066"/>
                  </a:solidFill>
                  <a:ea typeface="楷体_GB2312" pitchFamily="49" charset="-122"/>
                </a:rPr>
                <a:t>    </a:t>
              </a:r>
              <a:r>
                <a:rPr lang="en-US" altLang="zh-CN" sz="2000" b="1" dirty="0">
                  <a:solidFill>
                    <a:srgbClr val="000066"/>
                  </a:solidFill>
                  <a:ea typeface="楷体_GB2312" pitchFamily="49" charset="-122"/>
                </a:rPr>
                <a:t>C</a:t>
              </a:r>
              <a:r>
                <a:rPr lang="en-US" altLang="zh-CN" sz="2000" b="1" baseline="-25000" dirty="0">
                  <a:solidFill>
                    <a:srgbClr val="000066"/>
                  </a:solidFill>
                  <a:ea typeface="楷体_GB2312" pitchFamily="49" charset="-122"/>
                </a:rPr>
                <a:t>3</a:t>
              </a:r>
              <a:r>
                <a:rPr lang="en-US" altLang="zh-CN" sz="2000" b="1" dirty="0">
                  <a:solidFill>
                    <a:srgbClr val="000066"/>
                  </a:solidFill>
                  <a:ea typeface="楷体_GB2312" pitchFamily="49" charset="-122"/>
                </a:rPr>
                <a:t>                  </a:t>
              </a:r>
              <a:r>
                <a:rPr lang="zh-CN" altLang="en-US" sz="2000" b="1" dirty="0">
                  <a:solidFill>
                    <a:srgbClr val="000066"/>
                  </a:solidFill>
                  <a:ea typeface="楷体_GB2312" pitchFamily="49" charset="-122"/>
                </a:rPr>
                <a:t>离散数学             </a:t>
              </a:r>
              <a:r>
                <a:rPr lang="en-US" altLang="zh-CN" sz="2000" b="1" dirty="0">
                  <a:solidFill>
                    <a:srgbClr val="000066"/>
                  </a:solidFill>
                  <a:ea typeface="楷体_GB2312" pitchFamily="49" charset="-122"/>
                </a:rPr>
                <a:t>C</a:t>
              </a:r>
              <a:r>
                <a:rPr lang="en-US" altLang="zh-CN" sz="2000" b="1" baseline="-25000" dirty="0">
                  <a:solidFill>
                    <a:srgbClr val="000066"/>
                  </a:solidFill>
                  <a:ea typeface="楷体_GB2312" pitchFamily="49" charset="-122"/>
                </a:rPr>
                <a:t>1</a:t>
              </a:r>
              <a:r>
                <a:rPr lang="en-US" altLang="zh-CN" sz="2000" b="1" dirty="0">
                  <a:solidFill>
                    <a:srgbClr val="000066"/>
                  </a:solidFill>
                  <a:ea typeface="楷体_GB2312" pitchFamily="49" charset="-122"/>
                </a:rPr>
                <a:t>,  C</a:t>
              </a:r>
              <a:r>
                <a:rPr lang="en-US" altLang="zh-CN" sz="2000" b="1" baseline="-25000" dirty="0">
                  <a:solidFill>
                    <a:srgbClr val="000066"/>
                  </a:solidFill>
                  <a:ea typeface="楷体_GB2312" pitchFamily="49" charset="-122"/>
                </a:rPr>
                <a:t>2</a:t>
              </a:r>
              <a:r>
                <a:rPr lang="en-US" altLang="zh-CN" sz="2000" b="1" dirty="0">
                  <a:solidFill>
                    <a:srgbClr val="000066"/>
                  </a:solidFill>
                  <a:ea typeface="楷体_GB2312" pitchFamily="49" charset="-122"/>
                </a:rPr>
                <a:t>  </a:t>
              </a:r>
            </a:p>
            <a:p>
              <a:pPr>
                <a:lnSpc>
                  <a:spcPct val="110000"/>
                </a:lnSpc>
              </a:pPr>
              <a:r>
                <a:rPr lang="en-US" altLang="zh-CN" sz="2000" b="1" dirty="0">
                  <a:solidFill>
                    <a:srgbClr val="000066"/>
                  </a:solidFill>
                  <a:ea typeface="楷体_GB2312" pitchFamily="49" charset="-122"/>
                </a:rPr>
                <a:t>    C</a:t>
              </a:r>
              <a:r>
                <a:rPr lang="en-US" altLang="zh-CN" sz="2000" b="1" baseline="-25000" dirty="0">
                  <a:solidFill>
                    <a:srgbClr val="000066"/>
                  </a:solidFill>
                  <a:ea typeface="楷体_GB2312" pitchFamily="49" charset="-122"/>
                </a:rPr>
                <a:t>4</a:t>
              </a:r>
              <a:r>
                <a:rPr lang="en-US" altLang="zh-CN" sz="2000" b="1" dirty="0">
                  <a:solidFill>
                    <a:srgbClr val="000066"/>
                  </a:solidFill>
                  <a:ea typeface="楷体_GB2312" pitchFamily="49" charset="-122"/>
                </a:rPr>
                <a:t>                  </a:t>
              </a:r>
              <a:r>
                <a:rPr lang="zh-CN" altLang="en-US" sz="2000" b="1" dirty="0">
                  <a:solidFill>
                    <a:srgbClr val="000066"/>
                  </a:solidFill>
                  <a:ea typeface="楷体_GB2312" pitchFamily="49" charset="-122"/>
                </a:rPr>
                <a:t>数据结构             </a:t>
              </a:r>
              <a:r>
                <a:rPr lang="en-US" altLang="zh-CN" sz="2000" b="1" dirty="0">
                  <a:solidFill>
                    <a:srgbClr val="000066"/>
                  </a:solidFill>
                  <a:ea typeface="楷体_GB2312" pitchFamily="49" charset="-122"/>
                </a:rPr>
                <a:t>C</a:t>
              </a:r>
              <a:r>
                <a:rPr lang="en-US" altLang="zh-CN" sz="2000" b="1" baseline="-25000" dirty="0">
                  <a:solidFill>
                    <a:srgbClr val="000066"/>
                  </a:solidFill>
                  <a:ea typeface="楷体_GB2312" pitchFamily="49" charset="-122"/>
                </a:rPr>
                <a:t>3</a:t>
              </a:r>
              <a:r>
                <a:rPr lang="en-US" altLang="zh-CN" sz="2000" b="1" dirty="0">
                  <a:solidFill>
                    <a:srgbClr val="000066"/>
                  </a:solidFill>
                  <a:ea typeface="楷体_GB2312" pitchFamily="49" charset="-122"/>
                </a:rPr>
                <a:t>,  C</a:t>
              </a:r>
              <a:r>
                <a:rPr lang="en-US" altLang="zh-CN" sz="2000" b="1" baseline="-25000" dirty="0">
                  <a:solidFill>
                    <a:srgbClr val="000066"/>
                  </a:solidFill>
                  <a:ea typeface="楷体_GB2312" pitchFamily="49" charset="-122"/>
                </a:rPr>
                <a:t>2</a:t>
              </a:r>
              <a:endParaRPr lang="en-US" altLang="zh-CN" sz="2000" b="1" dirty="0">
                <a:solidFill>
                  <a:srgbClr val="000066"/>
                </a:solidFill>
                <a:ea typeface="楷体_GB2312" pitchFamily="49" charset="-122"/>
              </a:endParaRPr>
            </a:p>
            <a:p>
              <a:pPr>
                <a:lnSpc>
                  <a:spcPct val="110000"/>
                </a:lnSpc>
              </a:pPr>
              <a:r>
                <a:rPr lang="en-US" altLang="zh-CN" sz="2000" b="1" dirty="0">
                  <a:solidFill>
                    <a:srgbClr val="000066"/>
                  </a:solidFill>
                  <a:ea typeface="楷体_GB2312" pitchFamily="49" charset="-122"/>
                </a:rPr>
                <a:t>    C</a:t>
              </a:r>
              <a:r>
                <a:rPr lang="en-US" altLang="zh-CN" sz="2000" b="1" baseline="-25000" dirty="0">
                  <a:solidFill>
                    <a:srgbClr val="000066"/>
                  </a:solidFill>
                  <a:ea typeface="楷体_GB2312" pitchFamily="49" charset="-122"/>
                </a:rPr>
                <a:t>5</a:t>
              </a:r>
              <a:r>
                <a:rPr lang="en-US" altLang="zh-CN" sz="2000" b="1" dirty="0">
                  <a:solidFill>
                    <a:srgbClr val="000066"/>
                  </a:solidFill>
                  <a:ea typeface="楷体_GB2312" pitchFamily="49" charset="-122"/>
                </a:rPr>
                <a:t>          </a:t>
              </a:r>
              <a:r>
                <a:rPr lang="zh-CN" altLang="en-US" sz="2000" b="1" dirty="0">
                  <a:solidFill>
                    <a:srgbClr val="000066"/>
                  </a:solidFill>
                  <a:ea typeface="楷体_GB2312" pitchFamily="49" charset="-122"/>
                </a:rPr>
                <a:t>高级语言程序设计      </a:t>
              </a:r>
              <a:r>
                <a:rPr lang="en-US" altLang="zh-CN" sz="2000" b="1" dirty="0">
                  <a:solidFill>
                    <a:srgbClr val="000066"/>
                  </a:solidFill>
                  <a:ea typeface="楷体_GB2312" pitchFamily="49" charset="-122"/>
                </a:rPr>
                <a:t>C</a:t>
              </a:r>
              <a:r>
                <a:rPr lang="en-US" altLang="zh-CN" sz="2000" b="1" baseline="-25000" dirty="0">
                  <a:solidFill>
                    <a:srgbClr val="000066"/>
                  </a:solidFill>
                  <a:ea typeface="楷体_GB2312" pitchFamily="49" charset="-122"/>
                </a:rPr>
                <a:t>2</a:t>
              </a:r>
              <a:endParaRPr lang="en-US" altLang="zh-CN" sz="2000" b="1" dirty="0">
                <a:solidFill>
                  <a:srgbClr val="000066"/>
                </a:solidFill>
                <a:ea typeface="楷体_GB2312" pitchFamily="49" charset="-122"/>
              </a:endParaRPr>
            </a:p>
            <a:p>
              <a:pPr>
                <a:lnSpc>
                  <a:spcPct val="110000"/>
                </a:lnSpc>
              </a:pPr>
              <a:r>
                <a:rPr lang="en-US" altLang="zh-CN" sz="2000" b="1" dirty="0">
                  <a:solidFill>
                    <a:srgbClr val="000066"/>
                  </a:solidFill>
                  <a:ea typeface="楷体_GB2312" pitchFamily="49" charset="-122"/>
                </a:rPr>
                <a:t>    C</a:t>
              </a:r>
              <a:r>
                <a:rPr lang="en-US" altLang="zh-CN" sz="2000" b="1" baseline="-25000" dirty="0">
                  <a:solidFill>
                    <a:srgbClr val="000066"/>
                  </a:solidFill>
                  <a:ea typeface="楷体_GB2312" pitchFamily="49" charset="-122"/>
                </a:rPr>
                <a:t>6</a:t>
              </a:r>
              <a:r>
                <a:rPr lang="en-US" altLang="zh-CN" sz="2000" b="1" dirty="0">
                  <a:solidFill>
                    <a:srgbClr val="000066"/>
                  </a:solidFill>
                  <a:ea typeface="楷体_GB2312" pitchFamily="49" charset="-122"/>
                </a:rPr>
                <a:t>                  </a:t>
              </a:r>
              <a:r>
                <a:rPr lang="zh-CN" altLang="en-US" sz="2000" b="1" dirty="0">
                  <a:solidFill>
                    <a:srgbClr val="000066"/>
                  </a:solidFill>
                  <a:ea typeface="楷体_GB2312" pitchFamily="49" charset="-122"/>
                </a:rPr>
                <a:t>编译方法             </a:t>
              </a:r>
              <a:r>
                <a:rPr lang="en-US" altLang="zh-CN" sz="2000" b="1" dirty="0">
                  <a:solidFill>
                    <a:srgbClr val="000066"/>
                  </a:solidFill>
                  <a:ea typeface="楷体_GB2312" pitchFamily="49" charset="-122"/>
                </a:rPr>
                <a:t>C</a:t>
              </a:r>
              <a:r>
                <a:rPr lang="en-US" altLang="zh-CN" sz="2000" b="1" baseline="-25000" dirty="0">
                  <a:solidFill>
                    <a:srgbClr val="000066"/>
                  </a:solidFill>
                  <a:ea typeface="楷体_GB2312" pitchFamily="49" charset="-122"/>
                </a:rPr>
                <a:t>5</a:t>
              </a:r>
              <a:r>
                <a:rPr lang="en-US" altLang="zh-CN" sz="2000" b="1" dirty="0">
                  <a:solidFill>
                    <a:srgbClr val="000066"/>
                  </a:solidFill>
                  <a:ea typeface="楷体_GB2312" pitchFamily="49" charset="-122"/>
                </a:rPr>
                <a:t>,  C</a:t>
              </a:r>
              <a:r>
                <a:rPr lang="en-US" altLang="zh-CN" sz="2000" b="1" baseline="-25000" dirty="0">
                  <a:solidFill>
                    <a:srgbClr val="000066"/>
                  </a:solidFill>
                  <a:ea typeface="楷体_GB2312" pitchFamily="49" charset="-122"/>
                </a:rPr>
                <a:t>4</a:t>
              </a:r>
              <a:endParaRPr lang="en-US" altLang="zh-CN" sz="2000" b="1" dirty="0">
                <a:solidFill>
                  <a:srgbClr val="000066"/>
                </a:solidFill>
                <a:ea typeface="楷体_GB2312" pitchFamily="49" charset="-122"/>
              </a:endParaRPr>
            </a:p>
            <a:p>
              <a:pPr>
                <a:lnSpc>
                  <a:spcPct val="110000"/>
                </a:lnSpc>
              </a:pPr>
              <a:r>
                <a:rPr lang="en-US" altLang="zh-CN" sz="2000" b="1" dirty="0">
                  <a:solidFill>
                    <a:srgbClr val="000066"/>
                  </a:solidFill>
                  <a:ea typeface="楷体_GB2312" pitchFamily="49" charset="-122"/>
                </a:rPr>
                <a:t>    C</a:t>
              </a:r>
              <a:r>
                <a:rPr lang="en-US" altLang="zh-CN" sz="2000" b="1" baseline="-25000" dirty="0">
                  <a:solidFill>
                    <a:srgbClr val="000066"/>
                  </a:solidFill>
                  <a:ea typeface="楷体_GB2312" pitchFamily="49" charset="-122"/>
                </a:rPr>
                <a:t>7</a:t>
              </a:r>
              <a:r>
                <a:rPr lang="en-US" altLang="zh-CN" sz="2000" b="1" dirty="0">
                  <a:solidFill>
                    <a:srgbClr val="000066"/>
                  </a:solidFill>
                  <a:ea typeface="楷体_GB2312" pitchFamily="49" charset="-122"/>
                </a:rPr>
                <a:t>                  </a:t>
              </a:r>
              <a:r>
                <a:rPr lang="zh-CN" altLang="en-US" sz="2000" b="1" dirty="0">
                  <a:solidFill>
                    <a:srgbClr val="000066"/>
                  </a:solidFill>
                  <a:ea typeface="楷体_GB2312" pitchFamily="49" charset="-122"/>
                </a:rPr>
                <a:t>操作系统             </a:t>
              </a:r>
              <a:r>
                <a:rPr lang="en-US" altLang="zh-CN" sz="2000" b="1" dirty="0">
                  <a:solidFill>
                    <a:srgbClr val="000066"/>
                  </a:solidFill>
                  <a:ea typeface="楷体_GB2312" pitchFamily="49" charset="-122"/>
                </a:rPr>
                <a:t>C</a:t>
              </a:r>
              <a:r>
                <a:rPr lang="en-US" altLang="zh-CN" sz="2000" b="1" baseline="-25000" dirty="0">
                  <a:solidFill>
                    <a:srgbClr val="000066"/>
                  </a:solidFill>
                  <a:ea typeface="楷体_GB2312" pitchFamily="49" charset="-122"/>
                </a:rPr>
                <a:t>4</a:t>
              </a:r>
              <a:r>
                <a:rPr lang="en-US" altLang="zh-CN" sz="2000" b="1" dirty="0">
                  <a:solidFill>
                    <a:srgbClr val="000066"/>
                  </a:solidFill>
                  <a:ea typeface="楷体_GB2312" pitchFamily="49" charset="-122"/>
                </a:rPr>
                <a:t>,  C</a:t>
              </a:r>
              <a:r>
                <a:rPr lang="en-US" altLang="zh-CN" sz="2000" b="1" baseline="-25000" dirty="0">
                  <a:solidFill>
                    <a:srgbClr val="000066"/>
                  </a:solidFill>
                  <a:ea typeface="楷体_GB2312" pitchFamily="49" charset="-122"/>
                </a:rPr>
                <a:t>9</a:t>
              </a:r>
              <a:endParaRPr lang="en-US" altLang="zh-CN" sz="2000" b="1" dirty="0">
                <a:solidFill>
                  <a:srgbClr val="000066"/>
                </a:solidFill>
                <a:ea typeface="楷体_GB2312" pitchFamily="49" charset="-122"/>
              </a:endParaRPr>
            </a:p>
            <a:p>
              <a:pPr>
                <a:lnSpc>
                  <a:spcPct val="110000"/>
                </a:lnSpc>
              </a:pPr>
              <a:r>
                <a:rPr lang="en-US" altLang="zh-CN" sz="2000" b="1" dirty="0">
                  <a:solidFill>
                    <a:srgbClr val="000066"/>
                  </a:solidFill>
                  <a:ea typeface="楷体_GB2312" pitchFamily="49" charset="-122"/>
                </a:rPr>
                <a:t>    C</a:t>
              </a:r>
              <a:r>
                <a:rPr lang="en-US" altLang="zh-CN" sz="2000" b="1" baseline="-25000" dirty="0">
                  <a:solidFill>
                    <a:srgbClr val="000066"/>
                  </a:solidFill>
                  <a:ea typeface="楷体_GB2312" pitchFamily="49" charset="-122"/>
                </a:rPr>
                <a:t>8</a:t>
              </a:r>
              <a:r>
                <a:rPr lang="en-US" altLang="zh-CN" sz="2000" b="1" dirty="0">
                  <a:solidFill>
                    <a:srgbClr val="000066"/>
                  </a:solidFill>
                  <a:ea typeface="楷体_GB2312" pitchFamily="49" charset="-122"/>
                </a:rPr>
                <a:t>                  </a:t>
              </a:r>
              <a:r>
                <a:rPr lang="zh-CN" altLang="en-US" sz="2000" b="1" dirty="0">
                  <a:solidFill>
                    <a:srgbClr val="000066"/>
                  </a:solidFill>
                  <a:ea typeface="楷体_GB2312" pitchFamily="49" charset="-122"/>
                </a:rPr>
                <a:t>普通物理             </a:t>
              </a:r>
              <a:r>
                <a:rPr lang="en-US" altLang="zh-CN" sz="2000" b="1" dirty="0">
                  <a:solidFill>
                    <a:srgbClr val="000066"/>
                  </a:solidFill>
                  <a:ea typeface="楷体_GB2312" pitchFamily="49" charset="-122"/>
                </a:rPr>
                <a:t>C</a:t>
              </a:r>
              <a:r>
                <a:rPr lang="en-US" altLang="zh-CN" sz="2000" b="1" baseline="-25000" dirty="0">
                  <a:solidFill>
                    <a:srgbClr val="000066"/>
                  </a:solidFill>
                  <a:ea typeface="楷体_GB2312" pitchFamily="49" charset="-122"/>
                </a:rPr>
                <a:t>1</a:t>
              </a:r>
              <a:endParaRPr lang="en-US" altLang="zh-CN" sz="2000" b="1" dirty="0">
                <a:solidFill>
                  <a:srgbClr val="000066"/>
                </a:solidFill>
                <a:ea typeface="楷体_GB2312" pitchFamily="49" charset="-122"/>
              </a:endParaRPr>
            </a:p>
            <a:p>
              <a:pPr>
                <a:lnSpc>
                  <a:spcPct val="110000"/>
                </a:lnSpc>
              </a:pPr>
              <a:r>
                <a:rPr lang="en-US" altLang="zh-CN" sz="2000" b="1" dirty="0">
                  <a:solidFill>
                    <a:srgbClr val="000066"/>
                  </a:solidFill>
                  <a:ea typeface="楷体_GB2312" pitchFamily="49" charset="-122"/>
                </a:rPr>
                <a:t>    C</a:t>
              </a:r>
              <a:r>
                <a:rPr lang="en-US" altLang="zh-CN" sz="2000" b="1" baseline="-25000" dirty="0">
                  <a:solidFill>
                    <a:srgbClr val="000066"/>
                  </a:solidFill>
                  <a:ea typeface="楷体_GB2312" pitchFamily="49" charset="-122"/>
                </a:rPr>
                <a:t>9</a:t>
              </a:r>
              <a:r>
                <a:rPr lang="en-US" altLang="zh-CN" sz="2000" b="1" dirty="0">
                  <a:solidFill>
                    <a:srgbClr val="000066"/>
                  </a:solidFill>
                  <a:ea typeface="楷体_GB2312" pitchFamily="49" charset="-122"/>
                </a:rPr>
                <a:t>                 </a:t>
              </a:r>
              <a:r>
                <a:rPr lang="zh-CN" altLang="en-US" sz="2000" b="1" dirty="0">
                  <a:solidFill>
                    <a:srgbClr val="000066"/>
                  </a:solidFill>
                  <a:ea typeface="楷体_GB2312" pitchFamily="49" charset="-122"/>
                </a:rPr>
                <a:t>计算机原理          </a:t>
              </a:r>
              <a:r>
                <a:rPr lang="en-US" altLang="zh-CN" sz="2000" b="1" dirty="0">
                  <a:solidFill>
                    <a:srgbClr val="000066"/>
                  </a:solidFill>
                  <a:ea typeface="楷体_GB2312" pitchFamily="49" charset="-122"/>
                </a:rPr>
                <a:t>C</a:t>
              </a:r>
              <a:r>
                <a:rPr lang="en-US" altLang="zh-CN" sz="2000" b="1" baseline="-25000" dirty="0">
                  <a:solidFill>
                    <a:srgbClr val="000066"/>
                  </a:solidFill>
                  <a:ea typeface="楷体_GB2312" pitchFamily="49" charset="-122"/>
                </a:rPr>
                <a:t>8</a:t>
              </a:r>
              <a:r>
                <a:rPr lang="en-US" altLang="zh-CN" sz="1400" b="1" dirty="0">
                  <a:solidFill>
                    <a:srgbClr val="000066"/>
                  </a:solidFill>
                  <a:ea typeface="楷体_GB2312" pitchFamily="49" charset="-122"/>
                </a:rPr>
                <a:t>     </a:t>
              </a:r>
            </a:p>
          </p:txBody>
        </p:sp>
        <p:sp>
          <p:nvSpPr>
            <p:cNvPr id="26" name="Line 3"/>
            <p:cNvSpPr>
              <a:spLocks noChangeShapeType="1"/>
            </p:cNvSpPr>
            <p:nvPr/>
          </p:nvSpPr>
          <p:spPr bwMode="auto">
            <a:xfrm>
              <a:off x="2657918" y="1485353"/>
              <a:ext cx="1428760" cy="0"/>
            </a:xfrm>
            <a:prstGeom prst="line">
              <a:avLst/>
            </a:prstGeom>
            <a:noFill/>
            <a:ln w="57150" cmpd="thinThick">
              <a:solidFill>
                <a:srgbClr val="FF0000"/>
              </a:solidFill>
              <a:round/>
              <a:headEnd/>
              <a:tailEnd/>
            </a:ln>
          </p:spPr>
          <p:txBody>
            <a:bodyPr wrap="none" anchor="ctr"/>
            <a:lstStyle/>
            <a:p>
              <a:endParaRPr lang="zh-CN" altLang="en-US" sz="1400"/>
            </a:p>
          </p:txBody>
        </p:sp>
        <p:sp>
          <p:nvSpPr>
            <p:cNvPr id="27" name="Line 4"/>
            <p:cNvSpPr>
              <a:spLocks noChangeShapeType="1"/>
            </p:cNvSpPr>
            <p:nvPr/>
          </p:nvSpPr>
          <p:spPr bwMode="auto">
            <a:xfrm>
              <a:off x="802118" y="1485353"/>
              <a:ext cx="1427173" cy="0"/>
            </a:xfrm>
            <a:prstGeom prst="line">
              <a:avLst/>
            </a:prstGeom>
            <a:noFill/>
            <a:ln w="57150" cmpd="thinThick">
              <a:solidFill>
                <a:srgbClr val="FF0000"/>
              </a:solidFill>
              <a:round/>
              <a:headEnd/>
              <a:tailEnd/>
            </a:ln>
          </p:spPr>
          <p:txBody>
            <a:bodyPr wrap="none" anchor="ctr"/>
            <a:lstStyle/>
            <a:p>
              <a:endParaRPr lang="zh-CN" altLang="en-US" sz="1400"/>
            </a:p>
          </p:txBody>
        </p:sp>
        <p:sp>
          <p:nvSpPr>
            <p:cNvPr id="28" name="Line 5"/>
            <p:cNvSpPr>
              <a:spLocks noChangeShapeType="1"/>
            </p:cNvSpPr>
            <p:nvPr/>
          </p:nvSpPr>
          <p:spPr bwMode="auto">
            <a:xfrm>
              <a:off x="4515306" y="1485353"/>
              <a:ext cx="1285884" cy="0"/>
            </a:xfrm>
            <a:prstGeom prst="line">
              <a:avLst/>
            </a:prstGeom>
            <a:noFill/>
            <a:ln w="57150" cmpd="thinThick">
              <a:solidFill>
                <a:srgbClr val="FF0000"/>
              </a:solidFill>
              <a:round/>
              <a:headEnd/>
              <a:tailEnd/>
            </a:ln>
          </p:spPr>
          <p:txBody>
            <a:bodyPr wrap="none" anchor="ctr"/>
            <a:lstStyle/>
            <a:p>
              <a:endParaRPr lang="zh-CN" altLang="en-US" sz="1400"/>
            </a:p>
          </p:txBody>
        </p:sp>
        <p:sp>
          <p:nvSpPr>
            <p:cNvPr id="29" name="Text Box 6"/>
            <p:cNvSpPr txBox="1">
              <a:spLocks noChangeArrowheads="1"/>
            </p:cNvSpPr>
            <p:nvPr/>
          </p:nvSpPr>
          <p:spPr bwMode="auto">
            <a:xfrm>
              <a:off x="816404" y="1056725"/>
              <a:ext cx="8032750" cy="400110"/>
            </a:xfrm>
            <a:prstGeom prst="rect">
              <a:avLst/>
            </a:prstGeom>
            <a:noFill/>
            <a:ln w="9525">
              <a:noFill/>
              <a:miter lim="800000"/>
              <a:headEnd/>
              <a:tailEnd/>
            </a:ln>
          </p:spPr>
          <p:txBody>
            <a:bodyPr>
              <a:spAutoFit/>
            </a:bodyPr>
            <a:lstStyle/>
            <a:p>
              <a:r>
                <a:rPr lang="en-US" altLang="zh-CN" sz="1400" b="1" dirty="0">
                  <a:solidFill>
                    <a:srgbClr val="008000"/>
                  </a:solidFill>
                  <a:ea typeface="隶书" pitchFamily="49" charset="-122"/>
                </a:rPr>
                <a:t>  </a:t>
              </a:r>
              <a:r>
                <a:rPr lang="zh-CN" altLang="en-US" sz="2000" b="1" dirty="0">
                  <a:solidFill>
                    <a:srgbClr val="008000"/>
                  </a:solidFill>
                  <a:latin typeface="宋体" pitchFamily="2" charset="-122"/>
                </a:rPr>
                <a:t>课程代号      课程名称      先修课程</a:t>
              </a:r>
            </a:p>
          </p:txBody>
        </p:sp>
      </p:grpSp>
      <p:sp>
        <p:nvSpPr>
          <p:cNvPr id="30" name="Rectangle 7"/>
          <p:cNvSpPr>
            <a:spLocks noChangeArrowheads="1"/>
          </p:cNvSpPr>
          <p:nvPr/>
        </p:nvSpPr>
        <p:spPr bwMode="auto">
          <a:xfrm>
            <a:off x="3817381" y="5157192"/>
            <a:ext cx="3430747" cy="523220"/>
          </a:xfrm>
          <a:prstGeom prst="rect">
            <a:avLst/>
          </a:prstGeom>
          <a:noFill/>
          <a:ln w="9525">
            <a:noFill/>
            <a:miter lim="800000"/>
            <a:headEnd/>
            <a:tailEnd/>
          </a:ln>
        </p:spPr>
        <p:txBody>
          <a:bodyPr wrap="none">
            <a:spAutoFit/>
          </a:bodyPr>
          <a:lstStyle/>
          <a:p>
            <a:r>
              <a:rPr lang="zh-CN" altLang="en-US" sz="2800" b="1" dirty="0">
                <a:solidFill>
                  <a:srgbClr val="008080"/>
                </a:solidFill>
                <a:ea typeface="黑体" pitchFamily="49" charset="-122"/>
              </a:rPr>
              <a:t>学生课程学习工程图</a:t>
            </a:r>
            <a:endParaRPr lang="zh-CN" altLang="en-US" dirty="0">
              <a:ea typeface="黑体"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Example of Topological Sorting</a:t>
            </a:r>
            <a:endParaRPr lang="zh-CN" altLang="en-US" dirty="0"/>
          </a:p>
        </p:txBody>
      </p:sp>
      <p:sp>
        <p:nvSpPr>
          <p:cNvPr id="3" name="内容占位符 2"/>
          <p:cNvSpPr>
            <a:spLocks noGrp="1"/>
          </p:cNvSpPr>
          <p:nvPr>
            <p:ph idx="1"/>
          </p:nvPr>
        </p:nvSpPr>
        <p:spPr>
          <a:xfrm>
            <a:off x="476251" y="928671"/>
            <a:ext cx="7779989" cy="5572125"/>
          </a:xfrm>
        </p:spPr>
        <p:txBody>
          <a:bodyPr/>
          <a:lstStyle/>
          <a:p>
            <a:pPr eaLnBrk="1" hangingPunct="1">
              <a:lnSpc>
                <a:spcPct val="90000"/>
              </a:lnSpc>
            </a:pPr>
            <a:r>
              <a:rPr lang="en-US" altLang="zh-CN" dirty="0" smtClean="0"/>
              <a:t>The graph shown in the right has many valid topological sorts, including:</a:t>
            </a:r>
          </a:p>
          <a:p>
            <a:pPr lvl="1" eaLnBrk="1" hangingPunct="1">
              <a:lnSpc>
                <a:spcPct val="90000"/>
              </a:lnSpc>
            </a:pPr>
            <a:r>
              <a:rPr lang="en-US" altLang="zh-CN" sz="2200" dirty="0"/>
              <a:t>7, 5, 3, 11, 8, 2, 9, 10 (visual left-to-right, top-to-bottom) </a:t>
            </a:r>
          </a:p>
          <a:p>
            <a:pPr lvl="1" eaLnBrk="1" hangingPunct="1">
              <a:lnSpc>
                <a:spcPct val="90000"/>
              </a:lnSpc>
            </a:pPr>
            <a:r>
              <a:rPr lang="en-US" altLang="zh-CN" sz="2200" dirty="0"/>
              <a:t>3, 5, 7, 8, 11, 2, 9, 10 (smallest-numbered available vertex first) </a:t>
            </a:r>
          </a:p>
          <a:p>
            <a:pPr lvl="1" eaLnBrk="1" hangingPunct="1">
              <a:lnSpc>
                <a:spcPct val="90000"/>
              </a:lnSpc>
            </a:pPr>
            <a:r>
              <a:rPr lang="en-US" altLang="zh-CN" sz="2200" dirty="0"/>
              <a:t>3, 7, 8, 5, 11, 10, 2, 9</a:t>
            </a:r>
          </a:p>
          <a:p>
            <a:pPr lvl="1" eaLnBrk="1" hangingPunct="1">
              <a:lnSpc>
                <a:spcPct val="90000"/>
              </a:lnSpc>
            </a:pPr>
            <a:r>
              <a:rPr lang="en-US" altLang="zh-CN" sz="2200" dirty="0"/>
              <a:t>5, 7, 3, 8, 11, 10, 9, 2 (least number of edges first) </a:t>
            </a:r>
          </a:p>
          <a:p>
            <a:pPr lvl="1" eaLnBrk="1" hangingPunct="1">
              <a:lnSpc>
                <a:spcPct val="90000"/>
              </a:lnSpc>
            </a:pPr>
            <a:r>
              <a:rPr lang="en-US" altLang="zh-CN" sz="2200" dirty="0"/>
              <a:t>7, 5, 11, 3, 10, 8, 9, 2 (largest-numbered available vertex first) </a:t>
            </a:r>
          </a:p>
          <a:p>
            <a:pPr lvl="1" eaLnBrk="1" hangingPunct="1">
              <a:lnSpc>
                <a:spcPct val="90000"/>
              </a:lnSpc>
            </a:pPr>
            <a:r>
              <a:rPr lang="en-US" altLang="zh-CN" sz="2200" dirty="0"/>
              <a:t>7, 5, 11, 2, 3, 8, 9, 10 </a:t>
            </a:r>
            <a:endParaRPr lang="zh-CN" altLang="en-US" sz="2200" dirty="0"/>
          </a:p>
          <a:p>
            <a:endParaRPr lang="zh-CN" altLang="en-US" dirty="0"/>
          </a:p>
        </p:txBody>
      </p:sp>
      <p:pic>
        <p:nvPicPr>
          <p:cNvPr id="4" name="Picture 4"/>
          <p:cNvPicPr>
            <a:picLocks noChangeAspect="1" noChangeArrowheads="1"/>
          </p:cNvPicPr>
          <p:nvPr/>
        </p:nvPicPr>
        <p:blipFill>
          <a:blip r:embed="rId2" cstate="print"/>
          <a:srcRect/>
          <a:stretch>
            <a:fillRect/>
          </a:stretch>
        </p:blipFill>
        <p:spPr bwMode="auto">
          <a:xfrm>
            <a:off x="8832304" y="2060848"/>
            <a:ext cx="2665413" cy="2359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Topological Sorting: </a:t>
            </a:r>
            <a:r>
              <a:rPr lang="en-US" altLang="zh-CN" sz="2400" b="1" dirty="0"/>
              <a:t>Breadth-First Algorithm</a:t>
            </a:r>
            <a:endParaRPr lang="zh-CN" altLang="en-US" sz="2400" dirty="0"/>
          </a:p>
        </p:txBody>
      </p:sp>
      <p:sp>
        <p:nvSpPr>
          <p:cNvPr id="3" name="内容占位符 2"/>
          <p:cNvSpPr>
            <a:spLocks noGrp="1"/>
          </p:cNvSpPr>
          <p:nvPr>
            <p:ph idx="1"/>
          </p:nvPr>
        </p:nvSpPr>
        <p:spPr/>
        <p:txBody>
          <a:bodyPr/>
          <a:lstStyle/>
          <a:p>
            <a:pPr eaLnBrk="1" hangingPunct="1">
              <a:lnSpc>
                <a:spcPct val="90000"/>
              </a:lnSpc>
            </a:pPr>
            <a:r>
              <a:rPr lang="en-US" altLang="zh-CN" dirty="0" smtClean="0"/>
              <a:t>First, find a complete set of “</a:t>
            </a:r>
            <a:r>
              <a:rPr lang="en-US" altLang="zh-CN" dirty="0" smtClean="0">
                <a:solidFill>
                  <a:srgbClr val="FF0000"/>
                </a:solidFill>
              </a:rPr>
              <a:t>source vertices</a:t>
            </a:r>
            <a:r>
              <a:rPr lang="en-US" altLang="zh-CN" dirty="0" smtClean="0"/>
              <a:t>" which have </a:t>
            </a:r>
            <a:r>
              <a:rPr lang="en-US" altLang="zh-CN" dirty="0" smtClean="0">
                <a:solidFill>
                  <a:srgbClr val="FF0000"/>
                </a:solidFill>
              </a:rPr>
              <a:t>no incoming edges</a:t>
            </a:r>
            <a:r>
              <a:rPr lang="en-US" altLang="zh-CN" dirty="0" smtClean="0"/>
              <a:t>; at least one such node must exist if the graph is acyclic. Deleting all the outgoing edges of these source vertices will create new source vertices, which can then sit comfortably to the immediate right of the first set. We repeat until all vertices are accounted for.</a:t>
            </a:r>
            <a:endParaRPr lang="en-US" altLang="zh-CN" sz="1800" dirty="0"/>
          </a:p>
          <a:p>
            <a:endParaRPr lang="zh-CN" altLang="en-US" dirty="0"/>
          </a:p>
        </p:txBody>
      </p:sp>
      <p:pic>
        <p:nvPicPr>
          <p:cNvPr id="13314" name="Picture 2"/>
          <p:cNvPicPr>
            <a:picLocks noChangeAspect="1" noChangeArrowheads="1"/>
          </p:cNvPicPr>
          <p:nvPr/>
        </p:nvPicPr>
        <p:blipFill>
          <a:blip r:embed="rId2" cstate="print"/>
          <a:srcRect/>
          <a:stretch>
            <a:fillRect/>
          </a:stretch>
        </p:blipFill>
        <p:spPr bwMode="auto">
          <a:xfrm>
            <a:off x="2711624" y="2708920"/>
            <a:ext cx="5715040" cy="366540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dirty="0"/>
              <a:t>Breadth-First Example for Topological Sorting</a:t>
            </a:r>
            <a:endParaRPr lang="zh-CN" altLang="en-US" sz="2400" dirty="0"/>
          </a:p>
        </p:txBody>
      </p:sp>
      <p:grpSp>
        <p:nvGrpSpPr>
          <p:cNvPr id="3" name="组合 53"/>
          <p:cNvGrpSpPr/>
          <p:nvPr/>
        </p:nvGrpSpPr>
        <p:grpSpPr>
          <a:xfrm>
            <a:off x="2133600" y="1066801"/>
            <a:ext cx="3733800" cy="2487673"/>
            <a:chOff x="609600" y="1066800"/>
            <a:chExt cx="3733800" cy="2487673"/>
          </a:xfrm>
        </p:grpSpPr>
        <p:grpSp>
          <p:nvGrpSpPr>
            <p:cNvPr id="53" name="组合 52"/>
            <p:cNvGrpSpPr/>
            <p:nvPr/>
          </p:nvGrpSpPr>
          <p:grpSpPr>
            <a:xfrm>
              <a:off x="609600" y="1066800"/>
              <a:ext cx="3733800" cy="1981200"/>
              <a:chOff x="609600" y="1066800"/>
              <a:chExt cx="3733800" cy="1981200"/>
            </a:xfrm>
          </p:grpSpPr>
          <p:sp>
            <p:nvSpPr>
              <p:cNvPr id="4" name="Line 2"/>
              <p:cNvSpPr>
                <a:spLocks noChangeShapeType="1"/>
              </p:cNvSpPr>
              <p:nvPr/>
            </p:nvSpPr>
            <p:spPr bwMode="auto">
              <a:xfrm>
                <a:off x="1143000" y="1295400"/>
                <a:ext cx="1066800" cy="0"/>
              </a:xfrm>
              <a:prstGeom prst="line">
                <a:avLst/>
              </a:prstGeom>
              <a:noFill/>
              <a:ln w="38100">
                <a:solidFill>
                  <a:srgbClr val="FF3300"/>
                </a:solidFill>
                <a:round/>
                <a:headEnd/>
                <a:tailEnd type="triangle" w="sm" len="lg"/>
              </a:ln>
            </p:spPr>
            <p:txBody>
              <a:bodyPr wrap="none" anchor="ctr"/>
              <a:lstStyle/>
              <a:p>
                <a:endParaRPr lang="zh-CN" altLang="en-US"/>
              </a:p>
            </p:txBody>
          </p:sp>
          <p:sp>
            <p:nvSpPr>
              <p:cNvPr id="5" name="Line 3"/>
              <p:cNvSpPr>
                <a:spLocks noChangeShapeType="1"/>
              </p:cNvSpPr>
              <p:nvPr/>
            </p:nvSpPr>
            <p:spPr bwMode="auto">
              <a:xfrm>
                <a:off x="2743200" y="1295400"/>
                <a:ext cx="1066800" cy="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6" name="Line 4"/>
              <p:cNvSpPr>
                <a:spLocks noChangeShapeType="1"/>
              </p:cNvSpPr>
              <p:nvPr/>
            </p:nvSpPr>
            <p:spPr bwMode="auto">
              <a:xfrm>
                <a:off x="838200" y="1600200"/>
                <a:ext cx="0" cy="914400"/>
              </a:xfrm>
              <a:prstGeom prst="line">
                <a:avLst/>
              </a:prstGeom>
              <a:noFill/>
              <a:ln w="38100">
                <a:solidFill>
                  <a:srgbClr val="FF3300"/>
                </a:solidFill>
                <a:round/>
                <a:headEnd/>
                <a:tailEnd type="triangle" w="sm" len="lg"/>
              </a:ln>
            </p:spPr>
            <p:txBody>
              <a:bodyPr wrap="none" anchor="ctr"/>
              <a:lstStyle/>
              <a:p>
                <a:endParaRPr lang="zh-CN" altLang="en-US"/>
              </a:p>
            </p:txBody>
          </p:sp>
          <p:sp>
            <p:nvSpPr>
              <p:cNvPr id="7" name="Line 5"/>
              <p:cNvSpPr>
                <a:spLocks noChangeShapeType="1"/>
              </p:cNvSpPr>
              <p:nvPr/>
            </p:nvSpPr>
            <p:spPr bwMode="auto">
              <a:xfrm>
                <a:off x="2438400" y="1600200"/>
                <a:ext cx="0" cy="91440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8" name="Line 6"/>
              <p:cNvSpPr>
                <a:spLocks noChangeShapeType="1"/>
              </p:cNvSpPr>
              <p:nvPr/>
            </p:nvSpPr>
            <p:spPr bwMode="auto">
              <a:xfrm flipH="1" flipV="1">
                <a:off x="1066800" y="1524000"/>
                <a:ext cx="1143000" cy="1143000"/>
              </a:xfrm>
              <a:prstGeom prst="line">
                <a:avLst/>
              </a:prstGeom>
              <a:noFill/>
              <a:ln w="38100">
                <a:solidFill>
                  <a:srgbClr val="FF3300"/>
                </a:solidFill>
                <a:round/>
                <a:headEnd/>
                <a:tailEnd type="triangle" w="sm" len="lg"/>
              </a:ln>
            </p:spPr>
            <p:txBody>
              <a:bodyPr wrap="none" anchor="ctr"/>
              <a:lstStyle/>
              <a:p>
                <a:endParaRPr lang="zh-CN" altLang="en-US"/>
              </a:p>
            </p:txBody>
          </p:sp>
          <p:sp>
            <p:nvSpPr>
              <p:cNvPr id="9" name="Line 7"/>
              <p:cNvSpPr>
                <a:spLocks noChangeShapeType="1"/>
              </p:cNvSpPr>
              <p:nvPr/>
            </p:nvSpPr>
            <p:spPr bwMode="auto">
              <a:xfrm>
                <a:off x="2743200" y="2819400"/>
                <a:ext cx="1066800" cy="0"/>
              </a:xfrm>
              <a:prstGeom prst="line">
                <a:avLst/>
              </a:prstGeom>
              <a:noFill/>
              <a:ln w="38100">
                <a:solidFill>
                  <a:srgbClr val="FF3300"/>
                </a:solidFill>
                <a:round/>
                <a:headEnd/>
                <a:tailEnd type="triangle" w="sm" len="lg"/>
              </a:ln>
            </p:spPr>
            <p:txBody>
              <a:bodyPr wrap="none" anchor="ctr"/>
              <a:lstStyle/>
              <a:p>
                <a:endParaRPr lang="zh-CN" altLang="en-US"/>
              </a:p>
            </p:txBody>
          </p:sp>
          <p:sp>
            <p:nvSpPr>
              <p:cNvPr id="10" name="Line 8"/>
              <p:cNvSpPr>
                <a:spLocks noChangeShapeType="1"/>
              </p:cNvSpPr>
              <p:nvPr/>
            </p:nvSpPr>
            <p:spPr bwMode="auto">
              <a:xfrm>
                <a:off x="4038600" y="1600200"/>
                <a:ext cx="0" cy="914400"/>
              </a:xfrm>
              <a:prstGeom prst="line">
                <a:avLst/>
              </a:prstGeom>
              <a:noFill/>
              <a:ln w="38100">
                <a:solidFill>
                  <a:srgbClr val="FF3300"/>
                </a:solidFill>
                <a:round/>
                <a:headEnd/>
                <a:tailEnd type="triangle" w="sm" len="lg"/>
              </a:ln>
            </p:spPr>
            <p:txBody>
              <a:bodyPr wrap="none" anchor="ctr"/>
              <a:lstStyle/>
              <a:p>
                <a:endParaRPr lang="zh-CN" altLang="en-US"/>
              </a:p>
            </p:txBody>
          </p:sp>
          <p:sp>
            <p:nvSpPr>
              <p:cNvPr id="11" name="Line 9"/>
              <p:cNvSpPr>
                <a:spLocks noChangeShapeType="1"/>
              </p:cNvSpPr>
              <p:nvPr/>
            </p:nvSpPr>
            <p:spPr bwMode="auto">
              <a:xfrm flipH="1" flipV="1">
                <a:off x="2667000" y="1447800"/>
                <a:ext cx="1219200" cy="114300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28" name="Oval 27"/>
              <p:cNvSpPr>
                <a:spLocks noChangeArrowheads="1"/>
              </p:cNvSpPr>
              <p:nvPr/>
            </p:nvSpPr>
            <p:spPr bwMode="auto">
              <a:xfrm>
                <a:off x="609600" y="10668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C0</a:t>
                </a:r>
                <a:endParaRPr lang="en-US" altLang="zh-CN" sz="2400">
                  <a:solidFill>
                    <a:schemeClr val="tx2"/>
                  </a:solidFill>
                </a:endParaRPr>
              </a:p>
            </p:txBody>
          </p:sp>
          <p:sp>
            <p:nvSpPr>
              <p:cNvPr id="29" name="Oval 28"/>
              <p:cNvSpPr>
                <a:spLocks noChangeArrowheads="1"/>
              </p:cNvSpPr>
              <p:nvPr/>
            </p:nvSpPr>
            <p:spPr bwMode="auto">
              <a:xfrm>
                <a:off x="2209800" y="1066800"/>
                <a:ext cx="533400" cy="533400"/>
              </a:xfrm>
              <a:prstGeom prst="ellipse">
                <a:avLst/>
              </a:prstGeom>
              <a:solidFill>
                <a:srgbClr val="FFFF00"/>
              </a:solidFill>
              <a:ln w="38100">
                <a:solidFill>
                  <a:schemeClr val="tx2"/>
                </a:solidFill>
                <a:round/>
                <a:headEnd/>
                <a:tailEnd/>
              </a:ln>
            </p:spPr>
            <p:txBody>
              <a:bodyPr wrap="none" anchor="ctr"/>
              <a:lstStyle/>
              <a:p>
                <a:pPr algn="ctr"/>
                <a:r>
                  <a:rPr lang="en-US" altLang="zh-CN" sz="2400" b="1">
                    <a:solidFill>
                      <a:schemeClr val="tx2"/>
                    </a:solidFill>
                  </a:rPr>
                  <a:t>C1</a:t>
                </a:r>
                <a:endParaRPr lang="en-US" altLang="zh-CN" sz="2400">
                  <a:solidFill>
                    <a:schemeClr val="tx2"/>
                  </a:solidFill>
                </a:endParaRPr>
              </a:p>
            </p:txBody>
          </p:sp>
          <p:sp>
            <p:nvSpPr>
              <p:cNvPr id="30" name="Oval 29"/>
              <p:cNvSpPr>
                <a:spLocks noChangeArrowheads="1"/>
              </p:cNvSpPr>
              <p:nvPr/>
            </p:nvSpPr>
            <p:spPr bwMode="auto">
              <a:xfrm>
                <a:off x="3810000" y="10668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C2</a:t>
                </a:r>
                <a:endParaRPr lang="en-US" altLang="zh-CN" sz="2400">
                  <a:solidFill>
                    <a:schemeClr val="tx2"/>
                  </a:solidFill>
                </a:endParaRPr>
              </a:p>
            </p:txBody>
          </p:sp>
          <p:sp>
            <p:nvSpPr>
              <p:cNvPr id="31" name="Oval 30"/>
              <p:cNvSpPr>
                <a:spLocks noChangeArrowheads="1"/>
              </p:cNvSpPr>
              <p:nvPr/>
            </p:nvSpPr>
            <p:spPr bwMode="auto">
              <a:xfrm>
                <a:off x="609600" y="25146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C3</a:t>
                </a:r>
                <a:endParaRPr lang="en-US" altLang="zh-CN" sz="2400">
                  <a:solidFill>
                    <a:schemeClr val="tx2"/>
                  </a:solidFill>
                </a:endParaRPr>
              </a:p>
            </p:txBody>
          </p:sp>
          <p:sp>
            <p:nvSpPr>
              <p:cNvPr id="32" name="Oval 31"/>
              <p:cNvSpPr>
                <a:spLocks noChangeArrowheads="1"/>
              </p:cNvSpPr>
              <p:nvPr/>
            </p:nvSpPr>
            <p:spPr bwMode="auto">
              <a:xfrm>
                <a:off x="2209800" y="25146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C4</a:t>
                </a:r>
                <a:endParaRPr lang="en-US" altLang="zh-CN" sz="2400">
                  <a:solidFill>
                    <a:schemeClr val="tx2"/>
                  </a:solidFill>
                </a:endParaRPr>
              </a:p>
            </p:txBody>
          </p:sp>
          <p:sp>
            <p:nvSpPr>
              <p:cNvPr id="33" name="Oval 32"/>
              <p:cNvSpPr>
                <a:spLocks noChangeArrowheads="1"/>
              </p:cNvSpPr>
              <p:nvPr/>
            </p:nvSpPr>
            <p:spPr bwMode="auto">
              <a:xfrm>
                <a:off x="3810000" y="25146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C5</a:t>
                </a:r>
                <a:endParaRPr lang="en-US" altLang="zh-CN" sz="2400">
                  <a:solidFill>
                    <a:schemeClr val="tx2"/>
                  </a:solidFill>
                </a:endParaRPr>
              </a:p>
            </p:txBody>
          </p:sp>
        </p:grpSp>
        <p:sp>
          <p:nvSpPr>
            <p:cNvPr id="34" name="Text Box 34"/>
            <p:cNvSpPr txBox="1">
              <a:spLocks noChangeArrowheads="1"/>
            </p:cNvSpPr>
            <p:nvPr/>
          </p:nvSpPr>
          <p:spPr bwMode="auto">
            <a:xfrm>
              <a:off x="1003300" y="3154363"/>
              <a:ext cx="1138453" cy="400110"/>
            </a:xfrm>
            <a:prstGeom prst="rect">
              <a:avLst/>
            </a:prstGeom>
            <a:noFill/>
            <a:ln w="9525">
              <a:noFill/>
              <a:miter lim="800000"/>
              <a:headEnd/>
              <a:tailEnd/>
            </a:ln>
          </p:spPr>
          <p:txBody>
            <a:bodyPr wrap="none">
              <a:spAutoFit/>
            </a:bodyPr>
            <a:lstStyle/>
            <a:p>
              <a:r>
                <a:rPr lang="en-US" altLang="zh-CN" sz="2000" b="1" dirty="0">
                  <a:ea typeface="仿宋_GB2312" pitchFamily="49" charset="-122"/>
                </a:rPr>
                <a:t>(a) DAG</a:t>
              </a:r>
              <a:endParaRPr lang="zh-CN" altLang="en-US" sz="2000" dirty="0"/>
            </a:p>
          </p:txBody>
        </p:sp>
      </p:grpSp>
      <p:grpSp>
        <p:nvGrpSpPr>
          <p:cNvPr id="54" name="组合 54"/>
          <p:cNvGrpSpPr/>
          <p:nvPr/>
        </p:nvGrpSpPr>
        <p:grpSpPr>
          <a:xfrm>
            <a:off x="6324600" y="1066800"/>
            <a:ext cx="3733800" cy="2438460"/>
            <a:chOff x="4800600" y="1066800"/>
            <a:chExt cx="3733800" cy="2438460"/>
          </a:xfrm>
        </p:grpSpPr>
        <p:sp>
          <p:nvSpPr>
            <p:cNvPr id="12" name="Line 10"/>
            <p:cNvSpPr>
              <a:spLocks noChangeShapeType="1"/>
            </p:cNvSpPr>
            <p:nvPr/>
          </p:nvSpPr>
          <p:spPr bwMode="auto">
            <a:xfrm>
              <a:off x="8229600" y="1600200"/>
              <a:ext cx="0" cy="914400"/>
            </a:xfrm>
            <a:prstGeom prst="line">
              <a:avLst/>
            </a:prstGeom>
            <a:noFill/>
            <a:ln w="38100">
              <a:solidFill>
                <a:srgbClr val="FF3300"/>
              </a:solidFill>
              <a:round/>
              <a:headEnd/>
              <a:tailEnd type="triangle" w="sm" len="lg"/>
            </a:ln>
          </p:spPr>
          <p:txBody>
            <a:bodyPr wrap="none" anchor="ctr"/>
            <a:lstStyle/>
            <a:p>
              <a:endParaRPr lang="zh-CN" altLang="en-US"/>
            </a:p>
          </p:txBody>
        </p:sp>
        <p:sp>
          <p:nvSpPr>
            <p:cNvPr id="13" name="Line 11"/>
            <p:cNvSpPr>
              <a:spLocks noChangeShapeType="1"/>
            </p:cNvSpPr>
            <p:nvPr/>
          </p:nvSpPr>
          <p:spPr bwMode="auto">
            <a:xfrm>
              <a:off x="6934200" y="1295400"/>
              <a:ext cx="1066800" cy="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14" name="Line 12"/>
            <p:cNvSpPr>
              <a:spLocks noChangeShapeType="1"/>
            </p:cNvSpPr>
            <p:nvPr/>
          </p:nvSpPr>
          <p:spPr bwMode="auto">
            <a:xfrm flipH="1" flipV="1">
              <a:off x="6858000" y="1524000"/>
              <a:ext cx="1219200" cy="114300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15" name="Line 13"/>
            <p:cNvSpPr>
              <a:spLocks noChangeShapeType="1"/>
            </p:cNvSpPr>
            <p:nvPr/>
          </p:nvSpPr>
          <p:spPr bwMode="auto">
            <a:xfrm>
              <a:off x="5334000" y="1295400"/>
              <a:ext cx="1066800" cy="0"/>
            </a:xfrm>
            <a:prstGeom prst="line">
              <a:avLst/>
            </a:prstGeom>
            <a:noFill/>
            <a:ln w="38100">
              <a:solidFill>
                <a:srgbClr val="FF3300"/>
              </a:solidFill>
              <a:round/>
              <a:headEnd/>
              <a:tailEnd type="triangle" w="sm" len="lg"/>
            </a:ln>
          </p:spPr>
          <p:txBody>
            <a:bodyPr wrap="none" anchor="ctr"/>
            <a:lstStyle/>
            <a:p>
              <a:endParaRPr lang="zh-CN" altLang="en-US"/>
            </a:p>
          </p:txBody>
        </p:sp>
        <p:sp>
          <p:nvSpPr>
            <p:cNvPr id="16" name="Line 14"/>
            <p:cNvSpPr>
              <a:spLocks noChangeShapeType="1"/>
            </p:cNvSpPr>
            <p:nvPr/>
          </p:nvSpPr>
          <p:spPr bwMode="auto">
            <a:xfrm>
              <a:off x="5029200" y="1600200"/>
              <a:ext cx="0" cy="914400"/>
            </a:xfrm>
            <a:prstGeom prst="line">
              <a:avLst/>
            </a:prstGeom>
            <a:noFill/>
            <a:ln w="38100">
              <a:solidFill>
                <a:srgbClr val="FF3300"/>
              </a:solidFill>
              <a:round/>
              <a:headEnd/>
              <a:tailEnd type="triangle" w="sm" len="lg"/>
            </a:ln>
          </p:spPr>
          <p:txBody>
            <a:bodyPr wrap="none" anchor="ctr"/>
            <a:lstStyle/>
            <a:p>
              <a:endParaRPr lang="zh-CN" altLang="en-US"/>
            </a:p>
          </p:txBody>
        </p:sp>
        <p:sp>
          <p:nvSpPr>
            <p:cNvPr id="17" name="Line 15"/>
            <p:cNvSpPr>
              <a:spLocks noChangeShapeType="1"/>
            </p:cNvSpPr>
            <p:nvPr/>
          </p:nvSpPr>
          <p:spPr bwMode="auto">
            <a:xfrm>
              <a:off x="6629400" y="1600200"/>
              <a:ext cx="0" cy="106680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18" name="Line 16"/>
            <p:cNvSpPr>
              <a:spLocks noChangeShapeType="1"/>
            </p:cNvSpPr>
            <p:nvPr/>
          </p:nvSpPr>
          <p:spPr bwMode="auto">
            <a:xfrm>
              <a:off x="6934200" y="2819400"/>
              <a:ext cx="1066800" cy="0"/>
            </a:xfrm>
            <a:prstGeom prst="line">
              <a:avLst/>
            </a:prstGeom>
            <a:noFill/>
            <a:ln w="38100">
              <a:solidFill>
                <a:srgbClr val="FF3300"/>
              </a:solidFill>
              <a:round/>
              <a:headEnd/>
              <a:tailEnd type="triangle" w="sm" len="lg"/>
            </a:ln>
          </p:spPr>
          <p:txBody>
            <a:bodyPr wrap="none" anchor="ctr"/>
            <a:lstStyle/>
            <a:p>
              <a:endParaRPr lang="zh-CN" altLang="en-US"/>
            </a:p>
          </p:txBody>
        </p:sp>
        <p:sp>
          <p:nvSpPr>
            <p:cNvPr id="19" name="Line 17"/>
            <p:cNvSpPr>
              <a:spLocks noChangeShapeType="1"/>
            </p:cNvSpPr>
            <p:nvPr/>
          </p:nvSpPr>
          <p:spPr bwMode="auto">
            <a:xfrm flipH="1" flipV="1">
              <a:off x="5257800" y="1524000"/>
              <a:ext cx="1219200" cy="1143000"/>
            </a:xfrm>
            <a:prstGeom prst="line">
              <a:avLst/>
            </a:prstGeom>
            <a:noFill/>
            <a:ln w="38100">
              <a:solidFill>
                <a:srgbClr val="FF3300"/>
              </a:solidFill>
              <a:round/>
              <a:headEnd/>
              <a:tailEnd type="triangle" w="sm" len="lg"/>
            </a:ln>
          </p:spPr>
          <p:txBody>
            <a:bodyPr wrap="none" anchor="ctr"/>
            <a:lstStyle/>
            <a:p>
              <a:endParaRPr lang="zh-CN" altLang="en-US"/>
            </a:p>
          </p:txBody>
        </p:sp>
        <p:sp>
          <p:nvSpPr>
            <p:cNvPr id="35" name="Oval 35"/>
            <p:cNvSpPr>
              <a:spLocks noChangeArrowheads="1"/>
            </p:cNvSpPr>
            <p:nvPr/>
          </p:nvSpPr>
          <p:spPr bwMode="auto">
            <a:xfrm>
              <a:off x="8001000" y="10668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C2</a:t>
              </a:r>
              <a:endParaRPr lang="en-US" altLang="zh-CN" sz="2400">
                <a:solidFill>
                  <a:schemeClr val="tx2"/>
                </a:solidFill>
              </a:endParaRPr>
            </a:p>
          </p:txBody>
        </p:sp>
        <p:sp>
          <p:nvSpPr>
            <p:cNvPr id="36" name="Oval 36"/>
            <p:cNvSpPr>
              <a:spLocks noChangeArrowheads="1"/>
            </p:cNvSpPr>
            <p:nvPr/>
          </p:nvSpPr>
          <p:spPr bwMode="auto">
            <a:xfrm>
              <a:off x="8001000" y="25146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C5</a:t>
              </a:r>
              <a:endParaRPr lang="en-US" altLang="zh-CN" sz="2400">
                <a:solidFill>
                  <a:schemeClr val="tx2"/>
                </a:solidFill>
              </a:endParaRPr>
            </a:p>
          </p:txBody>
        </p:sp>
        <p:sp>
          <p:nvSpPr>
            <p:cNvPr id="37" name="Oval 37"/>
            <p:cNvSpPr>
              <a:spLocks noChangeArrowheads="1"/>
            </p:cNvSpPr>
            <p:nvPr/>
          </p:nvSpPr>
          <p:spPr bwMode="auto">
            <a:xfrm>
              <a:off x="6400800" y="10668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C1</a:t>
              </a:r>
              <a:endParaRPr lang="en-US" altLang="zh-CN" sz="2400">
                <a:solidFill>
                  <a:schemeClr val="tx2"/>
                </a:solidFill>
              </a:endParaRPr>
            </a:p>
          </p:txBody>
        </p:sp>
        <p:sp>
          <p:nvSpPr>
            <p:cNvPr id="38" name="Oval 38"/>
            <p:cNvSpPr>
              <a:spLocks noChangeArrowheads="1"/>
            </p:cNvSpPr>
            <p:nvPr/>
          </p:nvSpPr>
          <p:spPr bwMode="auto">
            <a:xfrm>
              <a:off x="4800600" y="1066800"/>
              <a:ext cx="533400" cy="533400"/>
            </a:xfrm>
            <a:prstGeom prst="ellipse">
              <a:avLst/>
            </a:prstGeom>
            <a:solidFill>
              <a:srgbClr val="FFFF00"/>
            </a:solidFill>
            <a:ln w="38100">
              <a:solidFill>
                <a:schemeClr val="tx2"/>
              </a:solidFill>
              <a:round/>
              <a:headEnd/>
              <a:tailEnd/>
            </a:ln>
          </p:spPr>
          <p:txBody>
            <a:bodyPr wrap="none" anchor="ctr"/>
            <a:lstStyle/>
            <a:p>
              <a:pPr algn="ctr"/>
              <a:r>
                <a:rPr lang="en-US" altLang="zh-CN" sz="2400" b="1">
                  <a:solidFill>
                    <a:schemeClr val="tx2"/>
                  </a:solidFill>
                </a:rPr>
                <a:t>C0</a:t>
              </a:r>
              <a:endParaRPr lang="en-US" altLang="zh-CN" sz="2400">
                <a:solidFill>
                  <a:schemeClr val="tx2"/>
                </a:solidFill>
              </a:endParaRPr>
            </a:p>
          </p:txBody>
        </p:sp>
        <p:sp>
          <p:nvSpPr>
            <p:cNvPr id="39" name="Oval 39"/>
            <p:cNvSpPr>
              <a:spLocks noChangeArrowheads="1"/>
            </p:cNvSpPr>
            <p:nvPr/>
          </p:nvSpPr>
          <p:spPr bwMode="auto">
            <a:xfrm>
              <a:off x="4800600" y="25146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C3</a:t>
              </a:r>
              <a:endParaRPr lang="en-US" altLang="zh-CN" sz="2400">
                <a:solidFill>
                  <a:schemeClr val="tx2"/>
                </a:solidFill>
              </a:endParaRPr>
            </a:p>
          </p:txBody>
        </p:sp>
        <p:sp>
          <p:nvSpPr>
            <p:cNvPr id="40" name="Text Box 40"/>
            <p:cNvSpPr txBox="1">
              <a:spLocks noChangeArrowheads="1"/>
            </p:cNvSpPr>
            <p:nvPr/>
          </p:nvSpPr>
          <p:spPr bwMode="auto">
            <a:xfrm>
              <a:off x="5407025" y="3105150"/>
              <a:ext cx="1821332" cy="400110"/>
            </a:xfrm>
            <a:prstGeom prst="rect">
              <a:avLst/>
            </a:prstGeom>
            <a:noFill/>
            <a:ln w="9525">
              <a:noFill/>
              <a:miter lim="800000"/>
              <a:headEnd/>
              <a:tailEnd/>
            </a:ln>
          </p:spPr>
          <p:txBody>
            <a:bodyPr wrap="none">
              <a:spAutoFit/>
            </a:bodyPr>
            <a:lstStyle/>
            <a:p>
              <a:r>
                <a:rPr lang="en-US" altLang="zh-CN" sz="2000" b="1" dirty="0">
                  <a:ea typeface="仿宋_GB2312" pitchFamily="49" charset="-122"/>
                </a:rPr>
                <a:t>(b) Output C4</a:t>
              </a:r>
              <a:endParaRPr lang="en-US" altLang="zh-CN" sz="2000" dirty="0"/>
            </a:p>
          </p:txBody>
        </p:sp>
        <p:sp>
          <p:nvSpPr>
            <p:cNvPr id="46" name="Oval 46"/>
            <p:cNvSpPr>
              <a:spLocks noChangeArrowheads="1"/>
            </p:cNvSpPr>
            <p:nvPr/>
          </p:nvSpPr>
          <p:spPr bwMode="auto">
            <a:xfrm>
              <a:off x="6400800" y="2514600"/>
              <a:ext cx="533400" cy="533400"/>
            </a:xfrm>
            <a:prstGeom prst="ellipse">
              <a:avLst/>
            </a:prstGeom>
            <a:solidFill>
              <a:schemeClr val="accent2"/>
            </a:solidFill>
            <a:ln w="38100">
              <a:solidFill>
                <a:srgbClr val="CCECFF"/>
              </a:solidFill>
              <a:round/>
              <a:headEnd/>
              <a:tailEnd/>
            </a:ln>
          </p:spPr>
          <p:txBody>
            <a:bodyPr wrap="none" anchor="ctr"/>
            <a:lstStyle/>
            <a:p>
              <a:pPr algn="ctr"/>
              <a:r>
                <a:rPr lang="en-US" altLang="zh-CN" sz="2400" b="1" dirty="0">
                  <a:solidFill>
                    <a:schemeClr val="tx2"/>
                  </a:solidFill>
                </a:rPr>
                <a:t>C4</a:t>
              </a:r>
              <a:endParaRPr lang="en-US" altLang="zh-CN" sz="2400" dirty="0">
                <a:solidFill>
                  <a:schemeClr val="tx2"/>
                </a:solidFill>
              </a:endParaRPr>
            </a:p>
          </p:txBody>
        </p:sp>
      </p:grpSp>
      <p:grpSp>
        <p:nvGrpSpPr>
          <p:cNvPr id="55" name="组合 56"/>
          <p:cNvGrpSpPr/>
          <p:nvPr/>
        </p:nvGrpSpPr>
        <p:grpSpPr>
          <a:xfrm>
            <a:off x="2133600" y="3962400"/>
            <a:ext cx="3733800" cy="2457510"/>
            <a:chOff x="609600" y="3962400"/>
            <a:chExt cx="3733800" cy="2457510"/>
          </a:xfrm>
        </p:grpSpPr>
        <p:sp>
          <p:nvSpPr>
            <p:cNvPr id="20" name="Line 18"/>
            <p:cNvSpPr>
              <a:spLocks noChangeShapeType="1"/>
            </p:cNvSpPr>
            <p:nvPr/>
          </p:nvSpPr>
          <p:spPr bwMode="auto">
            <a:xfrm>
              <a:off x="2743200" y="4191000"/>
              <a:ext cx="1066800" cy="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21" name="Line 19"/>
            <p:cNvSpPr>
              <a:spLocks noChangeShapeType="1"/>
            </p:cNvSpPr>
            <p:nvPr/>
          </p:nvSpPr>
          <p:spPr bwMode="auto">
            <a:xfrm>
              <a:off x="4038600" y="4495800"/>
              <a:ext cx="0" cy="914400"/>
            </a:xfrm>
            <a:prstGeom prst="line">
              <a:avLst/>
            </a:prstGeom>
            <a:noFill/>
            <a:ln w="38100">
              <a:solidFill>
                <a:srgbClr val="FF3300"/>
              </a:solidFill>
              <a:round/>
              <a:headEnd/>
              <a:tailEnd type="triangle" w="sm" len="lg"/>
            </a:ln>
          </p:spPr>
          <p:txBody>
            <a:bodyPr wrap="none" anchor="ctr"/>
            <a:lstStyle/>
            <a:p>
              <a:endParaRPr lang="zh-CN" altLang="en-US"/>
            </a:p>
          </p:txBody>
        </p:sp>
        <p:sp>
          <p:nvSpPr>
            <p:cNvPr id="22" name="Line 20"/>
            <p:cNvSpPr>
              <a:spLocks noChangeShapeType="1"/>
            </p:cNvSpPr>
            <p:nvPr/>
          </p:nvSpPr>
          <p:spPr bwMode="auto">
            <a:xfrm flipH="1" flipV="1">
              <a:off x="2667000" y="4343400"/>
              <a:ext cx="1219200" cy="1143000"/>
            </a:xfrm>
            <a:prstGeom prst="line">
              <a:avLst/>
            </a:prstGeom>
            <a:noFill/>
            <a:ln w="38100">
              <a:solidFill>
                <a:srgbClr val="FF3300"/>
              </a:solidFill>
              <a:round/>
              <a:headEnd type="triangle" w="med" len="med"/>
              <a:tailEnd type="none" w="sm" len="lg"/>
            </a:ln>
          </p:spPr>
          <p:txBody>
            <a:bodyPr wrap="none" anchor="ctr"/>
            <a:lstStyle/>
            <a:p>
              <a:endParaRPr lang="zh-CN" altLang="en-US"/>
            </a:p>
          </p:txBody>
        </p:sp>
        <p:sp>
          <p:nvSpPr>
            <p:cNvPr id="23" name="Line 21"/>
            <p:cNvSpPr>
              <a:spLocks noChangeShapeType="1"/>
            </p:cNvSpPr>
            <p:nvPr/>
          </p:nvSpPr>
          <p:spPr bwMode="auto">
            <a:xfrm>
              <a:off x="1143000" y="4191000"/>
              <a:ext cx="1066800" cy="0"/>
            </a:xfrm>
            <a:prstGeom prst="line">
              <a:avLst/>
            </a:prstGeom>
            <a:noFill/>
            <a:ln w="38100">
              <a:solidFill>
                <a:srgbClr val="FF3300"/>
              </a:solidFill>
              <a:round/>
              <a:headEnd/>
              <a:tailEnd type="triangle" w="sm" len="lg"/>
            </a:ln>
          </p:spPr>
          <p:txBody>
            <a:bodyPr wrap="none" anchor="ctr"/>
            <a:lstStyle/>
            <a:p>
              <a:endParaRPr lang="zh-CN" altLang="en-US"/>
            </a:p>
          </p:txBody>
        </p:sp>
        <p:sp>
          <p:nvSpPr>
            <p:cNvPr id="24" name="Line 22"/>
            <p:cNvSpPr>
              <a:spLocks noChangeShapeType="1"/>
            </p:cNvSpPr>
            <p:nvPr/>
          </p:nvSpPr>
          <p:spPr bwMode="auto">
            <a:xfrm>
              <a:off x="838200" y="4495800"/>
              <a:ext cx="0" cy="914400"/>
            </a:xfrm>
            <a:prstGeom prst="line">
              <a:avLst/>
            </a:prstGeom>
            <a:noFill/>
            <a:ln w="38100">
              <a:solidFill>
                <a:srgbClr val="FF3300"/>
              </a:solidFill>
              <a:round/>
              <a:headEnd/>
              <a:tailEnd type="triangle" w="sm" len="lg"/>
            </a:ln>
          </p:spPr>
          <p:txBody>
            <a:bodyPr wrap="none" anchor="ctr"/>
            <a:lstStyle/>
            <a:p>
              <a:endParaRPr lang="zh-CN" altLang="en-US"/>
            </a:p>
          </p:txBody>
        </p:sp>
        <p:sp>
          <p:nvSpPr>
            <p:cNvPr id="41" name="Oval 41"/>
            <p:cNvSpPr>
              <a:spLocks noChangeArrowheads="1"/>
            </p:cNvSpPr>
            <p:nvPr/>
          </p:nvSpPr>
          <p:spPr bwMode="auto">
            <a:xfrm>
              <a:off x="2209800" y="39624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C1</a:t>
              </a:r>
              <a:endParaRPr lang="en-US" altLang="zh-CN" sz="2400">
                <a:solidFill>
                  <a:schemeClr val="tx2"/>
                </a:solidFill>
              </a:endParaRPr>
            </a:p>
          </p:txBody>
        </p:sp>
        <p:sp>
          <p:nvSpPr>
            <p:cNvPr id="42" name="Oval 42"/>
            <p:cNvSpPr>
              <a:spLocks noChangeArrowheads="1"/>
            </p:cNvSpPr>
            <p:nvPr/>
          </p:nvSpPr>
          <p:spPr bwMode="auto">
            <a:xfrm>
              <a:off x="3810000" y="39624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C2</a:t>
              </a:r>
              <a:endParaRPr lang="en-US" altLang="zh-CN" sz="2400">
                <a:solidFill>
                  <a:schemeClr val="tx2"/>
                </a:solidFill>
              </a:endParaRPr>
            </a:p>
          </p:txBody>
        </p:sp>
        <p:sp>
          <p:nvSpPr>
            <p:cNvPr id="43" name="Oval 43"/>
            <p:cNvSpPr>
              <a:spLocks noChangeArrowheads="1"/>
            </p:cNvSpPr>
            <p:nvPr/>
          </p:nvSpPr>
          <p:spPr bwMode="auto">
            <a:xfrm>
              <a:off x="3810000" y="54102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C5</a:t>
              </a:r>
              <a:endParaRPr lang="en-US" altLang="zh-CN" sz="2400">
                <a:solidFill>
                  <a:schemeClr val="tx2"/>
                </a:solidFill>
              </a:endParaRPr>
            </a:p>
          </p:txBody>
        </p:sp>
        <p:sp>
          <p:nvSpPr>
            <p:cNvPr id="44" name="Oval 44"/>
            <p:cNvSpPr>
              <a:spLocks noChangeArrowheads="1"/>
            </p:cNvSpPr>
            <p:nvPr/>
          </p:nvSpPr>
          <p:spPr bwMode="auto">
            <a:xfrm>
              <a:off x="609600" y="5410200"/>
              <a:ext cx="533400" cy="533400"/>
            </a:xfrm>
            <a:prstGeom prst="ellipse">
              <a:avLst/>
            </a:prstGeom>
            <a:solidFill>
              <a:srgbClr val="FFFF00"/>
            </a:solidFill>
            <a:ln w="38100">
              <a:solidFill>
                <a:schemeClr val="tx2"/>
              </a:solidFill>
              <a:round/>
              <a:headEnd/>
              <a:tailEnd/>
            </a:ln>
          </p:spPr>
          <p:txBody>
            <a:bodyPr wrap="none" anchor="ctr"/>
            <a:lstStyle/>
            <a:p>
              <a:pPr algn="ctr"/>
              <a:r>
                <a:rPr lang="en-US" altLang="zh-CN" sz="2400" b="1">
                  <a:solidFill>
                    <a:schemeClr val="tx2"/>
                  </a:solidFill>
                </a:rPr>
                <a:t>C3</a:t>
              </a:r>
              <a:endParaRPr lang="en-US" altLang="zh-CN" sz="2400">
                <a:solidFill>
                  <a:schemeClr val="tx2"/>
                </a:solidFill>
              </a:endParaRPr>
            </a:p>
          </p:txBody>
        </p:sp>
        <p:sp>
          <p:nvSpPr>
            <p:cNvPr id="45" name="Text Box 45"/>
            <p:cNvSpPr txBox="1">
              <a:spLocks noChangeArrowheads="1"/>
            </p:cNvSpPr>
            <p:nvPr/>
          </p:nvSpPr>
          <p:spPr bwMode="auto">
            <a:xfrm>
              <a:off x="990600" y="6019800"/>
              <a:ext cx="1806905" cy="400110"/>
            </a:xfrm>
            <a:prstGeom prst="rect">
              <a:avLst/>
            </a:prstGeom>
            <a:noFill/>
            <a:ln w="9525">
              <a:noFill/>
              <a:miter lim="800000"/>
              <a:headEnd/>
              <a:tailEnd/>
            </a:ln>
          </p:spPr>
          <p:txBody>
            <a:bodyPr wrap="none">
              <a:spAutoFit/>
            </a:bodyPr>
            <a:lstStyle/>
            <a:p>
              <a:r>
                <a:rPr lang="en-US" altLang="zh-CN" sz="2000" b="1" dirty="0">
                  <a:ea typeface="仿宋_GB2312" pitchFamily="49" charset="-122"/>
                </a:rPr>
                <a:t>(c) Output C0</a:t>
              </a:r>
              <a:endParaRPr lang="en-US" altLang="zh-CN" sz="2000" dirty="0"/>
            </a:p>
          </p:txBody>
        </p:sp>
        <p:sp>
          <p:nvSpPr>
            <p:cNvPr id="47" name="Oval 47"/>
            <p:cNvSpPr>
              <a:spLocks noChangeArrowheads="1"/>
            </p:cNvSpPr>
            <p:nvPr/>
          </p:nvSpPr>
          <p:spPr bwMode="auto">
            <a:xfrm>
              <a:off x="609600" y="3962400"/>
              <a:ext cx="533400" cy="533400"/>
            </a:xfrm>
            <a:prstGeom prst="ellipse">
              <a:avLst/>
            </a:prstGeom>
            <a:solidFill>
              <a:schemeClr val="accent2"/>
            </a:solidFill>
            <a:ln w="38100">
              <a:solidFill>
                <a:srgbClr val="CCECFF"/>
              </a:solidFill>
              <a:round/>
              <a:headEnd/>
              <a:tailEnd/>
            </a:ln>
          </p:spPr>
          <p:txBody>
            <a:bodyPr wrap="none" anchor="ctr"/>
            <a:lstStyle/>
            <a:p>
              <a:pPr algn="ctr"/>
              <a:r>
                <a:rPr lang="en-US" altLang="zh-CN" sz="2400" b="1" dirty="0">
                  <a:solidFill>
                    <a:schemeClr val="tx2"/>
                  </a:solidFill>
                </a:rPr>
                <a:t>C0</a:t>
              </a:r>
              <a:endParaRPr lang="en-US" altLang="zh-CN" sz="2400" dirty="0">
                <a:solidFill>
                  <a:schemeClr val="tx2"/>
                </a:solidFill>
              </a:endParaRPr>
            </a:p>
          </p:txBody>
        </p:sp>
      </p:grpSp>
      <p:grpSp>
        <p:nvGrpSpPr>
          <p:cNvPr id="56" name="组合 55"/>
          <p:cNvGrpSpPr/>
          <p:nvPr/>
        </p:nvGrpSpPr>
        <p:grpSpPr>
          <a:xfrm>
            <a:off x="6324600" y="3962401"/>
            <a:ext cx="3733800" cy="2430523"/>
            <a:chOff x="4800600" y="3962400"/>
            <a:chExt cx="3733800" cy="2430523"/>
          </a:xfrm>
        </p:grpSpPr>
        <p:sp>
          <p:nvSpPr>
            <p:cNvPr id="25" name="Line 23"/>
            <p:cNvSpPr>
              <a:spLocks noChangeShapeType="1"/>
            </p:cNvSpPr>
            <p:nvPr/>
          </p:nvSpPr>
          <p:spPr bwMode="auto">
            <a:xfrm>
              <a:off x="8229600" y="4495800"/>
              <a:ext cx="0" cy="914400"/>
            </a:xfrm>
            <a:prstGeom prst="line">
              <a:avLst/>
            </a:prstGeom>
            <a:noFill/>
            <a:ln w="38100">
              <a:solidFill>
                <a:srgbClr val="FF3300"/>
              </a:solidFill>
              <a:round/>
              <a:headEnd/>
              <a:tailEnd type="triangle" w="sm" len="lg"/>
            </a:ln>
          </p:spPr>
          <p:txBody>
            <a:bodyPr wrap="none" anchor="ctr"/>
            <a:lstStyle/>
            <a:p>
              <a:endParaRPr lang="zh-CN" altLang="en-US"/>
            </a:p>
          </p:txBody>
        </p:sp>
        <p:sp>
          <p:nvSpPr>
            <p:cNvPr id="26" name="Line 24"/>
            <p:cNvSpPr>
              <a:spLocks noChangeShapeType="1"/>
            </p:cNvSpPr>
            <p:nvPr/>
          </p:nvSpPr>
          <p:spPr bwMode="auto">
            <a:xfrm>
              <a:off x="6934200" y="4191000"/>
              <a:ext cx="1066800" cy="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27" name="Line 25"/>
            <p:cNvSpPr>
              <a:spLocks noChangeShapeType="1"/>
            </p:cNvSpPr>
            <p:nvPr/>
          </p:nvSpPr>
          <p:spPr bwMode="auto">
            <a:xfrm flipH="1" flipV="1">
              <a:off x="6858000" y="4343400"/>
              <a:ext cx="1219200" cy="114300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48" name="Oval 48"/>
            <p:cNvSpPr>
              <a:spLocks noChangeArrowheads="1"/>
            </p:cNvSpPr>
            <p:nvPr/>
          </p:nvSpPr>
          <p:spPr bwMode="auto">
            <a:xfrm>
              <a:off x="8001000" y="39624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C2</a:t>
              </a:r>
              <a:endParaRPr lang="en-US" altLang="zh-CN" sz="2400">
                <a:solidFill>
                  <a:schemeClr val="tx2"/>
                </a:solidFill>
              </a:endParaRPr>
            </a:p>
          </p:txBody>
        </p:sp>
        <p:sp>
          <p:nvSpPr>
            <p:cNvPr id="49" name="Oval 49"/>
            <p:cNvSpPr>
              <a:spLocks noChangeArrowheads="1"/>
            </p:cNvSpPr>
            <p:nvPr/>
          </p:nvSpPr>
          <p:spPr bwMode="auto">
            <a:xfrm>
              <a:off x="8001000" y="54102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C5</a:t>
              </a:r>
              <a:endParaRPr lang="en-US" altLang="zh-CN" sz="2400">
                <a:solidFill>
                  <a:schemeClr val="tx2"/>
                </a:solidFill>
              </a:endParaRPr>
            </a:p>
          </p:txBody>
        </p:sp>
        <p:sp>
          <p:nvSpPr>
            <p:cNvPr id="50" name="Oval 50"/>
            <p:cNvSpPr>
              <a:spLocks noChangeArrowheads="1"/>
            </p:cNvSpPr>
            <p:nvPr/>
          </p:nvSpPr>
          <p:spPr bwMode="auto">
            <a:xfrm>
              <a:off x="6400800" y="3962400"/>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solidFill>
                    <a:schemeClr val="tx2"/>
                  </a:solidFill>
                </a:rPr>
                <a:t>C1</a:t>
              </a:r>
              <a:endParaRPr lang="en-US" altLang="zh-CN" sz="2400">
                <a:solidFill>
                  <a:schemeClr val="tx2"/>
                </a:solidFill>
              </a:endParaRPr>
            </a:p>
          </p:txBody>
        </p:sp>
        <p:sp>
          <p:nvSpPr>
            <p:cNvPr id="51" name="Oval 51"/>
            <p:cNvSpPr>
              <a:spLocks noChangeArrowheads="1"/>
            </p:cNvSpPr>
            <p:nvPr/>
          </p:nvSpPr>
          <p:spPr bwMode="auto">
            <a:xfrm>
              <a:off x="4800600" y="5410200"/>
              <a:ext cx="533400" cy="533400"/>
            </a:xfrm>
            <a:prstGeom prst="ellipse">
              <a:avLst/>
            </a:prstGeom>
            <a:solidFill>
              <a:schemeClr val="accent2"/>
            </a:solidFill>
            <a:ln w="38100">
              <a:solidFill>
                <a:srgbClr val="CCECFF"/>
              </a:solidFill>
              <a:round/>
              <a:headEnd/>
              <a:tailEnd/>
            </a:ln>
          </p:spPr>
          <p:txBody>
            <a:bodyPr wrap="none" anchor="ctr"/>
            <a:lstStyle/>
            <a:p>
              <a:pPr algn="ctr"/>
              <a:r>
                <a:rPr lang="en-US" altLang="zh-CN" sz="2400" b="1" dirty="0">
                  <a:solidFill>
                    <a:schemeClr val="tx2"/>
                  </a:solidFill>
                </a:rPr>
                <a:t>C3</a:t>
              </a:r>
              <a:endParaRPr lang="en-US" altLang="zh-CN" sz="2400" dirty="0">
                <a:solidFill>
                  <a:schemeClr val="tx2"/>
                </a:solidFill>
              </a:endParaRPr>
            </a:p>
          </p:txBody>
        </p:sp>
        <p:sp>
          <p:nvSpPr>
            <p:cNvPr id="52" name="Text Box 52"/>
            <p:cNvSpPr txBox="1">
              <a:spLocks noChangeArrowheads="1"/>
            </p:cNvSpPr>
            <p:nvPr/>
          </p:nvSpPr>
          <p:spPr bwMode="auto">
            <a:xfrm>
              <a:off x="5472113" y="5992813"/>
              <a:ext cx="1872629" cy="400110"/>
            </a:xfrm>
            <a:prstGeom prst="rect">
              <a:avLst/>
            </a:prstGeom>
            <a:noFill/>
            <a:ln w="9525">
              <a:noFill/>
              <a:miter lim="800000"/>
              <a:headEnd/>
              <a:tailEnd/>
            </a:ln>
          </p:spPr>
          <p:txBody>
            <a:bodyPr wrap="none">
              <a:spAutoFit/>
            </a:bodyPr>
            <a:lstStyle/>
            <a:p>
              <a:r>
                <a:rPr lang="en-US" altLang="zh-CN" sz="2000" b="1" dirty="0"/>
                <a:t>(d) Output C3</a:t>
              </a: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dirty="0"/>
              <a:t>Breadth-First Example for Topological Sorting</a:t>
            </a:r>
            <a:endParaRPr lang="zh-CN" altLang="en-US" sz="2400" dirty="0"/>
          </a:p>
        </p:txBody>
      </p:sp>
      <p:sp>
        <p:nvSpPr>
          <p:cNvPr id="3" name="内容占位符 2"/>
          <p:cNvSpPr>
            <a:spLocks noGrp="1"/>
          </p:cNvSpPr>
          <p:nvPr>
            <p:ph idx="1"/>
          </p:nvPr>
        </p:nvSpPr>
        <p:spPr/>
        <p:txBody>
          <a:bodyPr/>
          <a:lstStyle/>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en-US" altLang="zh-CN" dirty="0" smtClean="0"/>
              <a:t>The topological order: </a:t>
            </a:r>
            <a:r>
              <a:rPr lang="en-US" altLang="zh-CN" b="1" dirty="0" smtClean="0">
                <a:solidFill>
                  <a:srgbClr val="FF0000"/>
                </a:solidFill>
                <a:latin typeface="宋体" pitchFamily="2" charset="-122"/>
              </a:rPr>
              <a:t>C</a:t>
            </a:r>
            <a:r>
              <a:rPr lang="en-US" altLang="zh-CN" b="1" baseline="-25000" dirty="0" smtClean="0">
                <a:solidFill>
                  <a:srgbClr val="FF0000"/>
                </a:solidFill>
                <a:latin typeface="宋体" pitchFamily="2" charset="-122"/>
              </a:rPr>
              <a:t>4</a:t>
            </a:r>
            <a:r>
              <a:rPr lang="en-US" altLang="zh-CN" b="1" dirty="0" smtClean="0">
                <a:solidFill>
                  <a:srgbClr val="FF0000"/>
                </a:solidFill>
                <a:latin typeface="宋体" pitchFamily="2" charset="-122"/>
              </a:rPr>
              <a:t> , C</a:t>
            </a:r>
            <a:r>
              <a:rPr lang="en-US" altLang="zh-CN" b="1" baseline="-25000" dirty="0" smtClean="0">
                <a:solidFill>
                  <a:srgbClr val="FF0000"/>
                </a:solidFill>
                <a:latin typeface="宋体" pitchFamily="2" charset="-122"/>
              </a:rPr>
              <a:t>0</a:t>
            </a:r>
            <a:r>
              <a:rPr lang="en-US" altLang="zh-CN" b="1" dirty="0" smtClean="0">
                <a:solidFill>
                  <a:srgbClr val="FF0000"/>
                </a:solidFill>
                <a:latin typeface="宋体" pitchFamily="2" charset="-122"/>
              </a:rPr>
              <a:t> , C</a:t>
            </a:r>
            <a:r>
              <a:rPr lang="en-US" altLang="zh-CN" b="1" baseline="-25000" dirty="0" smtClean="0">
                <a:solidFill>
                  <a:srgbClr val="FF0000"/>
                </a:solidFill>
                <a:latin typeface="宋体" pitchFamily="2" charset="-122"/>
              </a:rPr>
              <a:t>3</a:t>
            </a:r>
            <a:r>
              <a:rPr lang="en-US" altLang="zh-CN" b="1" dirty="0" smtClean="0">
                <a:solidFill>
                  <a:srgbClr val="FF0000"/>
                </a:solidFill>
                <a:latin typeface="宋体" pitchFamily="2" charset="-122"/>
              </a:rPr>
              <a:t> , C</a:t>
            </a:r>
            <a:r>
              <a:rPr lang="en-US" altLang="zh-CN" b="1" baseline="-25000" dirty="0" smtClean="0">
                <a:solidFill>
                  <a:srgbClr val="FF0000"/>
                </a:solidFill>
                <a:latin typeface="宋体" pitchFamily="2" charset="-122"/>
              </a:rPr>
              <a:t>2</a:t>
            </a:r>
            <a:r>
              <a:rPr lang="en-US" altLang="zh-CN" b="1" dirty="0" smtClean="0">
                <a:solidFill>
                  <a:srgbClr val="FF0000"/>
                </a:solidFill>
                <a:latin typeface="宋体" pitchFamily="2" charset="-122"/>
              </a:rPr>
              <a:t> , C</a:t>
            </a:r>
            <a:r>
              <a:rPr lang="en-US" altLang="zh-CN" b="1" baseline="-25000" dirty="0" smtClean="0">
                <a:solidFill>
                  <a:srgbClr val="FF0000"/>
                </a:solidFill>
                <a:latin typeface="宋体" pitchFamily="2" charset="-122"/>
              </a:rPr>
              <a:t>1 </a:t>
            </a:r>
            <a:r>
              <a:rPr lang="en-US" altLang="zh-CN" b="1" dirty="0" smtClean="0">
                <a:solidFill>
                  <a:srgbClr val="FF0000"/>
                </a:solidFill>
                <a:latin typeface="宋体" pitchFamily="2" charset="-122"/>
              </a:rPr>
              <a:t>, C</a:t>
            </a:r>
            <a:r>
              <a:rPr lang="en-US" altLang="zh-CN" b="1" baseline="-25000" dirty="0" smtClean="0">
                <a:solidFill>
                  <a:srgbClr val="FF0000"/>
                </a:solidFill>
                <a:latin typeface="宋体" pitchFamily="2" charset="-122"/>
              </a:rPr>
              <a:t>5</a:t>
            </a:r>
            <a:r>
              <a:rPr lang="en-US" altLang="zh-CN" b="1" dirty="0" smtClean="0">
                <a:latin typeface="宋体" pitchFamily="2" charset="-122"/>
              </a:rPr>
              <a:t> </a:t>
            </a:r>
            <a:endParaRPr lang="zh-CN" altLang="en-US" dirty="0"/>
          </a:p>
        </p:txBody>
      </p:sp>
      <p:grpSp>
        <p:nvGrpSpPr>
          <p:cNvPr id="18" name="组合 17"/>
          <p:cNvGrpSpPr/>
          <p:nvPr/>
        </p:nvGrpSpPr>
        <p:grpSpPr>
          <a:xfrm>
            <a:off x="2881290" y="1071546"/>
            <a:ext cx="2157404" cy="2508310"/>
            <a:chOff x="1857356" y="1177924"/>
            <a:chExt cx="2157404" cy="2508310"/>
          </a:xfrm>
        </p:grpSpPr>
        <p:sp>
          <p:nvSpPr>
            <p:cNvPr id="5" name="Line 3"/>
            <p:cNvSpPr>
              <a:spLocks noChangeShapeType="1"/>
            </p:cNvSpPr>
            <p:nvPr/>
          </p:nvSpPr>
          <p:spPr bwMode="auto">
            <a:xfrm>
              <a:off x="2414560" y="1406524"/>
              <a:ext cx="1066800" cy="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6" name="Line 4"/>
            <p:cNvSpPr>
              <a:spLocks noChangeShapeType="1"/>
            </p:cNvSpPr>
            <p:nvPr/>
          </p:nvSpPr>
          <p:spPr bwMode="auto">
            <a:xfrm>
              <a:off x="3709960" y="1711324"/>
              <a:ext cx="0" cy="914400"/>
            </a:xfrm>
            <a:prstGeom prst="line">
              <a:avLst/>
            </a:prstGeom>
            <a:noFill/>
            <a:ln w="38100">
              <a:solidFill>
                <a:srgbClr val="FF3300"/>
              </a:solidFill>
              <a:round/>
              <a:headEnd type="none" w="sm" len="lg"/>
              <a:tailEnd type="triangle" w="sm" len="lg"/>
            </a:ln>
          </p:spPr>
          <p:txBody>
            <a:bodyPr wrap="none" anchor="ctr"/>
            <a:lstStyle/>
            <a:p>
              <a:endParaRPr lang="zh-CN" altLang="en-US"/>
            </a:p>
          </p:txBody>
        </p:sp>
        <p:sp>
          <p:nvSpPr>
            <p:cNvPr id="7" name="Line 5"/>
            <p:cNvSpPr>
              <a:spLocks noChangeShapeType="1"/>
            </p:cNvSpPr>
            <p:nvPr/>
          </p:nvSpPr>
          <p:spPr bwMode="auto">
            <a:xfrm flipH="1" flipV="1">
              <a:off x="2338360" y="1558924"/>
              <a:ext cx="1219200" cy="114300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8" name="Oval 7"/>
            <p:cNvSpPr>
              <a:spLocks noChangeArrowheads="1"/>
            </p:cNvSpPr>
            <p:nvPr/>
          </p:nvSpPr>
          <p:spPr bwMode="auto">
            <a:xfrm>
              <a:off x="1881160" y="1177924"/>
              <a:ext cx="533400" cy="533400"/>
            </a:xfrm>
            <a:prstGeom prst="ellipse">
              <a:avLst/>
            </a:prstGeom>
            <a:solidFill>
              <a:srgbClr val="FFFF00"/>
            </a:solidFill>
            <a:ln w="38100">
              <a:solidFill>
                <a:schemeClr val="tx2"/>
              </a:solidFill>
              <a:round/>
              <a:headEnd/>
              <a:tailEnd/>
            </a:ln>
          </p:spPr>
          <p:txBody>
            <a:bodyPr wrap="none" anchor="ctr"/>
            <a:lstStyle/>
            <a:p>
              <a:pPr algn="ctr"/>
              <a:r>
                <a:rPr lang="en-US" altLang="zh-CN" sz="2400" b="1"/>
                <a:t>C1</a:t>
              </a:r>
              <a:endParaRPr lang="en-US" altLang="zh-CN" sz="2400"/>
            </a:p>
          </p:txBody>
        </p:sp>
        <p:sp>
          <p:nvSpPr>
            <p:cNvPr id="9" name="Oval 8"/>
            <p:cNvSpPr>
              <a:spLocks noChangeArrowheads="1"/>
            </p:cNvSpPr>
            <p:nvPr/>
          </p:nvSpPr>
          <p:spPr bwMode="auto">
            <a:xfrm>
              <a:off x="3481360" y="1177924"/>
              <a:ext cx="533400" cy="533400"/>
            </a:xfrm>
            <a:prstGeom prst="ellipse">
              <a:avLst/>
            </a:prstGeom>
            <a:solidFill>
              <a:srgbClr val="3333CC"/>
            </a:solidFill>
            <a:ln w="38100">
              <a:solidFill>
                <a:srgbClr val="CCECFF"/>
              </a:solidFill>
              <a:round/>
              <a:headEnd/>
              <a:tailEnd/>
            </a:ln>
          </p:spPr>
          <p:txBody>
            <a:bodyPr wrap="none" anchor="ctr"/>
            <a:lstStyle/>
            <a:p>
              <a:pPr algn="ctr"/>
              <a:r>
                <a:rPr lang="en-US" altLang="zh-CN" sz="2400" b="1" dirty="0">
                  <a:solidFill>
                    <a:schemeClr val="bg1"/>
                  </a:solidFill>
                </a:rPr>
                <a:t>C2</a:t>
              </a:r>
              <a:endParaRPr lang="en-US" altLang="zh-CN" sz="2400" dirty="0">
                <a:solidFill>
                  <a:schemeClr val="bg1"/>
                </a:solidFill>
              </a:endParaRPr>
            </a:p>
          </p:txBody>
        </p:sp>
        <p:sp>
          <p:nvSpPr>
            <p:cNvPr id="10" name="Oval 9"/>
            <p:cNvSpPr>
              <a:spLocks noChangeArrowheads="1"/>
            </p:cNvSpPr>
            <p:nvPr/>
          </p:nvSpPr>
          <p:spPr bwMode="auto">
            <a:xfrm>
              <a:off x="3481360" y="2625724"/>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t>C5</a:t>
              </a:r>
              <a:endParaRPr lang="en-US" altLang="zh-CN" sz="2400"/>
            </a:p>
          </p:txBody>
        </p:sp>
        <p:sp>
          <p:nvSpPr>
            <p:cNvPr id="11" name="Text Box 10"/>
            <p:cNvSpPr txBox="1">
              <a:spLocks noChangeArrowheads="1"/>
            </p:cNvSpPr>
            <p:nvPr/>
          </p:nvSpPr>
          <p:spPr bwMode="auto">
            <a:xfrm>
              <a:off x="1857356" y="3286124"/>
              <a:ext cx="1742785" cy="400110"/>
            </a:xfrm>
            <a:prstGeom prst="rect">
              <a:avLst/>
            </a:prstGeom>
            <a:noFill/>
            <a:ln w="9525">
              <a:noFill/>
              <a:miter lim="800000"/>
              <a:headEnd/>
              <a:tailEnd/>
            </a:ln>
          </p:spPr>
          <p:txBody>
            <a:bodyPr wrap="none">
              <a:spAutoFit/>
            </a:bodyPr>
            <a:lstStyle/>
            <a:p>
              <a:r>
                <a:rPr lang="en-US" altLang="zh-CN" sz="2000" b="1" dirty="0">
                  <a:latin typeface="宋体" pitchFamily="2" charset="-122"/>
                </a:rPr>
                <a:t>(e)Output C2</a:t>
              </a:r>
            </a:p>
          </p:txBody>
        </p:sp>
      </p:grpSp>
      <p:grpSp>
        <p:nvGrpSpPr>
          <p:cNvPr id="19" name="组合 18"/>
          <p:cNvGrpSpPr/>
          <p:nvPr/>
        </p:nvGrpSpPr>
        <p:grpSpPr>
          <a:xfrm>
            <a:off x="6881818" y="1071546"/>
            <a:ext cx="2271676" cy="2436872"/>
            <a:chOff x="5857884" y="1177924"/>
            <a:chExt cx="2271676" cy="2436872"/>
          </a:xfrm>
        </p:grpSpPr>
        <p:sp>
          <p:nvSpPr>
            <p:cNvPr id="4" name="Line 2"/>
            <p:cNvSpPr>
              <a:spLocks noChangeShapeType="1"/>
            </p:cNvSpPr>
            <p:nvPr/>
          </p:nvSpPr>
          <p:spPr bwMode="auto">
            <a:xfrm flipH="1" flipV="1">
              <a:off x="6453160" y="1558924"/>
              <a:ext cx="1219200" cy="1143000"/>
            </a:xfrm>
            <a:prstGeom prst="line">
              <a:avLst/>
            </a:prstGeom>
            <a:noFill/>
            <a:ln w="38100">
              <a:solidFill>
                <a:srgbClr val="FF3300"/>
              </a:solidFill>
              <a:round/>
              <a:headEnd type="triangle" w="sm" len="lg"/>
              <a:tailEnd type="none" w="sm" len="lg"/>
            </a:ln>
          </p:spPr>
          <p:txBody>
            <a:bodyPr wrap="none" anchor="ctr"/>
            <a:lstStyle/>
            <a:p>
              <a:endParaRPr lang="zh-CN" altLang="en-US"/>
            </a:p>
          </p:txBody>
        </p:sp>
        <p:sp>
          <p:nvSpPr>
            <p:cNvPr id="12" name="Oval 11"/>
            <p:cNvSpPr>
              <a:spLocks noChangeArrowheads="1"/>
            </p:cNvSpPr>
            <p:nvPr/>
          </p:nvSpPr>
          <p:spPr bwMode="auto">
            <a:xfrm>
              <a:off x="7596160" y="2625724"/>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t>C5</a:t>
              </a:r>
              <a:endParaRPr lang="en-US" altLang="zh-CN" sz="2400"/>
            </a:p>
          </p:txBody>
        </p:sp>
        <p:sp>
          <p:nvSpPr>
            <p:cNvPr id="13" name="Oval 12"/>
            <p:cNvSpPr>
              <a:spLocks noChangeArrowheads="1"/>
            </p:cNvSpPr>
            <p:nvPr/>
          </p:nvSpPr>
          <p:spPr bwMode="auto">
            <a:xfrm>
              <a:off x="6072160" y="1177924"/>
              <a:ext cx="533400" cy="533400"/>
            </a:xfrm>
            <a:prstGeom prst="ellipse">
              <a:avLst/>
            </a:prstGeom>
            <a:solidFill>
              <a:srgbClr val="3333CC"/>
            </a:solidFill>
            <a:ln w="38100">
              <a:solidFill>
                <a:srgbClr val="CCECFF"/>
              </a:solidFill>
              <a:round/>
              <a:headEnd/>
              <a:tailEnd/>
            </a:ln>
          </p:spPr>
          <p:txBody>
            <a:bodyPr wrap="none" anchor="ctr"/>
            <a:lstStyle/>
            <a:p>
              <a:pPr algn="ctr"/>
              <a:r>
                <a:rPr lang="en-US" altLang="zh-CN" sz="2400" b="1">
                  <a:solidFill>
                    <a:schemeClr val="bg1"/>
                  </a:solidFill>
                </a:rPr>
                <a:t>C1</a:t>
              </a:r>
              <a:endParaRPr lang="en-US" altLang="zh-CN" sz="2400">
                <a:solidFill>
                  <a:schemeClr val="bg1"/>
                </a:solidFill>
              </a:endParaRPr>
            </a:p>
          </p:txBody>
        </p:sp>
        <p:sp>
          <p:nvSpPr>
            <p:cNvPr id="14" name="Text Box 13"/>
            <p:cNvSpPr txBox="1">
              <a:spLocks noChangeArrowheads="1"/>
            </p:cNvSpPr>
            <p:nvPr/>
          </p:nvSpPr>
          <p:spPr bwMode="auto">
            <a:xfrm>
              <a:off x="5857884" y="3214686"/>
              <a:ext cx="1742785" cy="400110"/>
            </a:xfrm>
            <a:prstGeom prst="rect">
              <a:avLst/>
            </a:prstGeom>
            <a:noFill/>
            <a:ln w="9525">
              <a:noFill/>
              <a:miter lim="800000"/>
              <a:headEnd/>
              <a:tailEnd/>
            </a:ln>
          </p:spPr>
          <p:txBody>
            <a:bodyPr wrap="none">
              <a:spAutoFit/>
            </a:bodyPr>
            <a:lstStyle/>
            <a:p>
              <a:r>
                <a:rPr lang="en-US" altLang="zh-CN" sz="2000" b="1" dirty="0">
                  <a:latin typeface="宋体" pitchFamily="2" charset="-122"/>
                </a:rPr>
                <a:t>(f)Output C1</a:t>
              </a:r>
              <a:endParaRPr lang="en-US" altLang="zh-CN" sz="2000" dirty="0">
                <a:latin typeface="宋体" pitchFamily="2" charset="-122"/>
              </a:endParaRPr>
            </a:p>
          </p:txBody>
        </p:sp>
      </p:grpSp>
      <p:sp>
        <p:nvSpPr>
          <p:cNvPr id="16" name="Text Box 17"/>
          <p:cNvSpPr txBox="1">
            <a:spLocks noChangeArrowheads="1"/>
          </p:cNvSpPr>
          <p:nvPr/>
        </p:nvSpPr>
        <p:spPr bwMode="auto">
          <a:xfrm>
            <a:off x="7096132" y="4465630"/>
            <a:ext cx="1483098" cy="400110"/>
          </a:xfrm>
          <a:prstGeom prst="rect">
            <a:avLst/>
          </a:prstGeom>
          <a:noFill/>
          <a:ln w="9525">
            <a:noFill/>
            <a:miter lim="800000"/>
            <a:headEnd/>
            <a:tailEnd/>
          </a:ln>
        </p:spPr>
        <p:txBody>
          <a:bodyPr wrap="none">
            <a:spAutoFit/>
          </a:bodyPr>
          <a:lstStyle/>
          <a:p>
            <a:r>
              <a:rPr lang="en-US" altLang="zh-CN" sz="2000" b="1" dirty="0">
                <a:latin typeface="宋体" pitchFamily="2" charset="-122"/>
              </a:rPr>
              <a:t>(h)</a:t>
            </a:r>
            <a:r>
              <a:rPr lang="zh-CN" altLang="en-US" sz="2000" b="1" dirty="0">
                <a:latin typeface="宋体" pitchFamily="2" charset="-122"/>
              </a:rPr>
              <a:t> </a:t>
            </a:r>
            <a:r>
              <a:rPr lang="en-US" altLang="zh-CN" sz="2000" b="1" dirty="0">
                <a:latin typeface="宋体" pitchFamily="2" charset="-122"/>
              </a:rPr>
              <a:t>Finish</a:t>
            </a:r>
            <a:endParaRPr lang="zh-CN" altLang="en-US" sz="2000" b="1" dirty="0">
              <a:latin typeface="宋体" pitchFamily="2" charset="-122"/>
            </a:endParaRPr>
          </a:p>
        </p:txBody>
      </p:sp>
      <p:grpSp>
        <p:nvGrpSpPr>
          <p:cNvPr id="20" name="组合 19"/>
          <p:cNvGrpSpPr/>
          <p:nvPr/>
        </p:nvGrpSpPr>
        <p:grpSpPr>
          <a:xfrm>
            <a:off x="2881291" y="3894126"/>
            <a:ext cx="1742785" cy="1043052"/>
            <a:chOff x="1857356" y="4000504"/>
            <a:chExt cx="1742785" cy="1043052"/>
          </a:xfrm>
        </p:grpSpPr>
        <p:sp>
          <p:nvSpPr>
            <p:cNvPr id="15" name="Text Box 15"/>
            <p:cNvSpPr txBox="1">
              <a:spLocks noChangeArrowheads="1"/>
            </p:cNvSpPr>
            <p:nvPr/>
          </p:nvSpPr>
          <p:spPr bwMode="auto">
            <a:xfrm>
              <a:off x="1857356" y="4643446"/>
              <a:ext cx="1742785" cy="400110"/>
            </a:xfrm>
            <a:prstGeom prst="rect">
              <a:avLst/>
            </a:prstGeom>
            <a:noFill/>
            <a:ln w="9525">
              <a:noFill/>
              <a:miter lim="800000"/>
              <a:headEnd/>
              <a:tailEnd/>
            </a:ln>
          </p:spPr>
          <p:txBody>
            <a:bodyPr wrap="none">
              <a:spAutoFit/>
            </a:bodyPr>
            <a:lstStyle/>
            <a:p>
              <a:r>
                <a:rPr lang="en-US" altLang="zh-CN" sz="2000" b="1" dirty="0">
                  <a:latin typeface="宋体" pitchFamily="2" charset="-122"/>
                </a:rPr>
                <a:t>(g)Output C5</a:t>
              </a:r>
            </a:p>
          </p:txBody>
        </p:sp>
        <p:sp>
          <p:nvSpPr>
            <p:cNvPr id="17" name="Oval 18"/>
            <p:cNvSpPr>
              <a:spLocks noChangeArrowheads="1"/>
            </p:cNvSpPr>
            <p:nvPr/>
          </p:nvSpPr>
          <p:spPr bwMode="auto">
            <a:xfrm>
              <a:off x="2643174" y="4000504"/>
              <a:ext cx="533400" cy="533400"/>
            </a:xfrm>
            <a:prstGeom prst="ellipse">
              <a:avLst/>
            </a:prstGeom>
            <a:solidFill>
              <a:srgbClr val="FFFF00"/>
            </a:solidFill>
            <a:ln w="38100">
              <a:solidFill>
                <a:srgbClr val="FF3300"/>
              </a:solidFill>
              <a:round/>
              <a:headEnd/>
              <a:tailEnd/>
            </a:ln>
          </p:spPr>
          <p:txBody>
            <a:bodyPr wrap="none" anchor="ctr"/>
            <a:lstStyle/>
            <a:p>
              <a:pPr algn="ctr"/>
              <a:r>
                <a:rPr lang="en-US" altLang="zh-CN" sz="2400" b="1"/>
                <a:t>C5</a:t>
              </a:r>
              <a:endParaRPr lang="en-US" altLang="zh-CN" sz="2400"/>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Topological Sorting: </a:t>
            </a:r>
            <a:r>
              <a:rPr lang="en-US" altLang="zh-CN" sz="2400" b="1" dirty="0"/>
              <a:t>Breadth-First Algorithm</a:t>
            </a:r>
            <a:endParaRPr lang="zh-CN" altLang="en-US" sz="2400" dirty="0"/>
          </a:p>
        </p:txBody>
      </p:sp>
      <p:sp>
        <p:nvSpPr>
          <p:cNvPr id="3" name="内容占位符 2"/>
          <p:cNvSpPr>
            <a:spLocks noGrp="1"/>
          </p:cNvSpPr>
          <p:nvPr>
            <p:ph idx="1"/>
          </p:nvPr>
        </p:nvSpPr>
        <p:spPr/>
        <p:txBody>
          <a:bodyPr/>
          <a:lstStyle/>
          <a:p>
            <a:pPr eaLnBrk="1" hangingPunct="1"/>
            <a:r>
              <a:rPr lang="en-US" altLang="zh-CN" dirty="0" smtClean="0"/>
              <a:t>If the graph was a </a:t>
            </a:r>
            <a:r>
              <a:rPr lang="en-US" altLang="zh-CN" dirty="0" smtClean="0">
                <a:solidFill>
                  <a:srgbClr val="FF0000"/>
                </a:solidFill>
              </a:rPr>
              <a:t>DAG</a:t>
            </a:r>
            <a:r>
              <a:rPr lang="en-US" altLang="zh-CN" dirty="0" smtClean="0"/>
              <a:t>, a solution is contained in the list L (the solution is not unique). Otherwise, the graph has at least one cycle and therefore a topological sorting is impossible.</a:t>
            </a:r>
          </a:p>
          <a:p>
            <a:pPr eaLnBrk="1" hangingPunct="1"/>
            <a:r>
              <a:rPr lang="en-US" altLang="zh-CN" dirty="0" smtClean="0"/>
              <a:t>The usual algorithms for topological sorting have running time linear in the number of nodes plus the number of edges, asymptotically, O(|V|+|E|).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Topological Sorting: </a:t>
            </a:r>
            <a:r>
              <a:rPr lang="en-US" altLang="zh-CN" sz="2400" b="1" dirty="0"/>
              <a:t>Breadth-First Algorithm</a:t>
            </a:r>
            <a:endParaRPr lang="zh-CN" altLang="en-US" sz="2400" dirty="0"/>
          </a:p>
        </p:txBody>
      </p:sp>
      <p:sp>
        <p:nvSpPr>
          <p:cNvPr id="3" name="内容占位符 2"/>
          <p:cNvSpPr>
            <a:spLocks noGrp="1"/>
          </p:cNvSpPr>
          <p:nvPr>
            <p:ph idx="1"/>
          </p:nvPr>
        </p:nvSpPr>
        <p:spPr/>
        <p:txBody>
          <a:bodyPr/>
          <a:lstStyle/>
          <a:p>
            <a:r>
              <a:rPr lang="zh-CN" altLang="en-US" dirty="0" smtClean="0"/>
              <a:t>有向图的存储形式的不同，拓扑排序算法的实现也不同。 </a:t>
            </a:r>
          </a:p>
          <a:p>
            <a:r>
              <a:rPr lang="zh-CN" altLang="en-US" dirty="0" smtClean="0"/>
              <a:t>基于邻接矩阵表示的存储结构，设</a:t>
            </a:r>
            <a:r>
              <a:rPr lang="en-US" altLang="zh-CN" dirty="0" smtClean="0"/>
              <a:t>A</a:t>
            </a:r>
            <a:r>
              <a:rPr lang="zh-CN" altLang="en-US" dirty="0" smtClean="0"/>
              <a:t>为有向图</a:t>
            </a:r>
            <a:r>
              <a:rPr lang="en-US" altLang="zh-CN" dirty="0" smtClean="0"/>
              <a:t>G</a:t>
            </a:r>
            <a:r>
              <a:rPr lang="zh-CN" altLang="en-US" dirty="0" smtClean="0"/>
              <a:t>的邻接矩阵，则有：</a:t>
            </a:r>
          </a:p>
          <a:p>
            <a:pPr lvl="1"/>
            <a:r>
              <a:rPr lang="zh-CN" altLang="en-US" sz="2200" dirty="0"/>
              <a:t>找图</a:t>
            </a:r>
            <a:r>
              <a:rPr lang="en-US" altLang="zh-CN" sz="2200" dirty="0"/>
              <a:t>G</a:t>
            </a:r>
            <a:r>
              <a:rPr lang="zh-CN" altLang="en-US" sz="2200" dirty="0"/>
              <a:t>中无前驱的顶点</a:t>
            </a:r>
            <a:r>
              <a:rPr lang="en-US" altLang="zh-CN" sz="2200" dirty="0"/>
              <a:t>——</a:t>
            </a:r>
            <a:r>
              <a:rPr lang="zh-CN" altLang="en-US" sz="2200" dirty="0"/>
              <a:t>在</a:t>
            </a:r>
            <a:r>
              <a:rPr lang="en-US" altLang="zh-CN" sz="2200" dirty="0"/>
              <a:t>A</a:t>
            </a:r>
            <a:r>
              <a:rPr lang="zh-CN" altLang="en-US" sz="2200" dirty="0"/>
              <a:t>中找到值全为</a:t>
            </a:r>
            <a:r>
              <a:rPr lang="en-US" altLang="zh-CN" sz="2200" dirty="0"/>
              <a:t>0</a:t>
            </a:r>
            <a:r>
              <a:rPr lang="zh-CN" altLang="en-US" sz="2200" dirty="0"/>
              <a:t>的列</a:t>
            </a:r>
            <a:endParaRPr lang="en-US" altLang="zh-CN" sz="2200" dirty="0"/>
          </a:p>
          <a:p>
            <a:pPr lvl="1"/>
            <a:r>
              <a:rPr lang="zh-CN" altLang="en-US" sz="2200" dirty="0"/>
              <a:t>删除以</a:t>
            </a:r>
            <a:r>
              <a:rPr lang="en-US" altLang="zh-CN" sz="2200" dirty="0" err="1"/>
              <a:t>i</a:t>
            </a:r>
            <a:r>
              <a:rPr lang="zh-CN" altLang="en-US" sz="2200" dirty="0"/>
              <a:t>为起点的所有弧</a:t>
            </a:r>
            <a:r>
              <a:rPr lang="en-US" altLang="zh-CN" sz="2200" dirty="0"/>
              <a:t>——</a:t>
            </a:r>
            <a:r>
              <a:rPr lang="zh-CN" altLang="en-US" sz="2200" dirty="0"/>
              <a:t>将矩阵中</a:t>
            </a:r>
            <a:r>
              <a:rPr lang="en-US" altLang="zh-CN" sz="2200" dirty="0" err="1"/>
              <a:t>i</a:t>
            </a:r>
            <a:r>
              <a:rPr lang="zh-CN" altLang="en-US" sz="2200" dirty="0"/>
              <a:t>对应的行全部置为</a:t>
            </a:r>
            <a:r>
              <a:rPr lang="en-US" altLang="zh-CN" sz="2200" dirty="0"/>
              <a:t>0</a:t>
            </a:r>
            <a:r>
              <a:rPr lang="zh-CN" altLang="en-US" sz="2200" dirty="0"/>
              <a:t>。</a:t>
            </a:r>
          </a:p>
          <a:p>
            <a:r>
              <a:rPr lang="zh-CN" altLang="en-US" dirty="0" smtClean="0"/>
              <a:t>基于邻接表的存储结构：入度为零的顶点即为没有前驱的顶点，我们可以附设一个存放各顶点入度的数组</a:t>
            </a:r>
            <a:r>
              <a:rPr lang="en-US" altLang="zh-CN" dirty="0" err="1" smtClean="0"/>
              <a:t>indegree</a:t>
            </a:r>
            <a:r>
              <a:rPr lang="en-US" altLang="zh-CN" dirty="0" smtClean="0"/>
              <a:t>[]</a:t>
            </a:r>
            <a:r>
              <a:rPr lang="zh-CN" altLang="en-US" dirty="0" smtClean="0"/>
              <a:t>，则有：</a:t>
            </a:r>
          </a:p>
          <a:p>
            <a:pPr lvl="1"/>
            <a:r>
              <a:rPr lang="zh-CN" altLang="en-US" sz="2200" dirty="0"/>
              <a:t>找</a:t>
            </a:r>
            <a:r>
              <a:rPr lang="en-US" altLang="zh-CN" sz="2200" dirty="0"/>
              <a:t>G</a:t>
            </a:r>
            <a:r>
              <a:rPr lang="zh-CN" altLang="en-US" sz="2200" dirty="0"/>
              <a:t>中无前驱的顶点</a:t>
            </a:r>
            <a:r>
              <a:rPr lang="en-US" altLang="zh-CN" sz="2200" dirty="0"/>
              <a:t>——</a:t>
            </a:r>
            <a:r>
              <a:rPr lang="zh-CN" altLang="en-US" sz="2200" dirty="0"/>
              <a:t>查找</a:t>
            </a:r>
            <a:r>
              <a:rPr lang="en-US" altLang="zh-CN" sz="2200" dirty="0" err="1"/>
              <a:t>indegree</a:t>
            </a:r>
            <a:r>
              <a:rPr lang="en-US" altLang="zh-CN" sz="2200" dirty="0"/>
              <a:t>[</a:t>
            </a:r>
            <a:r>
              <a:rPr lang="en-US" altLang="zh-CN" sz="2200" dirty="0" err="1"/>
              <a:t>i</a:t>
            </a:r>
            <a:r>
              <a:rPr lang="en-US" altLang="zh-CN" sz="2200" dirty="0"/>
              <a:t>]</a:t>
            </a:r>
            <a:r>
              <a:rPr lang="zh-CN" altLang="en-US" sz="2200" dirty="0"/>
              <a:t>为零的顶点</a:t>
            </a:r>
            <a:r>
              <a:rPr lang="en-US" altLang="zh-CN" sz="2200" dirty="0"/>
              <a:t>vi</a:t>
            </a:r>
            <a:r>
              <a:rPr lang="zh-CN" altLang="en-US" sz="2200" dirty="0"/>
              <a:t>；</a:t>
            </a:r>
          </a:p>
          <a:p>
            <a:pPr lvl="1"/>
            <a:r>
              <a:rPr lang="zh-CN" altLang="en-US" sz="2200" dirty="0"/>
              <a:t>删除以</a:t>
            </a:r>
            <a:r>
              <a:rPr lang="en-US" altLang="zh-CN" sz="2200" dirty="0" err="1"/>
              <a:t>i</a:t>
            </a:r>
            <a:r>
              <a:rPr lang="zh-CN" altLang="en-US" sz="2200" dirty="0"/>
              <a:t>为起点的所有弧</a:t>
            </a:r>
            <a:r>
              <a:rPr lang="en-US" altLang="zh-CN" sz="2200" dirty="0"/>
              <a:t>——</a:t>
            </a:r>
            <a:r>
              <a:rPr lang="zh-CN" altLang="en-US" sz="2200" dirty="0"/>
              <a:t>对链在顶点</a:t>
            </a:r>
            <a:r>
              <a:rPr lang="en-US" altLang="zh-CN" sz="2200" dirty="0" err="1"/>
              <a:t>i</a:t>
            </a:r>
            <a:r>
              <a:rPr lang="zh-CN" altLang="en-US" sz="2200" dirty="0"/>
              <a:t>后面的所有邻接顶点</a:t>
            </a:r>
            <a:r>
              <a:rPr lang="en-US" altLang="zh-CN" sz="2200" dirty="0"/>
              <a:t>k</a:t>
            </a:r>
            <a:r>
              <a:rPr lang="zh-CN" altLang="en-US" sz="2200" dirty="0"/>
              <a:t>，将对应的</a:t>
            </a:r>
            <a:r>
              <a:rPr lang="en-US" altLang="zh-CN" sz="2200" dirty="0" err="1"/>
              <a:t>indegree</a:t>
            </a:r>
            <a:r>
              <a:rPr lang="en-US" altLang="zh-CN" sz="2200" dirty="0"/>
              <a:t>[k]</a:t>
            </a:r>
            <a:r>
              <a:rPr lang="zh-CN" altLang="en-US" sz="2200" dirty="0"/>
              <a:t>减</a:t>
            </a:r>
            <a:r>
              <a:rPr lang="en-US" altLang="zh-CN" sz="2200" dirty="0"/>
              <a:t>1</a:t>
            </a:r>
            <a:r>
              <a:rPr lang="zh-CN" altLang="en-US" sz="2200" dirty="0"/>
              <a:t>。 </a:t>
            </a:r>
          </a:p>
          <a:p>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Topological Sorting: </a:t>
            </a:r>
            <a:r>
              <a:rPr lang="en-US" altLang="zh-CN" sz="2400" b="1" dirty="0"/>
              <a:t>Breadth-First Algorithm</a:t>
            </a:r>
            <a:endParaRPr lang="zh-CN" altLang="en-US" sz="2400" dirty="0"/>
          </a:p>
        </p:txBody>
      </p:sp>
      <p:pic>
        <p:nvPicPr>
          <p:cNvPr id="26626" name="Picture 2"/>
          <p:cNvPicPr>
            <a:picLocks noChangeAspect="1" noChangeArrowheads="1"/>
          </p:cNvPicPr>
          <p:nvPr/>
        </p:nvPicPr>
        <p:blipFill>
          <a:blip r:embed="rId2"/>
          <a:srcRect/>
          <a:stretch>
            <a:fillRect/>
          </a:stretch>
        </p:blipFill>
        <p:spPr bwMode="auto">
          <a:xfrm>
            <a:off x="1952596" y="908108"/>
            <a:ext cx="6500858" cy="5735603"/>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Topological Sorting: </a:t>
            </a:r>
            <a:r>
              <a:rPr lang="en-US" altLang="zh-CN" sz="2400" b="1" dirty="0"/>
              <a:t>Depth-First Algorithm</a:t>
            </a:r>
            <a:endParaRPr lang="zh-CN" altLang="en-US" sz="2400" dirty="0"/>
          </a:p>
        </p:txBody>
      </p:sp>
      <p:pic>
        <p:nvPicPr>
          <p:cNvPr id="14338" name="Picture 2"/>
          <p:cNvPicPr>
            <a:picLocks noChangeAspect="1" noChangeArrowheads="1"/>
          </p:cNvPicPr>
          <p:nvPr/>
        </p:nvPicPr>
        <p:blipFill>
          <a:blip r:embed="rId2" cstate="print"/>
          <a:srcRect/>
          <a:stretch>
            <a:fillRect/>
          </a:stretch>
        </p:blipFill>
        <p:spPr bwMode="auto">
          <a:xfrm>
            <a:off x="2238348" y="2714621"/>
            <a:ext cx="6847352" cy="3772111"/>
          </a:xfrm>
          <a:prstGeom prst="rect">
            <a:avLst/>
          </a:prstGeom>
          <a:noFill/>
          <a:ln w="9525">
            <a:noFill/>
            <a:miter lim="800000"/>
            <a:headEnd/>
            <a:tailEnd/>
          </a:ln>
          <a:effectLst/>
        </p:spPr>
      </p:pic>
      <p:sp>
        <p:nvSpPr>
          <p:cNvPr id="5" name="Rectangle 4"/>
          <p:cNvSpPr>
            <a:spLocks noChangeArrowheads="1"/>
          </p:cNvSpPr>
          <p:nvPr/>
        </p:nvSpPr>
        <p:spPr bwMode="auto">
          <a:xfrm>
            <a:off x="1952596" y="1000108"/>
            <a:ext cx="8034366" cy="1571636"/>
          </a:xfrm>
          <a:prstGeom prst="rect">
            <a:avLst/>
          </a:prstGeom>
          <a:solidFill>
            <a:srgbClr val="CCECFF"/>
          </a:solidFill>
          <a:ln w="9525">
            <a:solidFill>
              <a:schemeClr val="tx1"/>
            </a:solidFill>
            <a:miter lim="800000"/>
            <a:headEnd/>
            <a:tailEnd/>
          </a:ln>
          <a:effectLst>
            <a:outerShdw dist="107763" dir="2700000" algn="ctr" rotWithShape="0">
              <a:schemeClr val="bg2"/>
            </a:outerShdw>
          </a:effectLst>
        </p:spPr>
        <p:txBody>
          <a:bodyPr lIns="92075" tIns="46038" rIns="92075" bIns="46038"/>
          <a:lstStyle/>
          <a:p>
            <a:pPr marL="457200" indent="-457200" eaLnBrk="0" hangingPunct="0">
              <a:spcBef>
                <a:spcPct val="20000"/>
              </a:spcBef>
              <a:defRPr/>
            </a:pPr>
            <a:r>
              <a:rPr lang="en-US" altLang="zh-CN" sz="2000" u="sng" dirty="0"/>
              <a:t>Topological-Sort </a:t>
            </a:r>
            <a:r>
              <a:rPr lang="en-US" altLang="zh-CN" sz="2000" u="sng" dirty="0">
                <a:latin typeface="RMTMI" charset="-95"/>
              </a:rPr>
              <a:t>(</a:t>
            </a:r>
            <a:r>
              <a:rPr lang="en-US" altLang="zh-CN" sz="2000" i="1" u="sng" dirty="0"/>
              <a:t>G</a:t>
            </a:r>
            <a:r>
              <a:rPr lang="en-US" altLang="zh-CN" sz="2000" u="sng" dirty="0">
                <a:latin typeface="RMTMI" charset="-95"/>
              </a:rPr>
              <a:t>)</a:t>
            </a:r>
          </a:p>
          <a:p>
            <a:pPr marL="457200" indent="-457200" eaLnBrk="0" hangingPunct="0">
              <a:spcBef>
                <a:spcPct val="20000"/>
              </a:spcBef>
              <a:buFont typeface="Wingdings" pitchFamily="2" charset="2"/>
              <a:buAutoNum type="arabicPeriod"/>
              <a:defRPr/>
            </a:pPr>
            <a:r>
              <a:rPr lang="en-US" altLang="zh-CN" sz="2000" dirty="0"/>
              <a:t>Call DFS</a:t>
            </a:r>
            <a:r>
              <a:rPr lang="en-US" altLang="zh-CN" sz="2000" dirty="0">
                <a:latin typeface="RMTMI" charset="-95"/>
              </a:rPr>
              <a:t>(</a:t>
            </a:r>
            <a:r>
              <a:rPr lang="en-US" altLang="zh-CN" sz="2000" i="1" dirty="0"/>
              <a:t>G</a:t>
            </a:r>
            <a:r>
              <a:rPr lang="en-US" altLang="zh-CN" sz="2000" dirty="0">
                <a:latin typeface="RMTMI" charset="-95"/>
              </a:rPr>
              <a:t>)</a:t>
            </a:r>
            <a:r>
              <a:rPr lang="en-US" altLang="zh-CN" sz="2000" i="1" dirty="0">
                <a:latin typeface="RMTMI" charset="-95"/>
              </a:rPr>
              <a:t> </a:t>
            </a:r>
            <a:r>
              <a:rPr lang="en-US" altLang="zh-CN" sz="2000" dirty="0"/>
              <a:t>to compute finishing times </a:t>
            </a:r>
            <a:r>
              <a:rPr lang="en-US" altLang="zh-CN" sz="2000" i="1" dirty="0"/>
              <a:t>f </a:t>
            </a:r>
            <a:r>
              <a:rPr lang="en-US" altLang="zh-CN" sz="2000" dirty="0"/>
              <a:t>[</a:t>
            </a:r>
            <a:r>
              <a:rPr lang="en-US" altLang="zh-CN" sz="2000" i="1" dirty="0">
                <a:latin typeface="RMTMI" charset="-95"/>
              </a:rPr>
              <a:t>v</a:t>
            </a:r>
            <a:r>
              <a:rPr lang="en-US" altLang="zh-CN" sz="2000" dirty="0"/>
              <a:t>] for all </a:t>
            </a:r>
            <a:r>
              <a:rPr lang="en-US" altLang="zh-CN" sz="2000" i="1" dirty="0">
                <a:latin typeface="RMTMI" charset="-95"/>
              </a:rPr>
              <a:t>v </a:t>
            </a:r>
            <a:r>
              <a:rPr lang="en-US" altLang="zh-CN" sz="2000" dirty="0">
                <a:sym typeface="Symbol" pitchFamily="18" charset="2"/>
              </a:rPr>
              <a:t></a:t>
            </a:r>
            <a:r>
              <a:rPr lang="en-US" altLang="zh-CN" sz="2000" dirty="0">
                <a:latin typeface="MTSYN" charset="-127"/>
              </a:rPr>
              <a:t> </a:t>
            </a:r>
            <a:r>
              <a:rPr lang="en-US" altLang="zh-CN" sz="2000" i="1" dirty="0"/>
              <a:t>V</a:t>
            </a:r>
          </a:p>
          <a:p>
            <a:pPr marL="457200" indent="-457200" eaLnBrk="0" hangingPunct="0">
              <a:spcBef>
                <a:spcPct val="20000"/>
              </a:spcBef>
              <a:buFont typeface="Wingdings" pitchFamily="2" charset="2"/>
              <a:buAutoNum type="arabicPeriod"/>
              <a:defRPr/>
            </a:pPr>
            <a:r>
              <a:rPr lang="en-US" altLang="zh-CN" sz="2000" dirty="0"/>
              <a:t>As each vertex is finished, insert it onto the front of a linked list</a:t>
            </a:r>
          </a:p>
          <a:p>
            <a:pPr marL="457200" indent="-457200" eaLnBrk="0" hangingPunct="0">
              <a:spcBef>
                <a:spcPct val="20000"/>
              </a:spcBef>
              <a:buFont typeface="Wingdings" pitchFamily="2" charset="2"/>
              <a:buAutoNum type="arabicPeriod"/>
              <a:defRPr/>
            </a:pPr>
            <a:r>
              <a:rPr lang="en-US" altLang="zh-CN" sz="2000" b="1" dirty="0"/>
              <a:t>return</a:t>
            </a:r>
            <a:r>
              <a:rPr lang="en-US" altLang="zh-CN" sz="2000" dirty="0"/>
              <a:t> the linked list of vertices</a:t>
            </a:r>
            <a:endParaRPr lang="zh-CN" altLang="en-US" sz="2000" dirty="0">
              <a:sym typeface="Symbol" pitchFamily="18" charset="2"/>
            </a:endParaRPr>
          </a:p>
        </p:txBody>
      </p:sp>
      <p:sp>
        <p:nvSpPr>
          <p:cNvPr id="3" name="矩形标注 2"/>
          <p:cNvSpPr/>
          <p:nvPr/>
        </p:nvSpPr>
        <p:spPr>
          <a:xfrm>
            <a:off x="9408368" y="2780928"/>
            <a:ext cx="2451399" cy="864096"/>
          </a:xfrm>
          <a:prstGeom prst="wedgeRectCallout">
            <a:avLst>
              <a:gd name="adj1" fmla="val -71351"/>
              <a:gd name="adj2" fmla="val -96649"/>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smtClean="0"/>
              <a:t>i.e., sorted from largest to smallest by finishing time</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Topological Sorting: </a:t>
            </a:r>
            <a:r>
              <a:rPr lang="en-US" altLang="zh-CN" sz="2800" b="1" dirty="0"/>
              <a:t>Depth-First Algorithm</a:t>
            </a:r>
            <a:endParaRPr lang="zh-CN" altLang="en-US" sz="2800" dirty="0"/>
          </a:p>
        </p:txBody>
      </p:sp>
      <p:pic>
        <p:nvPicPr>
          <p:cNvPr id="15363" name="Picture 3"/>
          <p:cNvPicPr>
            <a:picLocks noChangeAspect="1" noChangeArrowheads="1"/>
          </p:cNvPicPr>
          <p:nvPr/>
        </p:nvPicPr>
        <p:blipFill>
          <a:blip r:embed="rId2" cstate="print"/>
          <a:srcRect/>
          <a:stretch>
            <a:fillRect/>
          </a:stretch>
        </p:blipFill>
        <p:spPr bwMode="auto">
          <a:xfrm>
            <a:off x="2095472" y="1000108"/>
            <a:ext cx="7945454" cy="50720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en-US" altLang="zh-CN" sz="2800" dirty="0"/>
              <a:t>Topological Sorting: </a:t>
            </a:r>
            <a:r>
              <a:rPr lang="en-US" altLang="zh-CN" sz="2800" b="1" dirty="0"/>
              <a:t>Depth-First Algorithm</a:t>
            </a:r>
          </a:p>
        </p:txBody>
      </p:sp>
      <p:grpSp>
        <p:nvGrpSpPr>
          <p:cNvPr id="2" name="组合 18"/>
          <p:cNvGrpSpPr/>
          <p:nvPr/>
        </p:nvGrpSpPr>
        <p:grpSpPr>
          <a:xfrm>
            <a:off x="4640263" y="1571613"/>
            <a:ext cx="2787650" cy="3209627"/>
            <a:chOff x="3116263" y="1906588"/>
            <a:chExt cx="2787650" cy="3209627"/>
          </a:xfrm>
        </p:grpSpPr>
        <p:sp>
          <p:nvSpPr>
            <p:cNvPr id="89091" name="Oval 3"/>
            <p:cNvSpPr>
              <a:spLocks noChangeArrowheads="1"/>
            </p:cNvSpPr>
            <p:nvPr/>
          </p:nvSpPr>
          <p:spPr bwMode="auto">
            <a:xfrm>
              <a:off x="4273550" y="2327275"/>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89092" name="Oval 4"/>
            <p:cNvSpPr>
              <a:spLocks noChangeArrowheads="1"/>
            </p:cNvSpPr>
            <p:nvPr/>
          </p:nvSpPr>
          <p:spPr bwMode="auto">
            <a:xfrm>
              <a:off x="5399088" y="3425825"/>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89093" name="Oval 5"/>
            <p:cNvSpPr>
              <a:spLocks noChangeArrowheads="1"/>
            </p:cNvSpPr>
            <p:nvPr/>
          </p:nvSpPr>
          <p:spPr bwMode="auto">
            <a:xfrm>
              <a:off x="5364163" y="2351088"/>
              <a:ext cx="504825" cy="476250"/>
            </a:xfrm>
            <a:prstGeom prst="ellipse">
              <a:avLst/>
            </a:prstGeom>
            <a:solidFill>
              <a:srgbClr val="CCECFF"/>
            </a:solidFill>
            <a:ln w="9525">
              <a:solidFill>
                <a:schemeClr val="tx1"/>
              </a:solidFill>
              <a:round/>
              <a:headEnd/>
              <a:tailEnd/>
            </a:ln>
          </p:spPr>
          <p:txBody>
            <a:bodyPr wrap="none" anchor="ctr"/>
            <a:lstStyle/>
            <a:p>
              <a:pPr eaLnBrk="0" hangingPunct="0"/>
              <a:r>
                <a:rPr lang="zh-CN" altLang="en-US" sz="2400" b="1"/>
                <a:t> </a:t>
              </a:r>
            </a:p>
          </p:txBody>
        </p:sp>
        <p:sp>
          <p:nvSpPr>
            <p:cNvPr id="89094" name="Line 6"/>
            <p:cNvSpPr>
              <a:spLocks noChangeShapeType="1"/>
            </p:cNvSpPr>
            <p:nvPr/>
          </p:nvSpPr>
          <p:spPr bwMode="auto">
            <a:xfrm>
              <a:off x="5627688" y="2814638"/>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89095" name="Oval 7"/>
            <p:cNvSpPr>
              <a:spLocks noChangeArrowheads="1"/>
            </p:cNvSpPr>
            <p:nvPr/>
          </p:nvSpPr>
          <p:spPr bwMode="auto">
            <a:xfrm>
              <a:off x="3151188" y="3435350"/>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89096" name="Oval 8"/>
            <p:cNvSpPr>
              <a:spLocks noChangeArrowheads="1"/>
            </p:cNvSpPr>
            <p:nvPr/>
          </p:nvSpPr>
          <p:spPr bwMode="auto">
            <a:xfrm>
              <a:off x="3116263" y="2360613"/>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89097" name="Line 9"/>
            <p:cNvSpPr>
              <a:spLocks noChangeShapeType="1"/>
            </p:cNvSpPr>
            <p:nvPr/>
          </p:nvSpPr>
          <p:spPr bwMode="auto">
            <a:xfrm>
              <a:off x="3379788" y="2824163"/>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89098" name="Line 10"/>
            <p:cNvSpPr>
              <a:spLocks noChangeShapeType="1"/>
            </p:cNvSpPr>
            <p:nvPr/>
          </p:nvSpPr>
          <p:spPr bwMode="auto">
            <a:xfrm>
              <a:off x="3606800" y="2584450"/>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89099" name="Line 11"/>
            <p:cNvSpPr>
              <a:spLocks noChangeShapeType="1"/>
            </p:cNvSpPr>
            <p:nvPr/>
          </p:nvSpPr>
          <p:spPr bwMode="auto">
            <a:xfrm flipH="1">
              <a:off x="3635375" y="2786063"/>
              <a:ext cx="823913" cy="8223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89100" name="Text Box 12"/>
            <p:cNvSpPr txBox="1">
              <a:spLocks noChangeArrowheads="1"/>
            </p:cNvSpPr>
            <p:nvPr/>
          </p:nvSpPr>
          <p:spPr bwMode="auto">
            <a:xfrm>
              <a:off x="3565525" y="4654550"/>
              <a:ext cx="1909497" cy="461665"/>
            </a:xfrm>
            <a:prstGeom prst="rect">
              <a:avLst/>
            </a:prstGeom>
            <a:noFill/>
            <a:ln w="9525">
              <a:noFill/>
              <a:miter lim="800000"/>
              <a:headEnd/>
              <a:tailEnd/>
            </a:ln>
          </p:spPr>
          <p:txBody>
            <a:bodyPr wrap="none">
              <a:spAutoFit/>
            </a:bodyPr>
            <a:lstStyle/>
            <a:p>
              <a:pPr algn="l" eaLnBrk="0" hangingPunct="0"/>
              <a:r>
                <a:rPr lang="en-US" altLang="zh-CN" sz="2400" b="1"/>
                <a:t>Linked List:</a:t>
              </a:r>
            </a:p>
          </p:txBody>
        </p:sp>
        <p:sp>
          <p:nvSpPr>
            <p:cNvPr id="89101" name="Text Box 13"/>
            <p:cNvSpPr txBox="1">
              <a:spLocks noChangeArrowheads="1"/>
            </p:cNvSpPr>
            <p:nvPr/>
          </p:nvSpPr>
          <p:spPr bwMode="auto">
            <a:xfrm>
              <a:off x="3168650" y="1911350"/>
              <a:ext cx="404813" cy="457200"/>
            </a:xfrm>
            <a:prstGeom prst="rect">
              <a:avLst/>
            </a:prstGeom>
            <a:noFill/>
            <a:ln w="9525">
              <a:noFill/>
              <a:miter lim="800000"/>
              <a:headEnd/>
              <a:tailEnd/>
            </a:ln>
          </p:spPr>
          <p:txBody>
            <a:bodyPr wrap="none">
              <a:spAutoFit/>
            </a:bodyPr>
            <a:lstStyle/>
            <a:p>
              <a:pPr algn="l" eaLnBrk="0" hangingPunct="0"/>
              <a:r>
                <a:rPr lang="en-US" altLang="zh-CN" sz="2400"/>
                <a:t>A</a:t>
              </a:r>
            </a:p>
          </p:txBody>
        </p:sp>
        <p:sp>
          <p:nvSpPr>
            <p:cNvPr id="89102" name="Text Box 14"/>
            <p:cNvSpPr txBox="1">
              <a:spLocks noChangeArrowheads="1"/>
            </p:cNvSpPr>
            <p:nvPr/>
          </p:nvSpPr>
          <p:spPr bwMode="auto">
            <a:xfrm>
              <a:off x="4306888" y="1906588"/>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sp>
          <p:nvSpPr>
            <p:cNvPr id="89103" name="Text Box 15"/>
            <p:cNvSpPr txBox="1">
              <a:spLocks noChangeArrowheads="1"/>
            </p:cNvSpPr>
            <p:nvPr/>
          </p:nvSpPr>
          <p:spPr bwMode="auto">
            <a:xfrm>
              <a:off x="5402263" y="1930400"/>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89104" name="Text Box 16"/>
            <p:cNvSpPr txBox="1">
              <a:spLocks noChangeArrowheads="1"/>
            </p:cNvSpPr>
            <p:nvPr/>
          </p:nvSpPr>
          <p:spPr bwMode="auto">
            <a:xfrm>
              <a:off x="3192463" y="3835400"/>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89105" name="Text Box 17"/>
            <p:cNvSpPr txBox="1">
              <a:spLocks noChangeArrowheads="1"/>
            </p:cNvSpPr>
            <p:nvPr/>
          </p:nvSpPr>
          <p:spPr bwMode="auto">
            <a:xfrm>
              <a:off x="5426075" y="3854450"/>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89106" name="Text Box 18"/>
            <p:cNvSpPr txBox="1">
              <a:spLocks noChangeArrowheads="1"/>
            </p:cNvSpPr>
            <p:nvPr/>
          </p:nvSpPr>
          <p:spPr bwMode="auto">
            <a:xfrm>
              <a:off x="5434013" y="2344738"/>
              <a:ext cx="441146" cy="461665"/>
            </a:xfrm>
            <a:prstGeom prst="rect">
              <a:avLst/>
            </a:prstGeom>
            <a:noFill/>
            <a:ln w="9525">
              <a:noFill/>
              <a:miter lim="800000"/>
              <a:headEnd/>
              <a:tailEnd/>
            </a:ln>
          </p:spPr>
          <p:txBody>
            <a:bodyPr wrap="none">
              <a:spAutoFit/>
            </a:bodyPr>
            <a:lstStyle/>
            <a:p>
              <a:pPr algn="l" eaLnBrk="0" hangingPunct="0"/>
              <a:r>
                <a:rPr lang="en-US" altLang="zh-CN" sz="2400" b="1"/>
                <a:t>1/</a:t>
              </a:r>
              <a:endParaRPr lang="en-US" altLang="zh-CN" sz="2400"/>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altLang="zh-CN" sz="2800" dirty="0"/>
              <a:t>Topological Sorting: </a:t>
            </a:r>
            <a:r>
              <a:rPr lang="en-US" altLang="zh-CN" sz="2800" b="1" dirty="0"/>
              <a:t>Depth-First Algorithm</a:t>
            </a:r>
          </a:p>
        </p:txBody>
      </p:sp>
      <p:grpSp>
        <p:nvGrpSpPr>
          <p:cNvPr id="2" name="组合 19"/>
          <p:cNvGrpSpPr/>
          <p:nvPr/>
        </p:nvGrpSpPr>
        <p:grpSpPr>
          <a:xfrm>
            <a:off x="4640263" y="1571613"/>
            <a:ext cx="2789058" cy="3209627"/>
            <a:chOff x="3116263" y="1906588"/>
            <a:chExt cx="2789058" cy="3209627"/>
          </a:xfrm>
        </p:grpSpPr>
        <p:sp>
          <p:nvSpPr>
            <p:cNvPr id="90115" name="Oval 3"/>
            <p:cNvSpPr>
              <a:spLocks noChangeArrowheads="1"/>
            </p:cNvSpPr>
            <p:nvPr/>
          </p:nvSpPr>
          <p:spPr bwMode="auto">
            <a:xfrm>
              <a:off x="4273550" y="2327275"/>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0116" name="Oval 4"/>
            <p:cNvSpPr>
              <a:spLocks noChangeArrowheads="1"/>
            </p:cNvSpPr>
            <p:nvPr/>
          </p:nvSpPr>
          <p:spPr bwMode="auto">
            <a:xfrm>
              <a:off x="5399088" y="3425825"/>
              <a:ext cx="504825" cy="476250"/>
            </a:xfrm>
            <a:prstGeom prst="ellipse">
              <a:avLst/>
            </a:prstGeom>
            <a:solidFill>
              <a:srgbClr val="CCECFF"/>
            </a:solidFill>
            <a:ln w="9525">
              <a:solidFill>
                <a:schemeClr val="tx1"/>
              </a:solidFill>
              <a:round/>
              <a:headEnd/>
              <a:tailEnd/>
            </a:ln>
          </p:spPr>
          <p:txBody>
            <a:bodyPr wrap="none" anchor="ctr"/>
            <a:lstStyle/>
            <a:p>
              <a:pPr eaLnBrk="0" hangingPunct="0"/>
              <a:r>
                <a:rPr lang="zh-CN" altLang="en-US" sz="2400" b="1"/>
                <a:t> </a:t>
              </a:r>
            </a:p>
          </p:txBody>
        </p:sp>
        <p:sp>
          <p:nvSpPr>
            <p:cNvPr id="90117" name="Oval 5"/>
            <p:cNvSpPr>
              <a:spLocks noChangeArrowheads="1"/>
            </p:cNvSpPr>
            <p:nvPr/>
          </p:nvSpPr>
          <p:spPr bwMode="auto">
            <a:xfrm>
              <a:off x="5364163" y="2351088"/>
              <a:ext cx="504825" cy="476250"/>
            </a:xfrm>
            <a:prstGeom prst="ellipse">
              <a:avLst/>
            </a:prstGeom>
            <a:solidFill>
              <a:srgbClr val="CCECFF"/>
            </a:solidFill>
            <a:ln w="9525">
              <a:solidFill>
                <a:schemeClr val="tx1"/>
              </a:solidFill>
              <a:round/>
              <a:headEnd/>
              <a:tailEnd/>
            </a:ln>
          </p:spPr>
          <p:txBody>
            <a:bodyPr wrap="none" anchor="ctr"/>
            <a:lstStyle/>
            <a:p>
              <a:pPr eaLnBrk="0" hangingPunct="0"/>
              <a:r>
                <a:rPr lang="zh-CN" altLang="en-US" sz="2400" b="1"/>
                <a:t> </a:t>
              </a:r>
            </a:p>
          </p:txBody>
        </p:sp>
        <p:sp>
          <p:nvSpPr>
            <p:cNvPr id="90118" name="Line 6"/>
            <p:cNvSpPr>
              <a:spLocks noChangeShapeType="1"/>
            </p:cNvSpPr>
            <p:nvPr/>
          </p:nvSpPr>
          <p:spPr bwMode="auto">
            <a:xfrm>
              <a:off x="5627688" y="2814638"/>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0119" name="Oval 7"/>
            <p:cNvSpPr>
              <a:spLocks noChangeArrowheads="1"/>
            </p:cNvSpPr>
            <p:nvPr/>
          </p:nvSpPr>
          <p:spPr bwMode="auto">
            <a:xfrm>
              <a:off x="3151188" y="3435350"/>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0120" name="Oval 8"/>
            <p:cNvSpPr>
              <a:spLocks noChangeArrowheads="1"/>
            </p:cNvSpPr>
            <p:nvPr/>
          </p:nvSpPr>
          <p:spPr bwMode="auto">
            <a:xfrm>
              <a:off x="3116263" y="2360613"/>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0121" name="Line 9"/>
            <p:cNvSpPr>
              <a:spLocks noChangeShapeType="1"/>
            </p:cNvSpPr>
            <p:nvPr/>
          </p:nvSpPr>
          <p:spPr bwMode="auto">
            <a:xfrm>
              <a:off x="3379788" y="2824163"/>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0122" name="Line 10"/>
            <p:cNvSpPr>
              <a:spLocks noChangeShapeType="1"/>
            </p:cNvSpPr>
            <p:nvPr/>
          </p:nvSpPr>
          <p:spPr bwMode="auto">
            <a:xfrm>
              <a:off x="3606800" y="2584450"/>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0123" name="Line 11"/>
            <p:cNvSpPr>
              <a:spLocks noChangeShapeType="1"/>
            </p:cNvSpPr>
            <p:nvPr/>
          </p:nvSpPr>
          <p:spPr bwMode="auto">
            <a:xfrm flipH="1">
              <a:off x="3635375" y="2786063"/>
              <a:ext cx="823913" cy="8223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0124" name="Text Box 12"/>
            <p:cNvSpPr txBox="1">
              <a:spLocks noChangeArrowheads="1"/>
            </p:cNvSpPr>
            <p:nvPr/>
          </p:nvSpPr>
          <p:spPr bwMode="auto">
            <a:xfrm>
              <a:off x="3565525" y="4654550"/>
              <a:ext cx="1909497" cy="461665"/>
            </a:xfrm>
            <a:prstGeom prst="rect">
              <a:avLst/>
            </a:prstGeom>
            <a:noFill/>
            <a:ln w="9525">
              <a:noFill/>
              <a:miter lim="800000"/>
              <a:headEnd/>
              <a:tailEnd/>
            </a:ln>
          </p:spPr>
          <p:txBody>
            <a:bodyPr wrap="none">
              <a:spAutoFit/>
            </a:bodyPr>
            <a:lstStyle/>
            <a:p>
              <a:pPr algn="l" eaLnBrk="0" hangingPunct="0"/>
              <a:r>
                <a:rPr lang="en-US" altLang="zh-CN" sz="2400" b="1"/>
                <a:t>Linked List:</a:t>
              </a:r>
            </a:p>
          </p:txBody>
        </p:sp>
        <p:sp>
          <p:nvSpPr>
            <p:cNvPr id="90125" name="Text Box 13"/>
            <p:cNvSpPr txBox="1">
              <a:spLocks noChangeArrowheads="1"/>
            </p:cNvSpPr>
            <p:nvPr/>
          </p:nvSpPr>
          <p:spPr bwMode="auto">
            <a:xfrm>
              <a:off x="3168650" y="1911350"/>
              <a:ext cx="404813" cy="457200"/>
            </a:xfrm>
            <a:prstGeom prst="rect">
              <a:avLst/>
            </a:prstGeom>
            <a:noFill/>
            <a:ln w="9525">
              <a:noFill/>
              <a:miter lim="800000"/>
              <a:headEnd/>
              <a:tailEnd/>
            </a:ln>
          </p:spPr>
          <p:txBody>
            <a:bodyPr wrap="none">
              <a:spAutoFit/>
            </a:bodyPr>
            <a:lstStyle/>
            <a:p>
              <a:pPr algn="l" eaLnBrk="0" hangingPunct="0"/>
              <a:r>
                <a:rPr lang="en-US" altLang="zh-CN" sz="2400"/>
                <a:t>A</a:t>
              </a:r>
            </a:p>
          </p:txBody>
        </p:sp>
        <p:sp>
          <p:nvSpPr>
            <p:cNvPr id="90126" name="Text Box 14"/>
            <p:cNvSpPr txBox="1">
              <a:spLocks noChangeArrowheads="1"/>
            </p:cNvSpPr>
            <p:nvPr/>
          </p:nvSpPr>
          <p:spPr bwMode="auto">
            <a:xfrm>
              <a:off x="4306888" y="1906588"/>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sp>
          <p:nvSpPr>
            <p:cNvPr id="90127" name="Text Box 15"/>
            <p:cNvSpPr txBox="1">
              <a:spLocks noChangeArrowheads="1"/>
            </p:cNvSpPr>
            <p:nvPr/>
          </p:nvSpPr>
          <p:spPr bwMode="auto">
            <a:xfrm>
              <a:off x="5402263" y="1930400"/>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0128" name="Text Box 16"/>
            <p:cNvSpPr txBox="1">
              <a:spLocks noChangeArrowheads="1"/>
            </p:cNvSpPr>
            <p:nvPr/>
          </p:nvSpPr>
          <p:spPr bwMode="auto">
            <a:xfrm>
              <a:off x="3192463" y="3835400"/>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90129" name="Text Box 17"/>
            <p:cNvSpPr txBox="1">
              <a:spLocks noChangeArrowheads="1"/>
            </p:cNvSpPr>
            <p:nvPr/>
          </p:nvSpPr>
          <p:spPr bwMode="auto">
            <a:xfrm>
              <a:off x="5426075" y="3854450"/>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0130" name="Text Box 18"/>
            <p:cNvSpPr txBox="1">
              <a:spLocks noChangeArrowheads="1"/>
            </p:cNvSpPr>
            <p:nvPr/>
          </p:nvSpPr>
          <p:spPr bwMode="auto">
            <a:xfrm>
              <a:off x="5434013" y="2344738"/>
              <a:ext cx="441146" cy="461665"/>
            </a:xfrm>
            <a:prstGeom prst="rect">
              <a:avLst/>
            </a:prstGeom>
            <a:noFill/>
            <a:ln w="9525">
              <a:noFill/>
              <a:miter lim="800000"/>
              <a:headEnd/>
              <a:tailEnd/>
            </a:ln>
          </p:spPr>
          <p:txBody>
            <a:bodyPr wrap="none">
              <a:spAutoFit/>
            </a:bodyPr>
            <a:lstStyle/>
            <a:p>
              <a:pPr algn="l" eaLnBrk="0" hangingPunct="0"/>
              <a:r>
                <a:rPr lang="en-US" altLang="zh-CN" sz="2400" b="1"/>
                <a:t>1/</a:t>
              </a:r>
              <a:endParaRPr lang="en-US" altLang="zh-CN" sz="2400"/>
            </a:p>
          </p:txBody>
        </p:sp>
        <p:sp>
          <p:nvSpPr>
            <p:cNvPr id="90131" name="Text Box 19"/>
            <p:cNvSpPr txBox="1">
              <a:spLocks noChangeArrowheads="1"/>
            </p:cNvSpPr>
            <p:nvPr/>
          </p:nvSpPr>
          <p:spPr bwMode="auto">
            <a:xfrm>
              <a:off x="5464175" y="3441700"/>
              <a:ext cx="441146" cy="461665"/>
            </a:xfrm>
            <a:prstGeom prst="rect">
              <a:avLst/>
            </a:prstGeom>
            <a:noFill/>
            <a:ln w="9525">
              <a:noFill/>
              <a:miter lim="800000"/>
              <a:headEnd/>
              <a:tailEnd/>
            </a:ln>
          </p:spPr>
          <p:txBody>
            <a:bodyPr wrap="none">
              <a:spAutoFit/>
            </a:bodyPr>
            <a:lstStyle/>
            <a:p>
              <a:pPr algn="l" eaLnBrk="0" hangingPunct="0"/>
              <a:r>
                <a:rPr lang="en-US" altLang="zh-CN" sz="2400" b="1"/>
                <a:t>2/</a:t>
              </a:r>
              <a:endParaRPr lang="en-US" altLang="zh-CN" sz="2400"/>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ltLang="zh-CN" sz="2800" dirty="0"/>
              <a:t>Topological Sorting: </a:t>
            </a:r>
            <a:r>
              <a:rPr lang="en-US" altLang="zh-CN" sz="2800" b="1" dirty="0"/>
              <a:t>Depth-First Algorithm</a:t>
            </a:r>
          </a:p>
        </p:txBody>
      </p:sp>
      <p:grpSp>
        <p:nvGrpSpPr>
          <p:cNvPr id="2" name="组合 22"/>
          <p:cNvGrpSpPr/>
          <p:nvPr/>
        </p:nvGrpSpPr>
        <p:grpSpPr>
          <a:xfrm>
            <a:off x="4640264" y="1500174"/>
            <a:ext cx="2889143" cy="4204990"/>
            <a:chOff x="3116263" y="1906588"/>
            <a:chExt cx="2889143" cy="4204990"/>
          </a:xfrm>
        </p:grpSpPr>
        <p:sp>
          <p:nvSpPr>
            <p:cNvPr id="91139" name="Oval 3"/>
            <p:cNvSpPr>
              <a:spLocks noChangeArrowheads="1"/>
            </p:cNvSpPr>
            <p:nvPr/>
          </p:nvSpPr>
          <p:spPr bwMode="auto">
            <a:xfrm>
              <a:off x="4273550" y="2327275"/>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1140" name="Oval 4"/>
            <p:cNvSpPr>
              <a:spLocks noChangeArrowheads="1"/>
            </p:cNvSpPr>
            <p:nvPr/>
          </p:nvSpPr>
          <p:spPr bwMode="auto">
            <a:xfrm>
              <a:off x="5399088" y="342582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1141" name="Oval 5"/>
            <p:cNvSpPr>
              <a:spLocks noChangeArrowheads="1"/>
            </p:cNvSpPr>
            <p:nvPr/>
          </p:nvSpPr>
          <p:spPr bwMode="auto">
            <a:xfrm>
              <a:off x="5364163" y="2351088"/>
              <a:ext cx="504825" cy="476250"/>
            </a:xfrm>
            <a:prstGeom prst="ellipse">
              <a:avLst/>
            </a:prstGeom>
            <a:solidFill>
              <a:srgbClr val="CCECFF"/>
            </a:solidFill>
            <a:ln w="9525">
              <a:solidFill>
                <a:schemeClr val="tx1"/>
              </a:solidFill>
              <a:round/>
              <a:headEnd/>
              <a:tailEnd/>
            </a:ln>
          </p:spPr>
          <p:txBody>
            <a:bodyPr wrap="none" anchor="ctr"/>
            <a:lstStyle/>
            <a:p>
              <a:pPr eaLnBrk="0" hangingPunct="0"/>
              <a:r>
                <a:rPr lang="zh-CN" altLang="en-US" sz="2400" b="1"/>
                <a:t> </a:t>
              </a:r>
            </a:p>
          </p:txBody>
        </p:sp>
        <p:sp>
          <p:nvSpPr>
            <p:cNvPr id="91142" name="Line 6"/>
            <p:cNvSpPr>
              <a:spLocks noChangeShapeType="1"/>
            </p:cNvSpPr>
            <p:nvPr/>
          </p:nvSpPr>
          <p:spPr bwMode="auto">
            <a:xfrm>
              <a:off x="5627688" y="2814638"/>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1143" name="Oval 7"/>
            <p:cNvSpPr>
              <a:spLocks noChangeArrowheads="1"/>
            </p:cNvSpPr>
            <p:nvPr/>
          </p:nvSpPr>
          <p:spPr bwMode="auto">
            <a:xfrm>
              <a:off x="3151188" y="3435350"/>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1144" name="Oval 8"/>
            <p:cNvSpPr>
              <a:spLocks noChangeArrowheads="1"/>
            </p:cNvSpPr>
            <p:nvPr/>
          </p:nvSpPr>
          <p:spPr bwMode="auto">
            <a:xfrm>
              <a:off x="3116263" y="2360613"/>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1145" name="Line 9"/>
            <p:cNvSpPr>
              <a:spLocks noChangeShapeType="1"/>
            </p:cNvSpPr>
            <p:nvPr/>
          </p:nvSpPr>
          <p:spPr bwMode="auto">
            <a:xfrm>
              <a:off x="3379788" y="2824163"/>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1146" name="Line 10"/>
            <p:cNvSpPr>
              <a:spLocks noChangeShapeType="1"/>
            </p:cNvSpPr>
            <p:nvPr/>
          </p:nvSpPr>
          <p:spPr bwMode="auto">
            <a:xfrm>
              <a:off x="3606800" y="2584450"/>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1147" name="Line 11"/>
            <p:cNvSpPr>
              <a:spLocks noChangeShapeType="1"/>
            </p:cNvSpPr>
            <p:nvPr/>
          </p:nvSpPr>
          <p:spPr bwMode="auto">
            <a:xfrm flipH="1">
              <a:off x="3635375" y="2786063"/>
              <a:ext cx="823913" cy="8223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1148" name="Text Box 12"/>
            <p:cNvSpPr txBox="1">
              <a:spLocks noChangeArrowheads="1"/>
            </p:cNvSpPr>
            <p:nvPr/>
          </p:nvSpPr>
          <p:spPr bwMode="auto">
            <a:xfrm>
              <a:off x="3565525" y="4654550"/>
              <a:ext cx="1909497" cy="461665"/>
            </a:xfrm>
            <a:prstGeom prst="rect">
              <a:avLst/>
            </a:prstGeom>
            <a:noFill/>
            <a:ln w="9525">
              <a:noFill/>
              <a:miter lim="800000"/>
              <a:headEnd/>
              <a:tailEnd/>
            </a:ln>
          </p:spPr>
          <p:txBody>
            <a:bodyPr wrap="none">
              <a:spAutoFit/>
            </a:bodyPr>
            <a:lstStyle/>
            <a:p>
              <a:pPr algn="l" eaLnBrk="0" hangingPunct="0"/>
              <a:r>
                <a:rPr lang="en-US" altLang="zh-CN" sz="2400" b="1"/>
                <a:t>Linked List:</a:t>
              </a:r>
            </a:p>
          </p:txBody>
        </p:sp>
        <p:sp>
          <p:nvSpPr>
            <p:cNvPr id="91149" name="Text Box 13"/>
            <p:cNvSpPr txBox="1">
              <a:spLocks noChangeArrowheads="1"/>
            </p:cNvSpPr>
            <p:nvPr/>
          </p:nvSpPr>
          <p:spPr bwMode="auto">
            <a:xfrm>
              <a:off x="3168650" y="1911350"/>
              <a:ext cx="404813" cy="457200"/>
            </a:xfrm>
            <a:prstGeom prst="rect">
              <a:avLst/>
            </a:prstGeom>
            <a:noFill/>
            <a:ln w="9525">
              <a:noFill/>
              <a:miter lim="800000"/>
              <a:headEnd/>
              <a:tailEnd/>
            </a:ln>
          </p:spPr>
          <p:txBody>
            <a:bodyPr wrap="none">
              <a:spAutoFit/>
            </a:bodyPr>
            <a:lstStyle/>
            <a:p>
              <a:pPr algn="l" eaLnBrk="0" hangingPunct="0"/>
              <a:r>
                <a:rPr lang="en-US" altLang="zh-CN" sz="2400"/>
                <a:t>A</a:t>
              </a:r>
            </a:p>
          </p:txBody>
        </p:sp>
        <p:sp>
          <p:nvSpPr>
            <p:cNvPr id="91150" name="Text Box 14"/>
            <p:cNvSpPr txBox="1">
              <a:spLocks noChangeArrowheads="1"/>
            </p:cNvSpPr>
            <p:nvPr/>
          </p:nvSpPr>
          <p:spPr bwMode="auto">
            <a:xfrm>
              <a:off x="4306888" y="1906588"/>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sp>
          <p:nvSpPr>
            <p:cNvPr id="91151" name="Text Box 15"/>
            <p:cNvSpPr txBox="1">
              <a:spLocks noChangeArrowheads="1"/>
            </p:cNvSpPr>
            <p:nvPr/>
          </p:nvSpPr>
          <p:spPr bwMode="auto">
            <a:xfrm>
              <a:off x="5402263" y="1930400"/>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1152" name="Text Box 16"/>
            <p:cNvSpPr txBox="1">
              <a:spLocks noChangeArrowheads="1"/>
            </p:cNvSpPr>
            <p:nvPr/>
          </p:nvSpPr>
          <p:spPr bwMode="auto">
            <a:xfrm>
              <a:off x="3192463" y="3835400"/>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91153" name="Text Box 17"/>
            <p:cNvSpPr txBox="1">
              <a:spLocks noChangeArrowheads="1"/>
            </p:cNvSpPr>
            <p:nvPr/>
          </p:nvSpPr>
          <p:spPr bwMode="auto">
            <a:xfrm>
              <a:off x="5426075" y="3854450"/>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1154" name="Text Box 18"/>
            <p:cNvSpPr txBox="1">
              <a:spLocks noChangeArrowheads="1"/>
            </p:cNvSpPr>
            <p:nvPr/>
          </p:nvSpPr>
          <p:spPr bwMode="auto">
            <a:xfrm>
              <a:off x="5434013" y="2344738"/>
              <a:ext cx="441146" cy="461665"/>
            </a:xfrm>
            <a:prstGeom prst="rect">
              <a:avLst/>
            </a:prstGeom>
            <a:noFill/>
            <a:ln w="9525">
              <a:noFill/>
              <a:miter lim="800000"/>
              <a:headEnd/>
              <a:tailEnd/>
            </a:ln>
          </p:spPr>
          <p:txBody>
            <a:bodyPr wrap="none">
              <a:spAutoFit/>
            </a:bodyPr>
            <a:lstStyle/>
            <a:p>
              <a:pPr algn="l" eaLnBrk="0" hangingPunct="0"/>
              <a:r>
                <a:rPr lang="en-US" altLang="zh-CN" sz="2400" b="1"/>
                <a:t>1/</a:t>
              </a:r>
              <a:endParaRPr lang="en-US" altLang="zh-CN" sz="2400"/>
            </a:p>
          </p:txBody>
        </p:sp>
        <p:sp>
          <p:nvSpPr>
            <p:cNvPr id="91155" name="Text Box 19"/>
            <p:cNvSpPr txBox="1">
              <a:spLocks noChangeArrowheads="1"/>
            </p:cNvSpPr>
            <p:nvPr/>
          </p:nvSpPr>
          <p:spPr bwMode="auto">
            <a:xfrm>
              <a:off x="5392738" y="3441700"/>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91156" name="Oval 20"/>
            <p:cNvSpPr>
              <a:spLocks noChangeArrowheads="1"/>
            </p:cNvSpPr>
            <p:nvPr/>
          </p:nvSpPr>
          <p:spPr bwMode="auto">
            <a:xfrm>
              <a:off x="5122863" y="52212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1157" name="Text Box 21"/>
            <p:cNvSpPr txBox="1">
              <a:spLocks noChangeArrowheads="1"/>
            </p:cNvSpPr>
            <p:nvPr/>
          </p:nvSpPr>
          <p:spPr bwMode="auto">
            <a:xfrm>
              <a:off x="5149850" y="5649913"/>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1158" name="Text Box 22"/>
            <p:cNvSpPr txBox="1">
              <a:spLocks noChangeArrowheads="1"/>
            </p:cNvSpPr>
            <p:nvPr/>
          </p:nvSpPr>
          <p:spPr bwMode="auto">
            <a:xfrm>
              <a:off x="5116513" y="5237163"/>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altLang="zh-CN" sz="2800" dirty="0"/>
              <a:t>Topological Sorting: </a:t>
            </a:r>
            <a:r>
              <a:rPr lang="en-US" altLang="zh-CN" sz="2800" b="1" dirty="0"/>
              <a:t>Depth-First Algorithm</a:t>
            </a:r>
          </a:p>
        </p:txBody>
      </p:sp>
      <p:grpSp>
        <p:nvGrpSpPr>
          <p:cNvPr id="2" name="组合 26"/>
          <p:cNvGrpSpPr/>
          <p:nvPr/>
        </p:nvGrpSpPr>
        <p:grpSpPr>
          <a:xfrm>
            <a:off x="4640264" y="1500174"/>
            <a:ext cx="2889143" cy="4229100"/>
            <a:chOff x="3116263" y="1906588"/>
            <a:chExt cx="2889143" cy="4229100"/>
          </a:xfrm>
        </p:grpSpPr>
        <p:sp>
          <p:nvSpPr>
            <p:cNvPr id="92163" name="Oval 3"/>
            <p:cNvSpPr>
              <a:spLocks noChangeArrowheads="1"/>
            </p:cNvSpPr>
            <p:nvPr/>
          </p:nvSpPr>
          <p:spPr bwMode="auto">
            <a:xfrm>
              <a:off x="4273550" y="2327275"/>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2164" name="Oval 4"/>
            <p:cNvSpPr>
              <a:spLocks noChangeArrowheads="1"/>
            </p:cNvSpPr>
            <p:nvPr/>
          </p:nvSpPr>
          <p:spPr bwMode="auto">
            <a:xfrm>
              <a:off x="5399088" y="342582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2165" name="Oval 5"/>
            <p:cNvSpPr>
              <a:spLocks noChangeArrowheads="1"/>
            </p:cNvSpPr>
            <p:nvPr/>
          </p:nvSpPr>
          <p:spPr bwMode="auto">
            <a:xfrm>
              <a:off x="5364163" y="23510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2166" name="Line 6"/>
            <p:cNvSpPr>
              <a:spLocks noChangeShapeType="1"/>
            </p:cNvSpPr>
            <p:nvPr/>
          </p:nvSpPr>
          <p:spPr bwMode="auto">
            <a:xfrm>
              <a:off x="5627688" y="2814638"/>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2167" name="Oval 7"/>
            <p:cNvSpPr>
              <a:spLocks noChangeArrowheads="1"/>
            </p:cNvSpPr>
            <p:nvPr/>
          </p:nvSpPr>
          <p:spPr bwMode="auto">
            <a:xfrm>
              <a:off x="3151188" y="3435350"/>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2168" name="Oval 8"/>
            <p:cNvSpPr>
              <a:spLocks noChangeArrowheads="1"/>
            </p:cNvSpPr>
            <p:nvPr/>
          </p:nvSpPr>
          <p:spPr bwMode="auto">
            <a:xfrm>
              <a:off x="3116263" y="2360613"/>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2169" name="Line 9"/>
            <p:cNvSpPr>
              <a:spLocks noChangeShapeType="1"/>
            </p:cNvSpPr>
            <p:nvPr/>
          </p:nvSpPr>
          <p:spPr bwMode="auto">
            <a:xfrm>
              <a:off x="3379788" y="2824163"/>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2170" name="Line 10"/>
            <p:cNvSpPr>
              <a:spLocks noChangeShapeType="1"/>
            </p:cNvSpPr>
            <p:nvPr/>
          </p:nvSpPr>
          <p:spPr bwMode="auto">
            <a:xfrm>
              <a:off x="3606800" y="2584450"/>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2171" name="Line 11"/>
            <p:cNvSpPr>
              <a:spLocks noChangeShapeType="1"/>
            </p:cNvSpPr>
            <p:nvPr/>
          </p:nvSpPr>
          <p:spPr bwMode="auto">
            <a:xfrm flipH="1">
              <a:off x="3635375" y="2786063"/>
              <a:ext cx="823913" cy="8223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2172" name="Text Box 12"/>
            <p:cNvSpPr txBox="1">
              <a:spLocks noChangeArrowheads="1"/>
            </p:cNvSpPr>
            <p:nvPr/>
          </p:nvSpPr>
          <p:spPr bwMode="auto">
            <a:xfrm>
              <a:off x="3565525" y="4654550"/>
              <a:ext cx="1909497" cy="461665"/>
            </a:xfrm>
            <a:prstGeom prst="rect">
              <a:avLst/>
            </a:prstGeom>
            <a:noFill/>
            <a:ln w="9525">
              <a:noFill/>
              <a:miter lim="800000"/>
              <a:headEnd/>
              <a:tailEnd/>
            </a:ln>
          </p:spPr>
          <p:txBody>
            <a:bodyPr wrap="none">
              <a:spAutoFit/>
            </a:bodyPr>
            <a:lstStyle/>
            <a:p>
              <a:pPr algn="l" eaLnBrk="0" hangingPunct="0"/>
              <a:r>
                <a:rPr lang="en-US" altLang="zh-CN" sz="2400" b="1"/>
                <a:t>Linked List:</a:t>
              </a:r>
            </a:p>
          </p:txBody>
        </p:sp>
        <p:sp>
          <p:nvSpPr>
            <p:cNvPr id="92173" name="Text Box 13"/>
            <p:cNvSpPr txBox="1">
              <a:spLocks noChangeArrowheads="1"/>
            </p:cNvSpPr>
            <p:nvPr/>
          </p:nvSpPr>
          <p:spPr bwMode="auto">
            <a:xfrm>
              <a:off x="3168650" y="1911350"/>
              <a:ext cx="404813" cy="457200"/>
            </a:xfrm>
            <a:prstGeom prst="rect">
              <a:avLst/>
            </a:prstGeom>
            <a:noFill/>
            <a:ln w="9525">
              <a:noFill/>
              <a:miter lim="800000"/>
              <a:headEnd/>
              <a:tailEnd/>
            </a:ln>
          </p:spPr>
          <p:txBody>
            <a:bodyPr wrap="none">
              <a:spAutoFit/>
            </a:bodyPr>
            <a:lstStyle/>
            <a:p>
              <a:pPr algn="l" eaLnBrk="0" hangingPunct="0"/>
              <a:r>
                <a:rPr lang="en-US" altLang="zh-CN" sz="2400"/>
                <a:t>A</a:t>
              </a:r>
            </a:p>
          </p:txBody>
        </p:sp>
        <p:sp>
          <p:nvSpPr>
            <p:cNvPr id="92174" name="Text Box 14"/>
            <p:cNvSpPr txBox="1">
              <a:spLocks noChangeArrowheads="1"/>
            </p:cNvSpPr>
            <p:nvPr/>
          </p:nvSpPr>
          <p:spPr bwMode="auto">
            <a:xfrm>
              <a:off x="4306888" y="1906588"/>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sp>
          <p:nvSpPr>
            <p:cNvPr id="92175" name="Text Box 15"/>
            <p:cNvSpPr txBox="1">
              <a:spLocks noChangeArrowheads="1"/>
            </p:cNvSpPr>
            <p:nvPr/>
          </p:nvSpPr>
          <p:spPr bwMode="auto">
            <a:xfrm>
              <a:off x="5402263" y="1930400"/>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2176" name="Text Box 16"/>
            <p:cNvSpPr txBox="1">
              <a:spLocks noChangeArrowheads="1"/>
            </p:cNvSpPr>
            <p:nvPr/>
          </p:nvSpPr>
          <p:spPr bwMode="auto">
            <a:xfrm>
              <a:off x="3192463" y="3835400"/>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92177" name="Text Box 17"/>
            <p:cNvSpPr txBox="1">
              <a:spLocks noChangeArrowheads="1"/>
            </p:cNvSpPr>
            <p:nvPr/>
          </p:nvSpPr>
          <p:spPr bwMode="auto">
            <a:xfrm>
              <a:off x="5426075" y="3854450"/>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2178" name="Text Box 18"/>
            <p:cNvSpPr txBox="1">
              <a:spLocks noChangeArrowheads="1"/>
            </p:cNvSpPr>
            <p:nvPr/>
          </p:nvSpPr>
          <p:spPr bwMode="auto">
            <a:xfrm>
              <a:off x="5348288" y="23447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92179" name="Text Box 19"/>
            <p:cNvSpPr txBox="1">
              <a:spLocks noChangeArrowheads="1"/>
            </p:cNvSpPr>
            <p:nvPr/>
          </p:nvSpPr>
          <p:spPr bwMode="auto">
            <a:xfrm>
              <a:off x="5392738" y="3441700"/>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92180" name="Oval 20"/>
            <p:cNvSpPr>
              <a:spLocks noChangeArrowheads="1"/>
            </p:cNvSpPr>
            <p:nvPr/>
          </p:nvSpPr>
          <p:spPr bwMode="auto">
            <a:xfrm>
              <a:off x="5122863" y="52212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2181" name="Text Box 21"/>
            <p:cNvSpPr txBox="1">
              <a:spLocks noChangeArrowheads="1"/>
            </p:cNvSpPr>
            <p:nvPr/>
          </p:nvSpPr>
          <p:spPr bwMode="auto">
            <a:xfrm>
              <a:off x="5149850" y="5649913"/>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2182" name="Text Box 22"/>
            <p:cNvSpPr txBox="1">
              <a:spLocks noChangeArrowheads="1"/>
            </p:cNvSpPr>
            <p:nvPr/>
          </p:nvSpPr>
          <p:spPr bwMode="auto">
            <a:xfrm>
              <a:off x="5116513" y="5237163"/>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92183" name="Oval 23"/>
            <p:cNvSpPr>
              <a:spLocks noChangeArrowheads="1"/>
            </p:cNvSpPr>
            <p:nvPr/>
          </p:nvSpPr>
          <p:spPr bwMode="auto">
            <a:xfrm>
              <a:off x="3959225" y="52466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2184" name="Text Box 24"/>
            <p:cNvSpPr txBox="1">
              <a:spLocks noChangeArrowheads="1"/>
            </p:cNvSpPr>
            <p:nvPr/>
          </p:nvSpPr>
          <p:spPr bwMode="auto">
            <a:xfrm>
              <a:off x="3943350" y="52403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92185" name="Line 25"/>
            <p:cNvSpPr>
              <a:spLocks noChangeShapeType="1"/>
            </p:cNvSpPr>
            <p:nvPr/>
          </p:nvSpPr>
          <p:spPr bwMode="auto">
            <a:xfrm>
              <a:off x="4471988" y="5470525"/>
              <a:ext cx="649287"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2186" name="Text Box 26"/>
            <p:cNvSpPr txBox="1">
              <a:spLocks noChangeArrowheads="1"/>
            </p:cNvSpPr>
            <p:nvPr/>
          </p:nvSpPr>
          <p:spPr bwMode="auto">
            <a:xfrm>
              <a:off x="4024313" y="5678488"/>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altLang="zh-CN" sz="2800" dirty="0"/>
              <a:t>Topological Sorting: </a:t>
            </a:r>
            <a:r>
              <a:rPr lang="en-US" altLang="zh-CN" sz="2800" b="1" dirty="0"/>
              <a:t>Depth-First Algorithm</a:t>
            </a:r>
          </a:p>
        </p:txBody>
      </p:sp>
      <p:grpSp>
        <p:nvGrpSpPr>
          <p:cNvPr id="2" name="组合 27"/>
          <p:cNvGrpSpPr/>
          <p:nvPr/>
        </p:nvGrpSpPr>
        <p:grpSpPr>
          <a:xfrm>
            <a:off x="4640264" y="1500174"/>
            <a:ext cx="2889143" cy="4229100"/>
            <a:chOff x="3116263" y="1906588"/>
            <a:chExt cx="2889143" cy="4229100"/>
          </a:xfrm>
        </p:grpSpPr>
        <p:sp>
          <p:nvSpPr>
            <p:cNvPr id="93187" name="Oval 3"/>
            <p:cNvSpPr>
              <a:spLocks noChangeArrowheads="1"/>
            </p:cNvSpPr>
            <p:nvPr/>
          </p:nvSpPr>
          <p:spPr bwMode="auto">
            <a:xfrm>
              <a:off x="4273550" y="2327275"/>
              <a:ext cx="504825" cy="476250"/>
            </a:xfrm>
            <a:prstGeom prst="ellipse">
              <a:avLst/>
            </a:prstGeom>
            <a:solidFill>
              <a:srgbClr val="CCECFF"/>
            </a:solidFill>
            <a:ln w="9525">
              <a:solidFill>
                <a:schemeClr val="tx1"/>
              </a:solidFill>
              <a:round/>
              <a:headEnd/>
              <a:tailEnd/>
            </a:ln>
          </p:spPr>
          <p:txBody>
            <a:bodyPr wrap="none" anchor="ctr"/>
            <a:lstStyle/>
            <a:p>
              <a:pPr eaLnBrk="0" hangingPunct="0"/>
              <a:r>
                <a:rPr lang="zh-CN" altLang="en-US" sz="2400" b="1"/>
                <a:t> </a:t>
              </a:r>
            </a:p>
          </p:txBody>
        </p:sp>
        <p:sp>
          <p:nvSpPr>
            <p:cNvPr id="93188" name="Oval 4"/>
            <p:cNvSpPr>
              <a:spLocks noChangeArrowheads="1"/>
            </p:cNvSpPr>
            <p:nvPr/>
          </p:nvSpPr>
          <p:spPr bwMode="auto">
            <a:xfrm>
              <a:off x="5399088" y="342582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3189" name="Oval 5"/>
            <p:cNvSpPr>
              <a:spLocks noChangeArrowheads="1"/>
            </p:cNvSpPr>
            <p:nvPr/>
          </p:nvSpPr>
          <p:spPr bwMode="auto">
            <a:xfrm>
              <a:off x="5364163" y="23510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3190" name="Line 6"/>
            <p:cNvSpPr>
              <a:spLocks noChangeShapeType="1"/>
            </p:cNvSpPr>
            <p:nvPr/>
          </p:nvSpPr>
          <p:spPr bwMode="auto">
            <a:xfrm>
              <a:off x="5627688" y="2814638"/>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3191" name="Oval 7"/>
            <p:cNvSpPr>
              <a:spLocks noChangeArrowheads="1"/>
            </p:cNvSpPr>
            <p:nvPr/>
          </p:nvSpPr>
          <p:spPr bwMode="auto">
            <a:xfrm>
              <a:off x="3151188" y="3435350"/>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3192" name="Oval 8"/>
            <p:cNvSpPr>
              <a:spLocks noChangeArrowheads="1"/>
            </p:cNvSpPr>
            <p:nvPr/>
          </p:nvSpPr>
          <p:spPr bwMode="auto">
            <a:xfrm>
              <a:off x="3116263" y="2360613"/>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3193" name="Line 9"/>
            <p:cNvSpPr>
              <a:spLocks noChangeShapeType="1"/>
            </p:cNvSpPr>
            <p:nvPr/>
          </p:nvSpPr>
          <p:spPr bwMode="auto">
            <a:xfrm>
              <a:off x="3379788" y="2824163"/>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3194" name="Line 10"/>
            <p:cNvSpPr>
              <a:spLocks noChangeShapeType="1"/>
            </p:cNvSpPr>
            <p:nvPr/>
          </p:nvSpPr>
          <p:spPr bwMode="auto">
            <a:xfrm>
              <a:off x="3606800" y="2584450"/>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3195" name="Line 11"/>
            <p:cNvSpPr>
              <a:spLocks noChangeShapeType="1"/>
            </p:cNvSpPr>
            <p:nvPr/>
          </p:nvSpPr>
          <p:spPr bwMode="auto">
            <a:xfrm flipH="1">
              <a:off x="3635375" y="2786063"/>
              <a:ext cx="823913" cy="8223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3196" name="Text Box 12"/>
            <p:cNvSpPr txBox="1">
              <a:spLocks noChangeArrowheads="1"/>
            </p:cNvSpPr>
            <p:nvPr/>
          </p:nvSpPr>
          <p:spPr bwMode="auto">
            <a:xfrm>
              <a:off x="3565525" y="4654550"/>
              <a:ext cx="1909497" cy="461665"/>
            </a:xfrm>
            <a:prstGeom prst="rect">
              <a:avLst/>
            </a:prstGeom>
            <a:noFill/>
            <a:ln w="9525">
              <a:noFill/>
              <a:miter lim="800000"/>
              <a:headEnd/>
              <a:tailEnd/>
            </a:ln>
          </p:spPr>
          <p:txBody>
            <a:bodyPr wrap="none">
              <a:spAutoFit/>
            </a:bodyPr>
            <a:lstStyle/>
            <a:p>
              <a:pPr algn="l" eaLnBrk="0" hangingPunct="0"/>
              <a:r>
                <a:rPr lang="en-US" altLang="zh-CN" sz="2400" b="1" dirty="0"/>
                <a:t>Linked List:</a:t>
              </a:r>
            </a:p>
          </p:txBody>
        </p:sp>
        <p:sp>
          <p:nvSpPr>
            <p:cNvPr id="93197" name="Text Box 13"/>
            <p:cNvSpPr txBox="1">
              <a:spLocks noChangeArrowheads="1"/>
            </p:cNvSpPr>
            <p:nvPr/>
          </p:nvSpPr>
          <p:spPr bwMode="auto">
            <a:xfrm>
              <a:off x="3168650" y="1911350"/>
              <a:ext cx="404813" cy="457200"/>
            </a:xfrm>
            <a:prstGeom prst="rect">
              <a:avLst/>
            </a:prstGeom>
            <a:noFill/>
            <a:ln w="9525">
              <a:noFill/>
              <a:miter lim="800000"/>
              <a:headEnd/>
              <a:tailEnd/>
            </a:ln>
          </p:spPr>
          <p:txBody>
            <a:bodyPr wrap="none">
              <a:spAutoFit/>
            </a:bodyPr>
            <a:lstStyle/>
            <a:p>
              <a:pPr algn="l" eaLnBrk="0" hangingPunct="0"/>
              <a:r>
                <a:rPr lang="en-US" altLang="zh-CN" sz="2400"/>
                <a:t>A</a:t>
              </a:r>
            </a:p>
          </p:txBody>
        </p:sp>
        <p:sp>
          <p:nvSpPr>
            <p:cNvPr id="93198" name="Text Box 14"/>
            <p:cNvSpPr txBox="1">
              <a:spLocks noChangeArrowheads="1"/>
            </p:cNvSpPr>
            <p:nvPr/>
          </p:nvSpPr>
          <p:spPr bwMode="auto">
            <a:xfrm>
              <a:off x="4306888" y="1906588"/>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sp>
          <p:nvSpPr>
            <p:cNvPr id="93199" name="Text Box 15"/>
            <p:cNvSpPr txBox="1">
              <a:spLocks noChangeArrowheads="1"/>
            </p:cNvSpPr>
            <p:nvPr/>
          </p:nvSpPr>
          <p:spPr bwMode="auto">
            <a:xfrm>
              <a:off x="5402263" y="1930400"/>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3200" name="Text Box 16"/>
            <p:cNvSpPr txBox="1">
              <a:spLocks noChangeArrowheads="1"/>
            </p:cNvSpPr>
            <p:nvPr/>
          </p:nvSpPr>
          <p:spPr bwMode="auto">
            <a:xfrm>
              <a:off x="3192463" y="3835400"/>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93201" name="Text Box 17"/>
            <p:cNvSpPr txBox="1">
              <a:spLocks noChangeArrowheads="1"/>
            </p:cNvSpPr>
            <p:nvPr/>
          </p:nvSpPr>
          <p:spPr bwMode="auto">
            <a:xfrm>
              <a:off x="5426075" y="3854450"/>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3202" name="Text Box 18"/>
            <p:cNvSpPr txBox="1">
              <a:spLocks noChangeArrowheads="1"/>
            </p:cNvSpPr>
            <p:nvPr/>
          </p:nvSpPr>
          <p:spPr bwMode="auto">
            <a:xfrm>
              <a:off x="5348288" y="23447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93203" name="Text Box 19"/>
            <p:cNvSpPr txBox="1">
              <a:spLocks noChangeArrowheads="1"/>
            </p:cNvSpPr>
            <p:nvPr/>
          </p:nvSpPr>
          <p:spPr bwMode="auto">
            <a:xfrm>
              <a:off x="5392738" y="3441700"/>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93204" name="Oval 20"/>
            <p:cNvSpPr>
              <a:spLocks noChangeArrowheads="1"/>
            </p:cNvSpPr>
            <p:nvPr/>
          </p:nvSpPr>
          <p:spPr bwMode="auto">
            <a:xfrm>
              <a:off x="5122863" y="52212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3205" name="Text Box 21"/>
            <p:cNvSpPr txBox="1">
              <a:spLocks noChangeArrowheads="1"/>
            </p:cNvSpPr>
            <p:nvPr/>
          </p:nvSpPr>
          <p:spPr bwMode="auto">
            <a:xfrm>
              <a:off x="5149850" y="5649913"/>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3206" name="Text Box 22"/>
            <p:cNvSpPr txBox="1">
              <a:spLocks noChangeArrowheads="1"/>
            </p:cNvSpPr>
            <p:nvPr/>
          </p:nvSpPr>
          <p:spPr bwMode="auto">
            <a:xfrm>
              <a:off x="5116513" y="5237163"/>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93207" name="Oval 23"/>
            <p:cNvSpPr>
              <a:spLocks noChangeArrowheads="1"/>
            </p:cNvSpPr>
            <p:nvPr/>
          </p:nvSpPr>
          <p:spPr bwMode="auto">
            <a:xfrm>
              <a:off x="3959225" y="52466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3208" name="Text Box 24"/>
            <p:cNvSpPr txBox="1">
              <a:spLocks noChangeArrowheads="1"/>
            </p:cNvSpPr>
            <p:nvPr/>
          </p:nvSpPr>
          <p:spPr bwMode="auto">
            <a:xfrm>
              <a:off x="3943350" y="52403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93209" name="Line 25"/>
            <p:cNvSpPr>
              <a:spLocks noChangeShapeType="1"/>
            </p:cNvSpPr>
            <p:nvPr/>
          </p:nvSpPr>
          <p:spPr bwMode="auto">
            <a:xfrm>
              <a:off x="4471988" y="5470525"/>
              <a:ext cx="649287"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3210" name="Text Box 26"/>
            <p:cNvSpPr txBox="1">
              <a:spLocks noChangeArrowheads="1"/>
            </p:cNvSpPr>
            <p:nvPr/>
          </p:nvSpPr>
          <p:spPr bwMode="auto">
            <a:xfrm>
              <a:off x="4024313" y="5678488"/>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3211" name="Text Box 27"/>
            <p:cNvSpPr txBox="1">
              <a:spLocks noChangeArrowheads="1"/>
            </p:cNvSpPr>
            <p:nvPr/>
          </p:nvSpPr>
          <p:spPr bwMode="auto">
            <a:xfrm>
              <a:off x="4324350" y="2330450"/>
              <a:ext cx="441146" cy="461665"/>
            </a:xfrm>
            <a:prstGeom prst="rect">
              <a:avLst/>
            </a:prstGeom>
            <a:noFill/>
            <a:ln w="9525">
              <a:noFill/>
              <a:miter lim="800000"/>
              <a:headEnd/>
              <a:tailEnd/>
            </a:ln>
          </p:spPr>
          <p:txBody>
            <a:bodyPr wrap="none">
              <a:spAutoFit/>
            </a:bodyPr>
            <a:lstStyle/>
            <a:p>
              <a:pPr algn="l" eaLnBrk="0" hangingPunct="0"/>
              <a:r>
                <a:rPr lang="en-US" altLang="zh-CN" sz="2400" b="1"/>
                <a:t>5/</a:t>
              </a: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altLang="zh-CN" sz="2800" dirty="0"/>
              <a:t>Topological Sorting: </a:t>
            </a:r>
            <a:r>
              <a:rPr lang="en-US" altLang="zh-CN" sz="2800" b="1" dirty="0"/>
              <a:t>Depth-First Algorithm</a:t>
            </a:r>
          </a:p>
        </p:txBody>
      </p:sp>
      <p:grpSp>
        <p:nvGrpSpPr>
          <p:cNvPr id="2" name="组合 28"/>
          <p:cNvGrpSpPr/>
          <p:nvPr/>
        </p:nvGrpSpPr>
        <p:grpSpPr>
          <a:xfrm>
            <a:off x="4640264" y="1500174"/>
            <a:ext cx="2889143" cy="4229100"/>
            <a:chOff x="3116263" y="1906588"/>
            <a:chExt cx="2889143" cy="4229100"/>
          </a:xfrm>
        </p:grpSpPr>
        <p:sp>
          <p:nvSpPr>
            <p:cNvPr id="94211" name="Oval 3"/>
            <p:cNvSpPr>
              <a:spLocks noChangeArrowheads="1"/>
            </p:cNvSpPr>
            <p:nvPr/>
          </p:nvSpPr>
          <p:spPr bwMode="auto">
            <a:xfrm>
              <a:off x="4273550" y="2327275"/>
              <a:ext cx="504825" cy="476250"/>
            </a:xfrm>
            <a:prstGeom prst="ellipse">
              <a:avLst/>
            </a:prstGeom>
            <a:solidFill>
              <a:srgbClr val="CCECFF"/>
            </a:solidFill>
            <a:ln w="9525">
              <a:solidFill>
                <a:schemeClr val="tx1"/>
              </a:solidFill>
              <a:round/>
              <a:headEnd/>
              <a:tailEnd/>
            </a:ln>
          </p:spPr>
          <p:txBody>
            <a:bodyPr wrap="none" anchor="ctr"/>
            <a:lstStyle/>
            <a:p>
              <a:pPr eaLnBrk="0" hangingPunct="0"/>
              <a:r>
                <a:rPr lang="zh-CN" altLang="en-US" sz="2400" b="1"/>
                <a:t> </a:t>
              </a:r>
            </a:p>
          </p:txBody>
        </p:sp>
        <p:sp>
          <p:nvSpPr>
            <p:cNvPr id="94212" name="Oval 4"/>
            <p:cNvSpPr>
              <a:spLocks noChangeArrowheads="1"/>
            </p:cNvSpPr>
            <p:nvPr/>
          </p:nvSpPr>
          <p:spPr bwMode="auto">
            <a:xfrm>
              <a:off x="5399088" y="342582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4213" name="Oval 5"/>
            <p:cNvSpPr>
              <a:spLocks noChangeArrowheads="1"/>
            </p:cNvSpPr>
            <p:nvPr/>
          </p:nvSpPr>
          <p:spPr bwMode="auto">
            <a:xfrm>
              <a:off x="5364163" y="23510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4214" name="Line 6"/>
            <p:cNvSpPr>
              <a:spLocks noChangeShapeType="1"/>
            </p:cNvSpPr>
            <p:nvPr/>
          </p:nvSpPr>
          <p:spPr bwMode="auto">
            <a:xfrm>
              <a:off x="5627688" y="2814638"/>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4215" name="Oval 7"/>
            <p:cNvSpPr>
              <a:spLocks noChangeArrowheads="1"/>
            </p:cNvSpPr>
            <p:nvPr/>
          </p:nvSpPr>
          <p:spPr bwMode="auto">
            <a:xfrm>
              <a:off x="3151188" y="3435350"/>
              <a:ext cx="504825" cy="476250"/>
            </a:xfrm>
            <a:prstGeom prst="ellipse">
              <a:avLst/>
            </a:prstGeom>
            <a:solidFill>
              <a:srgbClr val="CCECFF"/>
            </a:solidFill>
            <a:ln w="9525">
              <a:solidFill>
                <a:schemeClr val="tx1"/>
              </a:solidFill>
              <a:round/>
              <a:headEnd/>
              <a:tailEnd/>
            </a:ln>
          </p:spPr>
          <p:txBody>
            <a:bodyPr wrap="none" anchor="ctr"/>
            <a:lstStyle/>
            <a:p>
              <a:pPr eaLnBrk="0" hangingPunct="0"/>
              <a:r>
                <a:rPr lang="zh-CN" altLang="en-US" sz="2400" b="1"/>
                <a:t> </a:t>
              </a:r>
            </a:p>
          </p:txBody>
        </p:sp>
        <p:sp>
          <p:nvSpPr>
            <p:cNvPr id="94216" name="Oval 8"/>
            <p:cNvSpPr>
              <a:spLocks noChangeArrowheads="1"/>
            </p:cNvSpPr>
            <p:nvPr/>
          </p:nvSpPr>
          <p:spPr bwMode="auto">
            <a:xfrm>
              <a:off x="3116263" y="2360613"/>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4217" name="Line 9"/>
            <p:cNvSpPr>
              <a:spLocks noChangeShapeType="1"/>
            </p:cNvSpPr>
            <p:nvPr/>
          </p:nvSpPr>
          <p:spPr bwMode="auto">
            <a:xfrm>
              <a:off x="3379788" y="2824163"/>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4218" name="Line 10"/>
            <p:cNvSpPr>
              <a:spLocks noChangeShapeType="1"/>
            </p:cNvSpPr>
            <p:nvPr/>
          </p:nvSpPr>
          <p:spPr bwMode="auto">
            <a:xfrm>
              <a:off x="3606800" y="2584450"/>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4219" name="Line 11"/>
            <p:cNvSpPr>
              <a:spLocks noChangeShapeType="1"/>
            </p:cNvSpPr>
            <p:nvPr/>
          </p:nvSpPr>
          <p:spPr bwMode="auto">
            <a:xfrm flipH="1">
              <a:off x="3635375" y="2786063"/>
              <a:ext cx="823913" cy="8223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4220" name="Text Box 12"/>
            <p:cNvSpPr txBox="1">
              <a:spLocks noChangeArrowheads="1"/>
            </p:cNvSpPr>
            <p:nvPr/>
          </p:nvSpPr>
          <p:spPr bwMode="auto">
            <a:xfrm>
              <a:off x="3565525" y="4654550"/>
              <a:ext cx="1909497" cy="461665"/>
            </a:xfrm>
            <a:prstGeom prst="rect">
              <a:avLst/>
            </a:prstGeom>
            <a:noFill/>
            <a:ln w="9525">
              <a:noFill/>
              <a:miter lim="800000"/>
              <a:headEnd/>
              <a:tailEnd/>
            </a:ln>
          </p:spPr>
          <p:txBody>
            <a:bodyPr wrap="none">
              <a:spAutoFit/>
            </a:bodyPr>
            <a:lstStyle/>
            <a:p>
              <a:pPr algn="l" eaLnBrk="0" hangingPunct="0"/>
              <a:r>
                <a:rPr lang="en-US" altLang="zh-CN" sz="2400" b="1"/>
                <a:t>Linked List:</a:t>
              </a:r>
            </a:p>
          </p:txBody>
        </p:sp>
        <p:sp>
          <p:nvSpPr>
            <p:cNvPr id="94221" name="Text Box 13"/>
            <p:cNvSpPr txBox="1">
              <a:spLocks noChangeArrowheads="1"/>
            </p:cNvSpPr>
            <p:nvPr/>
          </p:nvSpPr>
          <p:spPr bwMode="auto">
            <a:xfrm>
              <a:off x="3168650" y="1911350"/>
              <a:ext cx="404813" cy="457200"/>
            </a:xfrm>
            <a:prstGeom prst="rect">
              <a:avLst/>
            </a:prstGeom>
            <a:noFill/>
            <a:ln w="9525">
              <a:noFill/>
              <a:miter lim="800000"/>
              <a:headEnd/>
              <a:tailEnd/>
            </a:ln>
          </p:spPr>
          <p:txBody>
            <a:bodyPr wrap="none">
              <a:spAutoFit/>
            </a:bodyPr>
            <a:lstStyle/>
            <a:p>
              <a:pPr algn="l" eaLnBrk="0" hangingPunct="0"/>
              <a:r>
                <a:rPr lang="en-US" altLang="zh-CN" sz="2400"/>
                <a:t>A</a:t>
              </a:r>
            </a:p>
          </p:txBody>
        </p:sp>
        <p:sp>
          <p:nvSpPr>
            <p:cNvPr id="94222" name="Text Box 14"/>
            <p:cNvSpPr txBox="1">
              <a:spLocks noChangeArrowheads="1"/>
            </p:cNvSpPr>
            <p:nvPr/>
          </p:nvSpPr>
          <p:spPr bwMode="auto">
            <a:xfrm>
              <a:off x="4306888" y="1906588"/>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sp>
          <p:nvSpPr>
            <p:cNvPr id="94223" name="Text Box 15"/>
            <p:cNvSpPr txBox="1">
              <a:spLocks noChangeArrowheads="1"/>
            </p:cNvSpPr>
            <p:nvPr/>
          </p:nvSpPr>
          <p:spPr bwMode="auto">
            <a:xfrm>
              <a:off x="5402263" y="1930400"/>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4224" name="Text Box 16"/>
            <p:cNvSpPr txBox="1">
              <a:spLocks noChangeArrowheads="1"/>
            </p:cNvSpPr>
            <p:nvPr/>
          </p:nvSpPr>
          <p:spPr bwMode="auto">
            <a:xfrm>
              <a:off x="3192463" y="3835400"/>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94225" name="Text Box 17"/>
            <p:cNvSpPr txBox="1">
              <a:spLocks noChangeArrowheads="1"/>
            </p:cNvSpPr>
            <p:nvPr/>
          </p:nvSpPr>
          <p:spPr bwMode="auto">
            <a:xfrm>
              <a:off x="5426075" y="3854450"/>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4226" name="Text Box 18"/>
            <p:cNvSpPr txBox="1">
              <a:spLocks noChangeArrowheads="1"/>
            </p:cNvSpPr>
            <p:nvPr/>
          </p:nvSpPr>
          <p:spPr bwMode="auto">
            <a:xfrm>
              <a:off x="5348288" y="23447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94227" name="Text Box 19"/>
            <p:cNvSpPr txBox="1">
              <a:spLocks noChangeArrowheads="1"/>
            </p:cNvSpPr>
            <p:nvPr/>
          </p:nvSpPr>
          <p:spPr bwMode="auto">
            <a:xfrm>
              <a:off x="5392738" y="3441700"/>
              <a:ext cx="612668" cy="461665"/>
            </a:xfrm>
            <a:prstGeom prst="rect">
              <a:avLst/>
            </a:prstGeom>
            <a:noFill/>
            <a:ln w="9525">
              <a:noFill/>
              <a:miter lim="800000"/>
              <a:headEnd/>
              <a:tailEnd/>
            </a:ln>
          </p:spPr>
          <p:txBody>
            <a:bodyPr wrap="none">
              <a:spAutoFit/>
            </a:bodyPr>
            <a:lstStyle/>
            <a:p>
              <a:pPr algn="l" eaLnBrk="0" hangingPunct="0"/>
              <a:r>
                <a:rPr lang="en-US" altLang="zh-CN" sz="2400" b="1" dirty="0"/>
                <a:t>2/3</a:t>
              </a:r>
              <a:endParaRPr lang="en-US" altLang="zh-CN" sz="2400" dirty="0"/>
            </a:p>
          </p:txBody>
        </p:sp>
        <p:sp>
          <p:nvSpPr>
            <p:cNvPr id="94228" name="Oval 20"/>
            <p:cNvSpPr>
              <a:spLocks noChangeArrowheads="1"/>
            </p:cNvSpPr>
            <p:nvPr/>
          </p:nvSpPr>
          <p:spPr bwMode="auto">
            <a:xfrm>
              <a:off x="5122863" y="52212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4229" name="Text Box 21"/>
            <p:cNvSpPr txBox="1">
              <a:spLocks noChangeArrowheads="1"/>
            </p:cNvSpPr>
            <p:nvPr/>
          </p:nvSpPr>
          <p:spPr bwMode="auto">
            <a:xfrm>
              <a:off x="5149850" y="5649913"/>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4230" name="Text Box 22"/>
            <p:cNvSpPr txBox="1">
              <a:spLocks noChangeArrowheads="1"/>
            </p:cNvSpPr>
            <p:nvPr/>
          </p:nvSpPr>
          <p:spPr bwMode="auto">
            <a:xfrm>
              <a:off x="5116513" y="5237163"/>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94231" name="Oval 23"/>
            <p:cNvSpPr>
              <a:spLocks noChangeArrowheads="1"/>
            </p:cNvSpPr>
            <p:nvPr/>
          </p:nvSpPr>
          <p:spPr bwMode="auto">
            <a:xfrm>
              <a:off x="3959225" y="52466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4232" name="Text Box 24"/>
            <p:cNvSpPr txBox="1">
              <a:spLocks noChangeArrowheads="1"/>
            </p:cNvSpPr>
            <p:nvPr/>
          </p:nvSpPr>
          <p:spPr bwMode="auto">
            <a:xfrm>
              <a:off x="3943350" y="52403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94233" name="Line 25"/>
            <p:cNvSpPr>
              <a:spLocks noChangeShapeType="1"/>
            </p:cNvSpPr>
            <p:nvPr/>
          </p:nvSpPr>
          <p:spPr bwMode="auto">
            <a:xfrm>
              <a:off x="4471988" y="5470525"/>
              <a:ext cx="649287"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4234" name="Text Box 26"/>
            <p:cNvSpPr txBox="1">
              <a:spLocks noChangeArrowheads="1"/>
            </p:cNvSpPr>
            <p:nvPr/>
          </p:nvSpPr>
          <p:spPr bwMode="auto">
            <a:xfrm>
              <a:off x="4024313" y="5678488"/>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4235" name="Text Box 27"/>
            <p:cNvSpPr txBox="1">
              <a:spLocks noChangeArrowheads="1"/>
            </p:cNvSpPr>
            <p:nvPr/>
          </p:nvSpPr>
          <p:spPr bwMode="auto">
            <a:xfrm>
              <a:off x="4324350" y="2330450"/>
              <a:ext cx="441146" cy="461665"/>
            </a:xfrm>
            <a:prstGeom prst="rect">
              <a:avLst/>
            </a:prstGeom>
            <a:noFill/>
            <a:ln w="9525">
              <a:noFill/>
              <a:miter lim="800000"/>
              <a:headEnd/>
              <a:tailEnd/>
            </a:ln>
          </p:spPr>
          <p:txBody>
            <a:bodyPr wrap="none">
              <a:spAutoFit/>
            </a:bodyPr>
            <a:lstStyle/>
            <a:p>
              <a:pPr algn="l" eaLnBrk="0" hangingPunct="0"/>
              <a:r>
                <a:rPr lang="en-US" altLang="zh-CN" sz="2400" b="1"/>
                <a:t>5/</a:t>
              </a:r>
            </a:p>
          </p:txBody>
        </p:sp>
        <p:sp>
          <p:nvSpPr>
            <p:cNvPr id="94236" name="Text Box 28"/>
            <p:cNvSpPr txBox="1">
              <a:spLocks noChangeArrowheads="1"/>
            </p:cNvSpPr>
            <p:nvPr/>
          </p:nvSpPr>
          <p:spPr bwMode="auto">
            <a:xfrm>
              <a:off x="3198813" y="3427413"/>
              <a:ext cx="441146" cy="461665"/>
            </a:xfrm>
            <a:prstGeom prst="rect">
              <a:avLst/>
            </a:prstGeom>
            <a:noFill/>
            <a:ln w="9525">
              <a:noFill/>
              <a:miter lim="800000"/>
              <a:headEnd/>
              <a:tailEnd/>
            </a:ln>
          </p:spPr>
          <p:txBody>
            <a:bodyPr wrap="none">
              <a:spAutoFit/>
            </a:bodyPr>
            <a:lstStyle/>
            <a:p>
              <a:pPr algn="l" eaLnBrk="0" hangingPunct="0"/>
              <a:r>
                <a:rPr lang="en-US" altLang="zh-CN" sz="2400" b="1"/>
                <a:t>6/</a:t>
              </a:r>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altLang="zh-CN" sz="2800" dirty="0"/>
              <a:t>Topological Sorting: </a:t>
            </a:r>
            <a:r>
              <a:rPr lang="en-US" altLang="zh-CN" sz="2800" b="1" dirty="0"/>
              <a:t>Depth-First Algorithm</a:t>
            </a:r>
          </a:p>
        </p:txBody>
      </p:sp>
      <p:grpSp>
        <p:nvGrpSpPr>
          <p:cNvPr id="2" name="组合 32"/>
          <p:cNvGrpSpPr/>
          <p:nvPr/>
        </p:nvGrpSpPr>
        <p:grpSpPr>
          <a:xfrm>
            <a:off x="4333876" y="1500174"/>
            <a:ext cx="3195531" cy="4229100"/>
            <a:chOff x="2809875" y="1906588"/>
            <a:chExt cx="3195531" cy="4229100"/>
          </a:xfrm>
        </p:grpSpPr>
        <p:sp>
          <p:nvSpPr>
            <p:cNvPr id="95235" name="Oval 3"/>
            <p:cNvSpPr>
              <a:spLocks noChangeArrowheads="1"/>
            </p:cNvSpPr>
            <p:nvPr/>
          </p:nvSpPr>
          <p:spPr bwMode="auto">
            <a:xfrm>
              <a:off x="4273550" y="2327275"/>
              <a:ext cx="504825" cy="476250"/>
            </a:xfrm>
            <a:prstGeom prst="ellipse">
              <a:avLst/>
            </a:prstGeom>
            <a:solidFill>
              <a:srgbClr val="CCECFF"/>
            </a:solidFill>
            <a:ln w="9525">
              <a:solidFill>
                <a:schemeClr val="tx1"/>
              </a:solidFill>
              <a:round/>
              <a:headEnd/>
              <a:tailEnd/>
            </a:ln>
          </p:spPr>
          <p:txBody>
            <a:bodyPr wrap="none" anchor="ctr"/>
            <a:lstStyle/>
            <a:p>
              <a:pPr eaLnBrk="0" hangingPunct="0"/>
              <a:r>
                <a:rPr lang="zh-CN" altLang="en-US" sz="2400" b="1"/>
                <a:t> </a:t>
              </a:r>
            </a:p>
          </p:txBody>
        </p:sp>
        <p:sp>
          <p:nvSpPr>
            <p:cNvPr id="95236" name="Oval 4"/>
            <p:cNvSpPr>
              <a:spLocks noChangeArrowheads="1"/>
            </p:cNvSpPr>
            <p:nvPr/>
          </p:nvSpPr>
          <p:spPr bwMode="auto">
            <a:xfrm>
              <a:off x="5399088" y="342582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5237" name="Oval 5"/>
            <p:cNvSpPr>
              <a:spLocks noChangeArrowheads="1"/>
            </p:cNvSpPr>
            <p:nvPr/>
          </p:nvSpPr>
          <p:spPr bwMode="auto">
            <a:xfrm>
              <a:off x="5364163" y="23510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5238" name="Line 6"/>
            <p:cNvSpPr>
              <a:spLocks noChangeShapeType="1"/>
            </p:cNvSpPr>
            <p:nvPr/>
          </p:nvSpPr>
          <p:spPr bwMode="auto">
            <a:xfrm>
              <a:off x="5627688" y="2814638"/>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5239" name="Oval 7"/>
            <p:cNvSpPr>
              <a:spLocks noChangeArrowheads="1"/>
            </p:cNvSpPr>
            <p:nvPr/>
          </p:nvSpPr>
          <p:spPr bwMode="auto">
            <a:xfrm>
              <a:off x="3151188" y="3435350"/>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5240" name="Oval 8"/>
            <p:cNvSpPr>
              <a:spLocks noChangeArrowheads="1"/>
            </p:cNvSpPr>
            <p:nvPr/>
          </p:nvSpPr>
          <p:spPr bwMode="auto">
            <a:xfrm>
              <a:off x="3116263" y="2360613"/>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5241" name="Line 9"/>
            <p:cNvSpPr>
              <a:spLocks noChangeShapeType="1"/>
            </p:cNvSpPr>
            <p:nvPr/>
          </p:nvSpPr>
          <p:spPr bwMode="auto">
            <a:xfrm>
              <a:off x="3379788" y="2824163"/>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5242" name="Line 10"/>
            <p:cNvSpPr>
              <a:spLocks noChangeShapeType="1"/>
            </p:cNvSpPr>
            <p:nvPr/>
          </p:nvSpPr>
          <p:spPr bwMode="auto">
            <a:xfrm>
              <a:off x="3606800" y="2584450"/>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5243" name="Line 11"/>
            <p:cNvSpPr>
              <a:spLocks noChangeShapeType="1"/>
            </p:cNvSpPr>
            <p:nvPr/>
          </p:nvSpPr>
          <p:spPr bwMode="auto">
            <a:xfrm flipH="1">
              <a:off x="3635375" y="2786063"/>
              <a:ext cx="823913" cy="8223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5244" name="Text Box 12"/>
            <p:cNvSpPr txBox="1">
              <a:spLocks noChangeArrowheads="1"/>
            </p:cNvSpPr>
            <p:nvPr/>
          </p:nvSpPr>
          <p:spPr bwMode="auto">
            <a:xfrm>
              <a:off x="3565525" y="4654550"/>
              <a:ext cx="1909497" cy="461665"/>
            </a:xfrm>
            <a:prstGeom prst="rect">
              <a:avLst/>
            </a:prstGeom>
            <a:noFill/>
            <a:ln w="9525">
              <a:noFill/>
              <a:miter lim="800000"/>
              <a:headEnd/>
              <a:tailEnd/>
            </a:ln>
          </p:spPr>
          <p:txBody>
            <a:bodyPr wrap="none">
              <a:spAutoFit/>
            </a:bodyPr>
            <a:lstStyle/>
            <a:p>
              <a:pPr algn="l" eaLnBrk="0" hangingPunct="0"/>
              <a:r>
                <a:rPr lang="en-US" altLang="zh-CN" sz="2400" b="1"/>
                <a:t>Linked List:</a:t>
              </a:r>
            </a:p>
          </p:txBody>
        </p:sp>
        <p:sp>
          <p:nvSpPr>
            <p:cNvPr id="95245" name="Text Box 13"/>
            <p:cNvSpPr txBox="1">
              <a:spLocks noChangeArrowheads="1"/>
            </p:cNvSpPr>
            <p:nvPr/>
          </p:nvSpPr>
          <p:spPr bwMode="auto">
            <a:xfrm>
              <a:off x="3168650" y="1911350"/>
              <a:ext cx="404813" cy="457200"/>
            </a:xfrm>
            <a:prstGeom prst="rect">
              <a:avLst/>
            </a:prstGeom>
            <a:noFill/>
            <a:ln w="9525">
              <a:noFill/>
              <a:miter lim="800000"/>
              <a:headEnd/>
              <a:tailEnd/>
            </a:ln>
          </p:spPr>
          <p:txBody>
            <a:bodyPr wrap="none">
              <a:spAutoFit/>
            </a:bodyPr>
            <a:lstStyle/>
            <a:p>
              <a:pPr algn="l" eaLnBrk="0" hangingPunct="0"/>
              <a:r>
                <a:rPr lang="en-US" altLang="zh-CN" sz="2400"/>
                <a:t>A</a:t>
              </a:r>
            </a:p>
          </p:txBody>
        </p:sp>
        <p:sp>
          <p:nvSpPr>
            <p:cNvPr id="95246" name="Text Box 14"/>
            <p:cNvSpPr txBox="1">
              <a:spLocks noChangeArrowheads="1"/>
            </p:cNvSpPr>
            <p:nvPr/>
          </p:nvSpPr>
          <p:spPr bwMode="auto">
            <a:xfrm>
              <a:off x="4306888" y="1906588"/>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sp>
          <p:nvSpPr>
            <p:cNvPr id="95247" name="Text Box 15"/>
            <p:cNvSpPr txBox="1">
              <a:spLocks noChangeArrowheads="1"/>
            </p:cNvSpPr>
            <p:nvPr/>
          </p:nvSpPr>
          <p:spPr bwMode="auto">
            <a:xfrm>
              <a:off x="5402263" y="1930400"/>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5248" name="Text Box 16"/>
            <p:cNvSpPr txBox="1">
              <a:spLocks noChangeArrowheads="1"/>
            </p:cNvSpPr>
            <p:nvPr/>
          </p:nvSpPr>
          <p:spPr bwMode="auto">
            <a:xfrm>
              <a:off x="3192463" y="3835400"/>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95249" name="Text Box 17"/>
            <p:cNvSpPr txBox="1">
              <a:spLocks noChangeArrowheads="1"/>
            </p:cNvSpPr>
            <p:nvPr/>
          </p:nvSpPr>
          <p:spPr bwMode="auto">
            <a:xfrm>
              <a:off x="5426075" y="3854450"/>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5250" name="Text Box 18"/>
            <p:cNvSpPr txBox="1">
              <a:spLocks noChangeArrowheads="1"/>
            </p:cNvSpPr>
            <p:nvPr/>
          </p:nvSpPr>
          <p:spPr bwMode="auto">
            <a:xfrm>
              <a:off x="5348288" y="23447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95251" name="Text Box 19"/>
            <p:cNvSpPr txBox="1">
              <a:spLocks noChangeArrowheads="1"/>
            </p:cNvSpPr>
            <p:nvPr/>
          </p:nvSpPr>
          <p:spPr bwMode="auto">
            <a:xfrm>
              <a:off x="5392738" y="3441700"/>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95252" name="Oval 20"/>
            <p:cNvSpPr>
              <a:spLocks noChangeArrowheads="1"/>
            </p:cNvSpPr>
            <p:nvPr/>
          </p:nvSpPr>
          <p:spPr bwMode="auto">
            <a:xfrm>
              <a:off x="5122863" y="52212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5253" name="Text Box 21"/>
            <p:cNvSpPr txBox="1">
              <a:spLocks noChangeArrowheads="1"/>
            </p:cNvSpPr>
            <p:nvPr/>
          </p:nvSpPr>
          <p:spPr bwMode="auto">
            <a:xfrm>
              <a:off x="5149850" y="5649913"/>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5254" name="Text Box 22"/>
            <p:cNvSpPr txBox="1">
              <a:spLocks noChangeArrowheads="1"/>
            </p:cNvSpPr>
            <p:nvPr/>
          </p:nvSpPr>
          <p:spPr bwMode="auto">
            <a:xfrm>
              <a:off x="5116513" y="5237163"/>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95255" name="Oval 23"/>
            <p:cNvSpPr>
              <a:spLocks noChangeArrowheads="1"/>
            </p:cNvSpPr>
            <p:nvPr/>
          </p:nvSpPr>
          <p:spPr bwMode="auto">
            <a:xfrm>
              <a:off x="3959225" y="52466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5256" name="Text Box 24"/>
            <p:cNvSpPr txBox="1">
              <a:spLocks noChangeArrowheads="1"/>
            </p:cNvSpPr>
            <p:nvPr/>
          </p:nvSpPr>
          <p:spPr bwMode="auto">
            <a:xfrm>
              <a:off x="3943350" y="52403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95257" name="Line 25"/>
            <p:cNvSpPr>
              <a:spLocks noChangeShapeType="1"/>
            </p:cNvSpPr>
            <p:nvPr/>
          </p:nvSpPr>
          <p:spPr bwMode="auto">
            <a:xfrm>
              <a:off x="4471988" y="5470525"/>
              <a:ext cx="649287"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5258" name="Text Box 26"/>
            <p:cNvSpPr txBox="1">
              <a:spLocks noChangeArrowheads="1"/>
            </p:cNvSpPr>
            <p:nvPr/>
          </p:nvSpPr>
          <p:spPr bwMode="auto">
            <a:xfrm>
              <a:off x="4024313" y="5678488"/>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5259" name="Text Box 27"/>
            <p:cNvSpPr txBox="1">
              <a:spLocks noChangeArrowheads="1"/>
            </p:cNvSpPr>
            <p:nvPr/>
          </p:nvSpPr>
          <p:spPr bwMode="auto">
            <a:xfrm>
              <a:off x="4324350" y="2330450"/>
              <a:ext cx="441146" cy="461665"/>
            </a:xfrm>
            <a:prstGeom prst="rect">
              <a:avLst/>
            </a:prstGeom>
            <a:noFill/>
            <a:ln w="9525">
              <a:noFill/>
              <a:miter lim="800000"/>
              <a:headEnd/>
              <a:tailEnd/>
            </a:ln>
          </p:spPr>
          <p:txBody>
            <a:bodyPr wrap="none">
              <a:spAutoFit/>
            </a:bodyPr>
            <a:lstStyle/>
            <a:p>
              <a:pPr algn="l" eaLnBrk="0" hangingPunct="0"/>
              <a:r>
                <a:rPr lang="en-US" altLang="zh-CN" sz="2400" b="1"/>
                <a:t>5/</a:t>
              </a:r>
            </a:p>
          </p:txBody>
        </p:sp>
        <p:sp>
          <p:nvSpPr>
            <p:cNvPr id="95260" name="Text Box 28"/>
            <p:cNvSpPr txBox="1">
              <a:spLocks noChangeArrowheads="1"/>
            </p:cNvSpPr>
            <p:nvPr/>
          </p:nvSpPr>
          <p:spPr bwMode="auto">
            <a:xfrm>
              <a:off x="3113088" y="3441700"/>
              <a:ext cx="612668" cy="461665"/>
            </a:xfrm>
            <a:prstGeom prst="rect">
              <a:avLst/>
            </a:prstGeom>
            <a:noFill/>
            <a:ln w="9525">
              <a:noFill/>
              <a:miter lim="800000"/>
              <a:headEnd/>
              <a:tailEnd/>
            </a:ln>
          </p:spPr>
          <p:txBody>
            <a:bodyPr wrap="none">
              <a:spAutoFit/>
            </a:bodyPr>
            <a:lstStyle/>
            <a:p>
              <a:pPr algn="l" eaLnBrk="0" hangingPunct="0"/>
              <a:r>
                <a:rPr lang="en-US" altLang="zh-CN" sz="2400" b="1"/>
                <a:t>6/7</a:t>
              </a:r>
            </a:p>
          </p:txBody>
        </p:sp>
        <p:sp>
          <p:nvSpPr>
            <p:cNvPr id="95261" name="Oval 29"/>
            <p:cNvSpPr>
              <a:spLocks noChangeArrowheads="1"/>
            </p:cNvSpPr>
            <p:nvPr/>
          </p:nvSpPr>
          <p:spPr bwMode="auto">
            <a:xfrm>
              <a:off x="2825750" y="524192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5262" name="Text Box 30"/>
            <p:cNvSpPr txBox="1">
              <a:spLocks noChangeArrowheads="1"/>
            </p:cNvSpPr>
            <p:nvPr/>
          </p:nvSpPr>
          <p:spPr bwMode="auto">
            <a:xfrm>
              <a:off x="2809875" y="5235575"/>
              <a:ext cx="612668" cy="461665"/>
            </a:xfrm>
            <a:prstGeom prst="rect">
              <a:avLst/>
            </a:prstGeom>
            <a:noFill/>
            <a:ln w="9525">
              <a:noFill/>
              <a:miter lim="800000"/>
              <a:headEnd/>
              <a:tailEnd/>
            </a:ln>
          </p:spPr>
          <p:txBody>
            <a:bodyPr wrap="none">
              <a:spAutoFit/>
            </a:bodyPr>
            <a:lstStyle/>
            <a:p>
              <a:pPr algn="l" eaLnBrk="0" hangingPunct="0"/>
              <a:r>
                <a:rPr lang="en-US" altLang="zh-CN" sz="2400" b="1"/>
                <a:t>6/7</a:t>
              </a:r>
              <a:endParaRPr lang="en-US" altLang="zh-CN" sz="2400"/>
            </a:p>
          </p:txBody>
        </p:sp>
        <p:sp>
          <p:nvSpPr>
            <p:cNvPr id="95263" name="Line 31"/>
            <p:cNvSpPr>
              <a:spLocks noChangeShapeType="1"/>
            </p:cNvSpPr>
            <p:nvPr/>
          </p:nvSpPr>
          <p:spPr bwMode="auto">
            <a:xfrm>
              <a:off x="3338513" y="5465763"/>
              <a:ext cx="649287"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5264" name="Text Box 32"/>
            <p:cNvSpPr txBox="1">
              <a:spLocks noChangeArrowheads="1"/>
            </p:cNvSpPr>
            <p:nvPr/>
          </p:nvSpPr>
          <p:spPr bwMode="auto">
            <a:xfrm>
              <a:off x="2890838" y="5673725"/>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US" altLang="zh-CN" sz="2800" dirty="0"/>
              <a:t>Topological Sorting: </a:t>
            </a:r>
            <a:r>
              <a:rPr lang="en-US" altLang="zh-CN" sz="2800" b="1" dirty="0"/>
              <a:t>Depth-First Algorithm</a:t>
            </a:r>
          </a:p>
        </p:txBody>
      </p:sp>
      <p:grpSp>
        <p:nvGrpSpPr>
          <p:cNvPr id="2" name="组合 36"/>
          <p:cNvGrpSpPr/>
          <p:nvPr/>
        </p:nvGrpSpPr>
        <p:grpSpPr>
          <a:xfrm>
            <a:off x="3157538" y="1571612"/>
            <a:ext cx="4371868" cy="4233862"/>
            <a:chOff x="1633538" y="1906588"/>
            <a:chExt cx="4371868" cy="4233862"/>
          </a:xfrm>
        </p:grpSpPr>
        <p:sp>
          <p:nvSpPr>
            <p:cNvPr id="96259" name="Oval 3"/>
            <p:cNvSpPr>
              <a:spLocks noChangeArrowheads="1"/>
            </p:cNvSpPr>
            <p:nvPr/>
          </p:nvSpPr>
          <p:spPr bwMode="auto">
            <a:xfrm>
              <a:off x="4273550" y="232727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6260" name="Oval 4"/>
            <p:cNvSpPr>
              <a:spLocks noChangeArrowheads="1"/>
            </p:cNvSpPr>
            <p:nvPr/>
          </p:nvSpPr>
          <p:spPr bwMode="auto">
            <a:xfrm>
              <a:off x="5399088" y="342582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6261" name="Oval 5"/>
            <p:cNvSpPr>
              <a:spLocks noChangeArrowheads="1"/>
            </p:cNvSpPr>
            <p:nvPr/>
          </p:nvSpPr>
          <p:spPr bwMode="auto">
            <a:xfrm>
              <a:off x="5364163" y="23510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6262" name="Line 6"/>
            <p:cNvSpPr>
              <a:spLocks noChangeShapeType="1"/>
            </p:cNvSpPr>
            <p:nvPr/>
          </p:nvSpPr>
          <p:spPr bwMode="auto">
            <a:xfrm>
              <a:off x="5627688" y="2814638"/>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6263" name="Oval 7"/>
            <p:cNvSpPr>
              <a:spLocks noChangeArrowheads="1"/>
            </p:cNvSpPr>
            <p:nvPr/>
          </p:nvSpPr>
          <p:spPr bwMode="auto">
            <a:xfrm>
              <a:off x="3151188" y="3435350"/>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6264" name="Oval 8"/>
            <p:cNvSpPr>
              <a:spLocks noChangeArrowheads="1"/>
            </p:cNvSpPr>
            <p:nvPr/>
          </p:nvSpPr>
          <p:spPr bwMode="auto">
            <a:xfrm>
              <a:off x="3116263" y="2360613"/>
              <a:ext cx="504825" cy="476250"/>
            </a:xfrm>
            <a:prstGeom prst="ellipse">
              <a:avLst/>
            </a:prstGeom>
            <a:noFill/>
            <a:ln w="9525">
              <a:solidFill>
                <a:schemeClr val="tx1"/>
              </a:solidFill>
              <a:round/>
              <a:headEnd/>
              <a:tailEnd/>
            </a:ln>
          </p:spPr>
          <p:txBody>
            <a:bodyPr wrap="none" anchor="ctr"/>
            <a:lstStyle/>
            <a:p>
              <a:pPr eaLnBrk="0" hangingPunct="0"/>
              <a:r>
                <a:rPr lang="zh-CN" altLang="en-US" sz="2400" b="1"/>
                <a:t> </a:t>
              </a:r>
            </a:p>
          </p:txBody>
        </p:sp>
        <p:sp>
          <p:nvSpPr>
            <p:cNvPr id="96265" name="Line 9"/>
            <p:cNvSpPr>
              <a:spLocks noChangeShapeType="1"/>
            </p:cNvSpPr>
            <p:nvPr/>
          </p:nvSpPr>
          <p:spPr bwMode="auto">
            <a:xfrm>
              <a:off x="3379788" y="2824163"/>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6266" name="Line 10"/>
            <p:cNvSpPr>
              <a:spLocks noChangeShapeType="1"/>
            </p:cNvSpPr>
            <p:nvPr/>
          </p:nvSpPr>
          <p:spPr bwMode="auto">
            <a:xfrm>
              <a:off x="3606800" y="2584450"/>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6267" name="Line 11"/>
            <p:cNvSpPr>
              <a:spLocks noChangeShapeType="1"/>
            </p:cNvSpPr>
            <p:nvPr/>
          </p:nvSpPr>
          <p:spPr bwMode="auto">
            <a:xfrm flipH="1">
              <a:off x="3635375" y="2786063"/>
              <a:ext cx="823913" cy="8223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96268" name="Text Box 12"/>
            <p:cNvSpPr txBox="1">
              <a:spLocks noChangeArrowheads="1"/>
            </p:cNvSpPr>
            <p:nvPr/>
          </p:nvSpPr>
          <p:spPr bwMode="auto">
            <a:xfrm>
              <a:off x="3565525" y="4654550"/>
              <a:ext cx="1909497" cy="461665"/>
            </a:xfrm>
            <a:prstGeom prst="rect">
              <a:avLst/>
            </a:prstGeom>
            <a:noFill/>
            <a:ln w="9525">
              <a:noFill/>
              <a:miter lim="800000"/>
              <a:headEnd/>
              <a:tailEnd/>
            </a:ln>
          </p:spPr>
          <p:txBody>
            <a:bodyPr wrap="none">
              <a:spAutoFit/>
            </a:bodyPr>
            <a:lstStyle/>
            <a:p>
              <a:pPr algn="l" eaLnBrk="0" hangingPunct="0"/>
              <a:r>
                <a:rPr lang="en-US" altLang="zh-CN" sz="2400" b="1"/>
                <a:t>Linked List:</a:t>
              </a:r>
            </a:p>
          </p:txBody>
        </p:sp>
        <p:sp>
          <p:nvSpPr>
            <p:cNvPr id="96269" name="Text Box 13"/>
            <p:cNvSpPr txBox="1">
              <a:spLocks noChangeArrowheads="1"/>
            </p:cNvSpPr>
            <p:nvPr/>
          </p:nvSpPr>
          <p:spPr bwMode="auto">
            <a:xfrm>
              <a:off x="3168650" y="1911350"/>
              <a:ext cx="404813" cy="457200"/>
            </a:xfrm>
            <a:prstGeom prst="rect">
              <a:avLst/>
            </a:prstGeom>
            <a:noFill/>
            <a:ln w="9525">
              <a:noFill/>
              <a:miter lim="800000"/>
              <a:headEnd/>
              <a:tailEnd/>
            </a:ln>
          </p:spPr>
          <p:txBody>
            <a:bodyPr wrap="none">
              <a:spAutoFit/>
            </a:bodyPr>
            <a:lstStyle/>
            <a:p>
              <a:pPr algn="l" eaLnBrk="0" hangingPunct="0"/>
              <a:r>
                <a:rPr lang="en-US" altLang="zh-CN" sz="2400"/>
                <a:t>A</a:t>
              </a:r>
            </a:p>
          </p:txBody>
        </p:sp>
        <p:sp>
          <p:nvSpPr>
            <p:cNvPr id="96270" name="Text Box 14"/>
            <p:cNvSpPr txBox="1">
              <a:spLocks noChangeArrowheads="1"/>
            </p:cNvSpPr>
            <p:nvPr/>
          </p:nvSpPr>
          <p:spPr bwMode="auto">
            <a:xfrm>
              <a:off x="4306888" y="1906588"/>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sp>
          <p:nvSpPr>
            <p:cNvPr id="96271" name="Text Box 15"/>
            <p:cNvSpPr txBox="1">
              <a:spLocks noChangeArrowheads="1"/>
            </p:cNvSpPr>
            <p:nvPr/>
          </p:nvSpPr>
          <p:spPr bwMode="auto">
            <a:xfrm>
              <a:off x="5402263" y="1930400"/>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6272" name="Text Box 16"/>
            <p:cNvSpPr txBox="1">
              <a:spLocks noChangeArrowheads="1"/>
            </p:cNvSpPr>
            <p:nvPr/>
          </p:nvSpPr>
          <p:spPr bwMode="auto">
            <a:xfrm>
              <a:off x="3192463" y="3835400"/>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96273" name="Text Box 17"/>
            <p:cNvSpPr txBox="1">
              <a:spLocks noChangeArrowheads="1"/>
            </p:cNvSpPr>
            <p:nvPr/>
          </p:nvSpPr>
          <p:spPr bwMode="auto">
            <a:xfrm>
              <a:off x="5426075" y="3854450"/>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6274" name="Text Box 18"/>
            <p:cNvSpPr txBox="1">
              <a:spLocks noChangeArrowheads="1"/>
            </p:cNvSpPr>
            <p:nvPr/>
          </p:nvSpPr>
          <p:spPr bwMode="auto">
            <a:xfrm>
              <a:off x="5348288" y="23447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96275" name="Text Box 19"/>
            <p:cNvSpPr txBox="1">
              <a:spLocks noChangeArrowheads="1"/>
            </p:cNvSpPr>
            <p:nvPr/>
          </p:nvSpPr>
          <p:spPr bwMode="auto">
            <a:xfrm>
              <a:off x="5392738" y="3441700"/>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96276" name="Oval 20"/>
            <p:cNvSpPr>
              <a:spLocks noChangeArrowheads="1"/>
            </p:cNvSpPr>
            <p:nvPr/>
          </p:nvSpPr>
          <p:spPr bwMode="auto">
            <a:xfrm>
              <a:off x="5122863" y="52212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6277" name="Text Box 21"/>
            <p:cNvSpPr txBox="1">
              <a:spLocks noChangeArrowheads="1"/>
            </p:cNvSpPr>
            <p:nvPr/>
          </p:nvSpPr>
          <p:spPr bwMode="auto">
            <a:xfrm>
              <a:off x="5149850" y="5649913"/>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96278" name="Text Box 22"/>
            <p:cNvSpPr txBox="1">
              <a:spLocks noChangeArrowheads="1"/>
            </p:cNvSpPr>
            <p:nvPr/>
          </p:nvSpPr>
          <p:spPr bwMode="auto">
            <a:xfrm>
              <a:off x="5116513" y="5237163"/>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96279" name="Oval 23"/>
            <p:cNvSpPr>
              <a:spLocks noChangeArrowheads="1"/>
            </p:cNvSpPr>
            <p:nvPr/>
          </p:nvSpPr>
          <p:spPr bwMode="auto">
            <a:xfrm>
              <a:off x="3959225" y="52466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6280" name="Text Box 24"/>
            <p:cNvSpPr txBox="1">
              <a:spLocks noChangeArrowheads="1"/>
            </p:cNvSpPr>
            <p:nvPr/>
          </p:nvSpPr>
          <p:spPr bwMode="auto">
            <a:xfrm>
              <a:off x="3943350" y="52403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96281" name="Line 25"/>
            <p:cNvSpPr>
              <a:spLocks noChangeShapeType="1"/>
            </p:cNvSpPr>
            <p:nvPr/>
          </p:nvSpPr>
          <p:spPr bwMode="auto">
            <a:xfrm>
              <a:off x="4471988" y="5470525"/>
              <a:ext cx="649287"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6282" name="Text Box 26"/>
            <p:cNvSpPr txBox="1">
              <a:spLocks noChangeArrowheads="1"/>
            </p:cNvSpPr>
            <p:nvPr/>
          </p:nvSpPr>
          <p:spPr bwMode="auto">
            <a:xfrm>
              <a:off x="4024313" y="5678488"/>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96283" name="Text Box 27"/>
            <p:cNvSpPr txBox="1">
              <a:spLocks noChangeArrowheads="1"/>
            </p:cNvSpPr>
            <p:nvPr/>
          </p:nvSpPr>
          <p:spPr bwMode="auto">
            <a:xfrm>
              <a:off x="4238625" y="2330450"/>
              <a:ext cx="612668" cy="461665"/>
            </a:xfrm>
            <a:prstGeom prst="rect">
              <a:avLst/>
            </a:prstGeom>
            <a:noFill/>
            <a:ln w="9525">
              <a:noFill/>
              <a:miter lim="800000"/>
              <a:headEnd/>
              <a:tailEnd/>
            </a:ln>
          </p:spPr>
          <p:txBody>
            <a:bodyPr wrap="none">
              <a:spAutoFit/>
            </a:bodyPr>
            <a:lstStyle/>
            <a:p>
              <a:pPr algn="l" eaLnBrk="0" hangingPunct="0"/>
              <a:r>
                <a:rPr lang="en-US" altLang="zh-CN" sz="2400" b="1"/>
                <a:t>5/8</a:t>
              </a:r>
            </a:p>
          </p:txBody>
        </p:sp>
        <p:sp>
          <p:nvSpPr>
            <p:cNvPr id="96284" name="Text Box 28"/>
            <p:cNvSpPr txBox="1">
              <a:spLocks noChangeArrowheads="1"/>
            </p:cNvSpPr>
            <p:nvPr/>
          </p:nvSpPr>
          <p:spPr bwMode="auto">
            <a:xfrm>
              <a:off x="3113088" y="3441700"/>
              <a:ext cx="612668" cy="461665"/>
            </a:xfrm>
            <a:prstGeom prst="rect">
              <a:avLst/>
            </a:prstGeom>
            <a:noFill/>
            <a:ln w="9525">
              <a:noFill/>
              <a:miter lim="800000"/>
              <a:headEnd/>
              <a:tailEnd/>
            </a:ln>
          </p:spPr>
          <p:txBody>
            <a:bodyPr wrap="none">
              <a:spAutoFit/>
            </a:bodyPr>
            <a:lstStyle/>
            <a:p>
              <a:pPr algn="l" eaLnBrk="0" hangingPunct="0"/>
              <a:r>
                <a:rPr lang="en-US" altLang="zh-CN" sz="2400" b="1"/>
                <a:t>6/7</a:t>
              </a:r>
            </a:p>
          </p:txBody>
        </p:sp>
        <p:sp>
          <p:nvSpPr>
            <p:cNvPr id="96285" name="Oval 29"/>
            <p:cNvSpPr>
              <a:spLocks noChangeArrowheads="1"/>
            </p:cNvSpPr>
            <p:nvPr/>
          </p:nvSpPr>
          <p:spPr bwMode="auto">
            <a:xfrm>
              <a:off x="2825750" y="524192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6286" name="Text Box 30"/>
            <p:cNvSpPr txBox="1">
              <a:spLocks noChangeArrowheads="1"/>
            </p:cNvSpPr>
            <p:nvPr/>
          </p:nvSpPr>
          <p:spPr bwMode="auto">
            <a:xfrm>
              <a:off x="2809875" y="5235575"/>
              <a:ext cx="612668" cy="461665"/>
            </a:xfrm>
            <a:prstGeom prst="rect">
              <a:avLst/>
            </a:prstGeom>
            <a:noFill/>
            <a:ln w="9525">
              <a:noFill/>
              <a:miter lim="800000"/>
              <a:headEnd/>
              <a:tailEnd/>
            </a:ln>
          </p:spPr>
          <p:txBody>
            <a:bodyPr wrap="none">
              <a:spAutoFit/>
            </a:bodyPr>
            <a:lstStyle/>
            <a:p>
              <a:pPr algn="l" eaLnBrk="0" hangingPunct="0"/>
              <a:r>
                <a:rPr lang="en-US" altLang="zh-CN" sz="2400" b="1"/>
                <a:t>6/7</a:t>
              </a:r>
              <a:endParaRPr lang="en-US" altLang="zh-CN" sz="2400"/>
            </a:p>
          </p:txBody>
        </p:sp>
        <p:sp>
          <p:nvSpPr>
            <p:cNvPr id="96287" name="Line 31"/>
            <p:cNvSpPr>
              <a:spLocks noChangeShapeType="1"/>
            </p:cNvSpPr>
            <p:nvPr/>
          </p:nvSpPr>
          <p:spPr bwMode="auto">
            <a:xfrm>
              <a:off x="3338513" y="5465763"/>
              <a:ext cx="649287"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6288" name="Text Box 32"/>
            <p:cNvSpPr txBox="1">
              <a:spLocks noChangeArrowheads="1"/>
            </p:cNvSpPr>
            <p:nvPr/>
          </p:nvSpPr>
          <p:spPr bwMode="auto">
            <a:xfrm>
              <a:off x="2890838" y="5673725"/>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96289" name="Oval 33"/>
            <p:cNvSpPr>
              <a:spLocks noChangeArrowheads="1"/>
            </p:cNvSpPr>
            <p:nvPr/>
          </p:nvSpPr>
          <p:spPr bwMode="auto">
            <a:xfrm>
              <a:off x="1677988" y="5251450"/>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96290" name="Text Box 34"/>
            <p:cNvSpPr txBox="1">
              <a:spLocks noChangeArrowheads="1"/>
            </p:cNvSpPr>
            <p:nvPr/>
          </p:nvSpPr>
          <p:spPr bwMode="auto">
            <a:xfrm>
              <a:off x="1633538" y="5259388"/>
              <a:ext cx="612668" cy="461665"/>
            </a:xfrm>
            <a:prstGeom prst="rect">
              <a:avLst/>
            </a:prstGeom>
            <a:noFill/>
            <a:ln w="9525">
              <a:noFill/>
              <a:miter lim="800000"/>
              <a:headEnd/>
              <a:tailEnd/>
            </a:ln>
          </p:spPr>
          <p:txBody>
            <a:bodyPr wrap="none">
              <a:spAutoFit/>
            </a:bodyPr>
            <a:lstStyle/>
            <a:p>
              <a:pPr algn="l" eaLnBrk="0" hangingPunct="0"/>
              <a:r>
                <a:rPr lang="en-US" altLang="zh-CN" sz="2400" b="1"/>
                <a:t>5/8</a:t>
              </a:r>
              <a:endParaRPr lang="en-US" altLang="zh-CN" sz="2400"/>
            </a:p>
          </p:txBody>
        </p:sp>
        <p:sp>
          <p:nvSpPr>
            <p:cNvPr id="96291" name="Line 35"/>
            <p:cNvSpPr>
              <a:spLocks noChangeShapeType="1"/>
            </p:cNvSpPr>
            <p:nvPr/>
          </p:nvSpPr>
          <p:spPr bwMode="auto">
            <a:xfrm>
              <a:off x="2190750" y="5475288"/>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6292" name="Text Box 36"/>
            <p:cNvSpPr txBox="1">
              <a:spLocks noChangeArrowheads="1"/>
            </p:cNvSpPr>
            <p:nvPr/>
          </p:nvSpPr>
          <p:spPr bwMode="auto">
            <a:xfrm>
              <a:off x="1743075" y="5683250"/>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Topological Sorting: </a:t>
            </a:r>
            <a:r>
              <a:rPr lang="en-US" altLang="zh-CN" sz="2800" b="1" dirty="0"/>
              <a:t>Depth-First Algorithm</a:t>
            </a:r>
            <a:endParaRPr lang="zh-CN" altLang="en-US" sz="2800" dirty="0"/>
          </a:p>
        </p:txBody>
      </p:sp>
      <p:grpSp>
        <p:nvGrpSpPr>
          <p:cNvPr id="3" name="组合 81"/>
          <p:cNvGrpSpPr/>
          <p:nvPr/>
        </p:nvGrpSpPr>
        <p:grpSpPr>
          <a:xfrm>
            <a:off x="1881158" y="1571612"/>
            <a:ext cx="5648248" cy="4237056"/>
            <a:chOff x="357158" y="1906588"/>
            <a:chExt cx="5648248" cy="4237056"/>
          </a:xfrm>
        </p:grpSpPr>
        <p:sp>
          <p:nvSpPr>
            <p:cNvPr id="40" name="Oval 3"/>
            <p:cNvSpPr>
              <a:spLocks noChangeArrowheads="1"/>
            </p:cNvSpPr>
            <p:nvPr/>
          </p:nvSpPr>
          <p:spPr bwMode="auto">
            <a:xfrm>
              <a:off x="4273550" y="232727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41" name="Oval 4"/>
            <p:cNvSpPr>
              <a:spLocks noChangeArrowheads="1"/>
            </p:cNvSpPr>
            <p:nvPr/>
          </p:nvSpPr>
          <p:spPr bwMode="auto">
            <a:xfrm>
              <a:off x="5399088" y="342582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42" name="Oval 5"/>
            <p:cNvSpPr>
              <a:spLocks noChangeArrowheads="1"/>
            </p:cNvSpPr>
            <p:nvPr/>
          </p:nvSpPr>
          <p:spPr bwMode="auto">
            <a:xfrm>
              <a:off x="5364163" y="23510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43" name="Line 6"/>
            <p:cNvSpPr>
              <a:spLocks noChangeShapeType="1"/>
            </p:cNvSpPr>
            <p:nvPr/>
          </p:nvSpPr>
          <p:spPr bwMode="auto">
            <a:xfrm>
              <a:off x="5627688" y="2814638"/>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44" name="Oval 7"/>
            <p:cNvSpPr>
              <a:spLocks noChangeArrowheads="1"/>
            </p:cNvSpPr>
            <p:nvPr/>
          </p:nvSpPr>
          <p:spPr bwMode="auto">
            <a:xfrm>
              <a:off x="3151188" y="3435350"/>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46" name="Line 9"/>
            <p:cNvSpPr>
              <a:spLocks noChangeShapeType="1"/>
            </p:cNvSpPr>
            <p:nvPr/>
          </p:nvSpPr>
          <p:spPr bwMode="auto">
            <a:xfrm>
              <a:off x="3379788" y="2824163"/>
              <a:ext cx="0" cy="6064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47" name="Line 10"/>
            <p:cNvSpPr>
              <a:spLocks noChangeShapeType="1"/>
            </p:cNvSpPr>
            <p:nvPr/>
          </p:nvSpPr>
          <p:spPr bwMode="auto">
            <a:xfrm>
              <a:off x="3606800" y="2584450"/>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48" name="Line 11"/>
            <p:cNvSpPr>
              <a:spLocks noChangeShapeType="1"/>
            </p:cNvSpPr>
            <p:nvPr/>
          </p:nvSpPr>
          <p:spPr bwMode="auto">
            <a:xfrm flipH="1">
              <a:off x="3635375" y="2786063"/>
              <a:ext cx="823913" cy="822325"/>
            </a:xfrm>
            <a:prstGeom prst="line">
              <a:avLst/>
            </a:prstGeom>
            <a:noFill/>
            <a:ln w="9525">
              <a:solidFill>
                <a:schemeClr val="tx1"/>
              </a:solidFill>
              <a:round/>
              <a:headEnd/>
              <a:tailEnd type="triangle" w="med" len="med"/>
            </a:ln>
          </p:spPr>
          <p:txBody>
            <a:bodyPr wrap="none" anchor="ctr"/>
            <a:lstStyle/>
            <a:p>
              <a:endParaRPr lang="zh-CN" altLang="en-US"/>
            </a:p>
          </p:txBody>
        </p:sp>
        <p:sp>
          <p:nvSpPr>
            <p:cNvPr id="49" name="Text Box 12"/>
            <p:cNvSpPr txBox="1">
              <a:spLocks noChangeArrowheads="1"/>
            </p:cNvSpPr>
            <p:nvPr/>
          </p:nvSpPr>
          <p:spPr bwMode="auto">
            <a:xfrm>
              <a:off x="3565525" y="4654550"/>
              <a:ext cx="1909497" cy="461665"/>
            </a:xfrm>
            <a:prstGeom prst="rect">
              <a:avLst/>
            </a:prstGeom>
            <a:noFill/>
            <a:ln w="9525">
              <a:noFill/>
              <a:miter lim="800000"/>
              <a:headEnd/>
              <a:tailEnd/>
            </a:ln>
          </p:spPr>
          <p:txBody>
            <a:bodyPr wrap="none">
              <a:spAutoFit/>
            </a:bodyPr>
            <a:lstStyle/>
            <a:p>
              <a:pPr algn="l" eaLnBrk="0" hangingPunct="0"/>
              <a:r>
                <a:rPr lang="en-US" altLang="zh-CN" sz="2400" b="1"/>
                <a:t>Linked List:</a:t>
              </a:r>
            </a:p>
          </p:txBody>
        </p:sp>
        <p:sp>
          <p:nvSpPr>
            <p:cNvPr id="50" name="Text Box 13"/>
            <p:cNvSpPr txBox="1">
              <a:spLocks noChangeArrowheads="1"/>
            </p:cNvSpPr>
            <p:nvPr/>
          </p:nvSpPr>
          <p:spPr bwMode="auto">
            <a:xfrm>
              <a:off x="3168650" y="1911350"/>
              <a:ext cx="404813" cy="457200"/>
            </a:xfrm>
            <a:prstGeom prst="rect">
              <a:avLst/>
            </a:prstGeom>
            <a:noFill/>
            <a:ln w="9525">
              <a:noFill/>
              <a:miter lim="800000"/>
              <a:headEnd/>
              <a:tailEnd/>
            </a:ln>
          </p:spPr>
          <p:txBody>
            <a:bodyPr wrap="none">
              <a:spAutoFit/>
            </a:bodyPr>
            <a:lstStyle/>
            <a:p>
              <a:pPr algn="l" eaLnBrk="0" hangingPunct="0"/>
              <a:r>
                <a:rPr lang="en-US" altLang="zh-CN" sz="2400"/>
                <a:t>A</a:t>
              </a:r>
            </a:p>
          </p:txBody>
        </p:sp>
        <p:sp>
          <p:nvSpPr>
            <p:cNvPr id="51" name="Text Box 14"/>
            <p:cNvSpPr txBox="1">
              <a:spLocks noChangeArrowheads="1"/>
            </p:cNvSpPr>
            <p:nvPr/>
          </p:nvSpPr>
          <p:spPr bwMode="auto">
            <a:xfrm>
              <a:off x="4306888" y="1906588"/>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sp>
          <p:nvSpPr>
            <p:cNvPr id="52" name="Text Box 15"/>
            <p:cNvSpPr txBox="1">
              <a:spLocks noChangeArrowheads="1"/>
            </p:cNvSpPr>
            <p:nvPr/>
          </p:nvSpPr>
          <p:spPr bwMode="auto">
            <a:xfrm>
              <a:off x="5402263" y="1930400"/>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53" name="Text Box 16"/>
            <p:cNvSpPr txBox="1">
              <a:spLocks noChangeArrowheads="1"/>
            </p:cNvSpPr>
            <p:nvPr/>
          </p:nvSpPr>
          <p:spPr bwMode="auto">
            <a:xfrm>
              <a:off x="3192463" y="3835400"/>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54" name="Text Box 17"/>
            <p:cNvSpPr txBox="1">
              <a:spLocks noChangeArrowheads="1"/>
            </p:cNvSpPr>
            <p:nvPr/>
          </p:nvSpPr>
          <p:spPr bwMode="auto">
            <a:xfrm>
              <a:off x="5426075" y="3854450"/>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55" name="Text Box 18"/>
            <p:cNvSpPr txBox="1">
              <a:spLocks noChangeArrowheads="1"/>
            </p:cNvSpPr>
            <p:nvPr/>
          </p:nvSpPr>
          <p:spPr bwMode="auto">
            <a:xfrm>
              <a:off x="5348288" y="23447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56" name="Text Box 19"/>
            <p:cNvSpPr txBox="1">
              <a:spLocks noChangeArrowheads="1"/>
            </p:cNvSpPr>
            <p:nvPr/>
          </p:nvSpPr>
          <p:spPr bwMode="auto">
            <a:xfrm>
              <a:off x="5392738" y="3441700"/>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57" name="Oval 20"/>
            <p:cNvSpPr>
              <a:spLocks noChangeArrowheads="1"/>
            </p:cNvSpPr>
            <p:nvPr/>
          </p:nvSpPr>
          <p:spPr bwMode="auto">
            <a:xfrm>
              <a:off x="5122863" y="52212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58" name="Text Box 21"/>
            <p:cNvSpPr txBox="1">
              <a:spLocks noChangeArrowheads="1"/>
            </p:cNvSpPr>
            <p:nvPr/>
          </p:nvSpPr>
          <p:spPr bwMode="auto">
            <a:xfrm>
              <a:off x="5149850" y="5649913"/>
              <a:ext cx="389850" cy="461665"/>
            </a:xfrm>
            <a:prstGeom prst="rect">
              <a:avLst/>
            </a:prstGeom>
            <a:noFill/>
            <a:ln w="9525">
              <a:noFill/>
              <a:miter lim="800000"/>
              <a:headEnd/>
              <a:tailEnd/>
            </a:ln>
          </p:spPr>
          <p:txBody>
            <a:bodyPr wrap="none">
              <a:spAutoFit/>
            </a:bodyPr>
            <a:lstStyle/>
            <a:p>
              <a:pPr algn="l" eaLnBrk="0" hangingPunct="0"/>
              <a:r>
                <a:rPr lang="en-US" altLang="zh-CN" sz="2400"/>
                <a:t>E</a:t>
              </a:r>
            </a:p>
          </p:txBody>
        </p:sp>
        <p:sp>
          <p:nvSpPr>
            <p:cNvPr id="59" name="Text Box 22"/>
            <p:cNvSpPr txBox="1">
              <a:spLocks noChangeArrowheads="1"/>
            </p:cNvSpPr>
            <p:nvPr/>
          </p:nvSpPr>
          <p:spPr bwMode="auto">
            <a:xfrm>
              <a:off x="5116513" y="5237163"/>
              <a:ext cx="612668" cy="461665"/>
            </a:xfrm>
            <a:prstGeom prst="rect">
              <a:avLst/>
            </a:prstGeom>
            <a:noFill/>
            <a:ln w="9525">
              <a:noFill/>
              <a:miter lim="800000"/>
              <a:headEnd/>
              <a:tailEnd/>
            </a:ln>
          </p:spPr>
          <p:txBody>
            <a:bodyPr wrap="none">
              <a:spAutoFit/>
            </a:bodyPr>
            <a:lstStyle/>
            <a:p>
              <a:pPr algn="l" eaLnBrk="0" hangingPunct="0"/>
              <a:r>
                <a:rPr lang="en-US" altLang="zh-CN" sz="2400" b="1"/>
                <a:t>2/3</a:t>
              </a:r>
              <a:endParaRPr lang="en-US" altLang="zh-CN" sz="2400"/>
            </a:p>
          </p:txBody>
        </p:sp>
        <p:sp>
          <p:nvSpPr>
            <p:cNvPr id="60" name="Oval 23"/>
            <p:cNvSpPr>
              <a:spLocks noChangeArrowheads="1"/>
            </p:cNvSpPr>
            <p:nvPr/>
          </p:nvSpPr>
          <p:spPr bwMode="auto">
            <a:xfrm>
              <a:off x="3959225" y="5246688"/>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61" name="Text Box 24"/>
            <p:cNvSpPr txBox="1">
              <a:spLocks noChangeArrowheads="1"/>
            </p:cNvSpPr>
            <p:nvPr/>
          </p:nvSpPr>
          <p:spPr bwMode="auto">
            <a:xfrm>
              <a:off x="3943350" y="5240338"/>
              <a:ext cx="612668" cy="461665"/>
            </a:xfrm>
            <a:prstGeom prst="rect">
              <a:avLst/>
            </a:prstGeom>
            <a:noFill/>
            <a:ln w="9525">
              <a:noFill/>
              <a:miter lim="800000"/>
              <a:headEnd/>
              <a:tailEnd/>
            </a:ln>
          </p:spPr>
          <p:txBody>
            <a:bodyPr wrap="none">
              <a:spAutoFit/>
            </a:bodyPr>
            <a:lstStyle/>
            <a:p>
              <a:pPr algn="l" eaLnBrk="0" hangingPunct="0"/>
              <a:r>
                <a:rPr lang="en-US" altLang="zh-CN" sz="2400" b="1"/>
                <a:t>1/4</a:t>
              </a:r>
              <a:endParaRPr lang="en-US" altLang="zh-CN" sz="2400"/>
            </a:p>
          </p:txBody>
        </p:sp>
        <p:sp>
          <p:nvSpPr>
            <p:cNvPr id="62" name="Line 25"/>
            <p:cNvSpPr>
              <a:spLocks noChangeShapeType="1"/>
            </p:cNvSpPr>
            <p:nvPr/>
          </p:nvSpPr>
          <p:spPr bwMode="auto">
            <a:xfrm>
              <a:off x="4471988" y="5470525"/>
              <a:ext cx="649287"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63" name="Text Box 26"/>
            <p:cNvSpPr txBox="1">
              <a:spLocks noChangeArrowheads="1"/>
            </p:cNvSpPr>
            <p:nvPr/>
          </p:nvSpPr>
          <p:spPr bwMode="auto">
            <a:xfrm>
              <a:off x="4024313" y="5678488"/>
              <a:ext cx="404812" cy="457200"/>
            </a:xfrm>
            <a:prstGeom prst="rect">
              <a:avLst/>
            </a:prstGeom>
            <a:noFill/>
            <a:ln w="9525">
              <a:noFill/>
              <a:miter lim="800000"/>
              <a:headEnd/>
              <a:tailEnd/>
            </a:ln>
          </p:spPr>
          <p:txBody>
            <a:bodyPr wrap="none">
              <a:spAutoFit/>
            </a:bodyPr>
            <a:lstStyle/>
            <a:p>
              <a:pPr algn="l" eaLnBrk="0" hangingPunct="0"/>
              <a:r>
                <a:rPr lang="en-US" altLang="zh-CN" sz="2400"/>
                <a:t>D</a:t>
              </a:r>
            </a:p>
          </p:txBody>
        </p:sp>
        <p:sp>
          <p:nvSpPr>
            <p:cNvPr id="64" name="Text Box 27"/>
            <p:cNvSpPr txBox="1">
              <a:spLocks noChangeArrowheads="1"/>
            </p:cNvSpPr>
            <p:nvPr/>
          </p:nvSpPr>
          <p:spPr bwMode="auto">
            <a:xfrm>
              <a:off x="4238625" y="2330450"/>
              <a:ext cx="612668" cy="461665"/>
            </a:xfrm>
            <a:prstGeom prst="rect">
              <a:avLst/>
            </a:prstGeom>
            <a:noFill/>
            <a:ln w="9525">
              <a:noFill/>
              <a:miter lim="800000"/>
              <a:headEnd/>
              <a:tailEnd/>
            </a:ln>
          </p:spPr>
          <p:txBody>
            <a:bodyPr wrap="none">
              <a:spAutoFit/>
            </a:bodyPr>
            <a:lstStyle/>
            <a:p>
              <a:pPr algn="l" eaLnBrk="0" hangingPunct="0"/>
              <a:r>
                <a:rPr lang="en-US" altLang="zh-CN" sz="2400" b="1" dirty="0"/>
                <a:t>5/8</a:t>
              </a:r>
            </a:p>
          </p:txBody>
        </p:sp>
        <p:sp>
          <p:nvSpPr>
            <p:cNvPr id="65" name="Text Box 28"/>
            <p:cNvSpPr txBox="1">
              <a:spLocks noChangeArrowheads="1"/>
            </p:cNvSpPr>
            <p:nvPr/>
          </p:nvSpPr>
          <p:spPr bwMode="auto">
            <a:xfrm>
              <a:off x="3113088" y="3441700"/>
              <a:ext cx="612668" cy="461665"/>
            </a:xfrm>
            <a:prstGeom prst="rect">
              <a:avLst/>
            </a:prstGeom>
            <a:noFill/>
            <a:ln w="9525">
              <a:noFill/>
              <a:miter lim="800000"/>
              <a:headEnd/>
              <a:tailEnd/>
            </a:ln>
          </p:spPr>
          <p:txBody>
            <a:bodyPr wrap="none">
              <a:spAutoFit/>
            </a:bodyPr>
            <a:lstStyle/>
            <a:p>
              <a:pPr algn="l" eaLnBrk="0" hangingPunct="0"/>
              <a:r>
                <a:rPr lang="en-US" altLang="zh-CN" sz="2400" b="1"/>
                <a:t>6/7</a:t>
              </a:r>
            </a:p>
          </p:txBody>
        </p:sp>
        <p:sp>
          <p:nvSpPr>
            <p:cNvPr id="66" name="Oval 29"/>
            <p:cNvSpPr>
              <a:spLocks noChangeArrowheads="1"/>
            </p:cNvSpPr>
            <p:nvPr/>
          </p:nvSpPr>
          <p:spPr bwMode="auto">
            <a:xfrm>
              <a:off x="2825750" y="5241925"/>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67" name="Text Box 30"/>
            <p:cNvSpPr txBox="1">
              <a:spLocks noChangeArrowheads="1"/>
            </p:cNvSpPr>
            <p:nvPr/>
          </p:nvSpPr>
          <p:spPr bwMode="auto">
            <a:xfrm>
              <a:off x="2809875" y="5235575"/>
              <a:ext cx="612668" cy="461665"/>
            </a:xfrm>
            <a:prstGeom prst="rect">
              <a:avLst/>
            </a:prstGeom>
            <a:noFill/>
            <a:ln w="9525">
              <a:noFill/>
              <a:miter lim="800000"/>
              <a:headEnd/>
              <a:tailEnd/>
            </a:ln>
          </p:spPr>
          <p:txBody>
            <a:bodyPr wrap="none">
              <a:spAutoFit/>
            </a:bodyPr>
            <a:lstStyle/>
            <a:p>
              <a:pPr algn="l" eaLnBrk="0" hangingPunct="0"/>
              <a:r>
                <a:rPr lang="en-US" altLang="zh-CN" sz="2400" b="1"/>
                <a:t>6/7</a:t>
              </a:r>
              <a:endParaRPr lang="en-US" altLang="zh-CN" sz="2400"/>
            </a:p>
          </p:txBody>
        </p:sp>
        <p:sp>
          <p:nvSpPr>
            <p:cNvPr id="68" name="Line 31"/>
            <p:cNvSpPr>
              <a:spLocks noChangeShapeType="1"/>
            </p:cNvSpPr>
            <p:nvPr/>
          </p:nvSpPr>
          <p:spPr bwMode="auto">
            <a:xfrm>
              <a:off x="3338513" y="5465763"/>
              <a:ext cx="649287"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69" name="Text Box 32"/>
            <p:cNvSpPr txBox="1">
              <a:spLocks noChangeArrowheads="1"/>
            </p:cNvSpPr>
            <p:nvPr/>
          </p:nvSpPr>
          <p:spPr bwMode="auto">
            <a:xfrm>
              <a:off x="2890838" y="5673725"/>
              <a:ext cx="407484" cy="461665"/>
            </a:xfrm>
            <a:prstGeom prst="rect">
              <a:avLst/>
            </a:prstGeom>
            <a:noFill/>
            <a:ln w="9525">
              <a:noFill/>
              <a:miter lim="800000"/>
              <a:headEnd/>
              <a:tailEnd/>
            </a:ln>
          </p:spPr>
          <p:txBody>
            <a:bodyPr wrap="none">
              <a:spAutoFit/>
            </a:bodyPr>
            <a:lstStyle/>
            <a:p>
              <a:pPr algn="l" eaLnBrk="0" hangingPunct="0"/>
              <a:r>
                <a:rPr lang="en-US" altLang="zh-CN" sz="2400"/>
                <a:t>C</a:t>
              </a:r>
            </a:p>
          </p:txBody>
        </p:sp>
        <p:sp>
          <p:nvSpPr>
            <p:cNvPr id="70" name="Oval 33"/>
            <p:cNvSpPr>
              <a:spLocks noChangeArrowheads="1"/>
            </p:cNvSpPr>
            <p:nvPr/>
          </p:nvSpPr>
          <p:spPr bwMode="auto">
            <a:xfrm>
              <a:off x="1677988" y="5251450"/>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71" name="Text Box 34"/>
            <p:cNvSpPr txBox="1">
              <a:spLocks noChangeArrowheads="1"/>
            </p:cNvSpPr>
            <p:nvPr/>
          </p:nvSpPr>
          <p:spPr bwMode="auto">
            <a:xfrm>
              <a:off x="1633538" y="5259388"/>
              <a:ext cx="612668" cy="461665"/>
            </a:xfrm>
            <a:prstGeom prst="rect">
              <a:avLst/>
            </a:prstGeom>
            <a:noFill/>
            <a:ln w="9525">
              <a:noFill/>
              <a:miter lim="800000"/>
              <a:headEnd/>
              <a:tailEnd/>
            </a:ln>
          </p:spPr>
          <p:txBody>
            <a:bodyPr wrap="none">
              <a:spAutoFit/>
            </a:bodyPr>
            <a:lstStyle/>
            <a:p>
              <a:pPr algn="l" eaLnBrk="0" hangingPunct="0"/>
              <a:r>
                <a:rPr lang="en-US" altLang="zh-CN" sz="2400" b="1"/>
                <a:t>5/8</a:t>
              </a:r>
              <a:endParaRPr lang="en-US" altLang="zh-CN" sz="2400"/>
            </a:p>
          </p:txBody>
        </p:sp>
        <p:sp>
          <p:nvSpPr>
            <p:cNvPr id="72" name="Line 35"/>
            <p:cNvSpPr>
              <a:spLocks noChangeShapeType="1"/>
            </p:cNvSpPr>
            <p:nvPr/>
          </p:nvSpPr>
          <p:spPr bwMode="auto">
            <a:xfrm>
              <a:off x="2190750" y="5475288"/>
              <a:ext cx="6492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73" name="Text Box 36"/>
            <p:cNvSpPr txBox="1">
              <a:spLocks noChangeArrowheads="1"/>
            </p:cNvSpPr>
            <p:nvPr/>
          </p:nvSpPr>
          <p:spPr bwMode="auto">
            <a:xfrm>
              <a:off x="1743075" y="5683250"/>
              <a:ext cx="387350" cy="457200"/>
            </a:xfrm>
            <a:prstGeom prst="rect">
              <a:avLst/>
            </a:prstGeom>
            <a:noFill/>
            <a:ln w="9525">
              <a:noFill/>
              <a:miter lim="800000"/>
              <a:headEnd/>
              <a:tailEnd/>
            </a:ln>
          </p:spPr>
          <p:txBody>
            <a:bodyPr wrap="none">
              <a:spAutoFit/>
            </a:bodyPr>
            <a:lstStyle/>
            <a:p>
              <a:pPr algn="l" eaLnBrk="0" hangingPunct="0"/>
              <a:r>
                <a:rPr lang="en-US" altLang="zh-CN" sz="2400"/>
                <a:t>B</a:t>
              </a:r>
            </a:p>
          </p:txBody>
        </p:sp>
        <p:sp>
          <p:nvSpPr>
            <p:cNvPr id="76" name="Oval 5"/>
            <p:cNvSpPr>
              <a:spLocks noChangeArrowheads="1"/>
            </p:cNvSpPr>
            <p:nvPr/>
          </p:nvSpPr>
          <p:spPr bwMode="auto">
            <a:xfrm>
              <a:off x="3087677" y="2381246"/>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77" name="Text Box 18"/>
            <p:cNvSpPr txBox="1">
              <a:spLocks noChangeArrowheads="1"/>
            </p:cNvSpPr>
            <p:nvPr/>
          </p:nvSpPr>
          <p:spPr bwMode="auto">
            <a:xfrm>
              <a:off x="3001993" y="2374896"/>
              <a:ext cx="927065" cy="461665"/>
            </a:xfrm>
            <a:prstGeom prst="rect">
              <a:avLst/>
            </a:prstGeom>
            <a:noFill/>
            <a:ln w="9525">
              <a:noFill/>
              <a:miter lim="800000"/>
              <a:headEnd/>
              <a:tailEnd/>
            </a:ln>
          </p:spPr>
          <p:txBody>
            <a:bodyPr wrap="square">
              <a:spAutoFit/>
            </a:bodyPr>
            <a:lstStyle/>
            <a:p>
              <a:pPr algn="l" eaLnBrk="0" hangingPunct="0"/>
              <a:r>
                <a:rPr lang="en-US" altLang="zh-CN" sz="2400" b="1" dirty="0"/>
                <a:t>9/10</a:t>
              </a:r>
              <a:endParaRPr lang="en-US" altLang="zh-CN" sz="2400" dirty="0"/>
            </a:p>
          </p:txBody>
        </p:sp>
        <p:sp>
          <p:nvSpPr>
            <p:cNvPr id="78" name="Text Box 13"/>
            <p:cNvSpPr txBox="1">
              <a:spLocks noChangeArrowheads="1"/>
            </p:cNvSpPr>
            <p:nvPr/>
          </p:nvSpPr>
          <p:spPr bwMode="auto">
            <a:xfrm>
              <a:off x="595287" y="5686444"/>
              <a:ext cx="404813" cy="457200"/>
            </a:xfrm>
            <a:prstGeom prst="rect">
              <a:avLst/>
            </a:prstGeom>
            <a:noFill/>
            <a:ln w="9525">
              <a:noFill/>
              <a:miter lim="800000"/>
              <a:headEnd/>
              <a:tailEnd/>
            </a:ln>
          </p:spPr>
          <p:txBody>
            <a:bodyPr wrap="none">
              <a:spAutoFit/>
            </a:bodyPr>
            <a:lstStyle/>
            <a:p>
              <a:pPr algn="l" eaLnBrk="0" hangingPunct="0"/>
              <a:r>
                <a:rPr lang="en-US" altLang="zh-CN" sz="2400" dirty="0"/>
                <a:t>A</a:t>
              </a:r>
            </a:p>
          </p:txBody>
        </p:sp>
        <p:sp>
          <p:nvSpPr>
            <p:cNvPr id="79" name="Oval 5"/>
            <p:cNvSpPr>
              <a:spLocks noChangeArrowheads="1"/>
            </p:cNvSpPr>
            <p:nvPr/>
          </p:nvSpPr>
          <p:spPr bwMode="auto">
            <a:xfrm>
              <a:off x="500034" y="5214950"/>
              <a:ext cx="504825" cy="476250"/>
            </a:xfrm>
            <a:prstGeom prst="ellipse">
              <a:avLst/>
            </a:prstGeom>
            <a:solidFill>
              <a:srgbClr val="3399FF"/>
            </a:solidFill>
            <a:ln w="9525">
              <a:solidFill>
                <a:schemeClr val="tx1"/>
              </a:solidFill>
              <a:round/>
              <a:headEnd/>
              <a:tailEnd/>
            </a:ln>
          </p:spPr>
          <p:txBody>
            <a:bodyPr wrap="none" anchor="ctr"/>
            <a:lstStyle/>
            <a:p>
              <a:pPr eaLnBrk="0" hangingPunct="0"/>
              <a:r>
                <a:rPr lang="zh-CN" altLang="en-US" sz="2400" b="1"/>
                <a:t> </a:t>
              </a:r>
            </a:p>
          </p:txBody>
        </p:sp>
        <p:sp>
          <p:nvSpPr>
            <p:cNvPr id="80" name="Text Box 18"/>
            <p:cNvSpPr txBox="1">
              <a:spLocks noChangeArrowheads="1"/>
            </p:cNvSpPr>
            <p:nvPr/>
          </p:nvSpPr>
          <p:spPr bwMode="auto">
            <a:xfrm>
              <a:off x="357158" y="5214950"/>
              <a:ext cx="927065" cy="461665"/>
            </a:xfrm>
            <a:prstGeom prst="rect">
              <a:avLst/>
            </a:prstGeom>
            <a:noFill/>
            <a:ln w="9525">
              <a:noFill/>
              <a:miter lim="800000"/>
              <a:headEnd/>
              <a:tailEnd/>
            </a:ln>
          </p:spPr>
          <p:txBody>
            <a:bodyPr wrap="square">
              <a:spAutoFit/>
            </a:bodyPr>
            <a:lstStyle/>
            <a:p>
              <a:pPr algn="l" eaLnBrk="0" hangingPunct="0"/>
              <a:r>
                <a:rPr lang="en-US" altLang="zh-CN" sz="2400" b="1" dirty="0"/>
                <a:t>9/10</a:t>
              </a:r>
              <a:endParaRPr lang="en-US" altLang="zh-CN" sz="2400" dirty="0"/>
            </a:p>
          </p:txBody>
        </p:sp>
        <p:sp>
          <p:nvSpPr>
            <p:cNvPr id="81" name="Line 35"/>
            <p:cNvSpPr>
              <a:spLocks noChangeShapeType="1"/>
            </p:cNvSpPr>
            <p:nvPr/>
          </p:nvSpPr>
          <p:spPr bwMode="auto">
            <a:xfrm>
              <a:off x="1000100" y="5500702"/>
              <a:ext cx="642942" cy="0"/>
            </a:xfrm>
            <a:prstGeom prst="line">
              <a:avLst/>
            </a:prstGeom>
            <a:noFill/>
            <a:ln w="9525">
              <a:solidFill>
                <a:schemeClr val="tx1"/>
              </a:solidFill>
              <a:round/>
              <a:headEnd/>
              <a:tailEnd type="triangle" w="med" len="med"/>
            </a:ln>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The Seven Bridges of </a:t>
            </a:r>
            <a:r>
              <a:rPr lang="en-US" altLang="zh-CN" sz="2800" dirty="0" err="1"/>
              <a:t>Königsberg</a:t>
            </a:r>
            <a:endParaRPr lang="zh-CN" altLang="en-US" sz="2800" dirty="0"/>
          </a:p>
        </p:txBody>
      </p:sp>
      <p:sp>
        <p:nvSpPr>
          <p:cNvPr id="3" name="内容占位符 2"/>
          <p:cNvSpPr>
            <a:spLocks noGrp="1"/>
          </p:cNvSpPr>
          <p:nvPr>
            <p:ph idx="1"/>
          </p:nvPr>
        </p:nvSpPr>
        <p:spPr/>
        <p:txBody>
          <a:bodyPr/>
          <a:lstStyle/>
          <a:p>
            <a:pPr eaLnBrk="1" hangingPunct="1"/>
            <a:endParaRPr lang="en-US" altLang="zh-CN" dirty="0" smtClean="0"/>
          </a:p>
          <a:p>
            <a:pPr eaLnBrk="1" hangingPunct="1"/>
            <a:endParaRPr lang="en-US" altLang="zh-CN" dirty="0"/>
          </a:p>
          <a:p>
            <a:pPr eaLnBrk="1" hangingPunct="1"/>
            <a:endParaRPr lang="en-US" altLang="zh-CN" dirty="0" smtClean="0"/>
          </a:p>
          <a:p>
            <a:pPr eaLnBrk="1" hangingPunct="1"/>
            <a:endParaRPr lang="en-US" altLang="zh-CN" dirty="0"/>
          </a:p>
          <a:p>
            <a:pPr eaLnBrk="1" hangingPunct="1"/>
            <a:endParaRPr lang="en-US" altLang="zh-CN" dirty="0" smtClean="0"/>
          </a:p>
          <a:p>
            <a:pPr eaLnBrk="1" hangingPunct="1"/>
            <a:endParaRPr lang="en-US" altLang="zh-CN" dirty="0"/>
          </a:p>
          <a:p>
            <a:pPr eaLnBrk="1" hangingPunct="1"/>
            <a:endParaRPr lang="en-US" altLang="zh-CN" dirty="0" smtClean="0"/>
          </a:p>
          <a:p>
            <a:pPr eaLnBrk="1" hangingPunct="1"/>
            <a:endParaRPr lang="en-US" altLang="zh-CN" dirty="0"/>
          </a:p>
          <a:p>
            <a:pPr eaLnBrk="1" hangingPunct="1"/>
            <a:endParaRPr lang="en-US" altLang="zh-CN" dirty="0" smtClean="0"/>
          </a:p>
          <a:p>
            <a:pPr eaLnBrk="1" hangingPunct="1"/>
            <a:r>
              <a:rPr lang="en-US" altLang="zh-CN" dirty="0" smtClean="0"/>
              <a:t>An </a:t>
            </a:r>
            <a:r>
              <a:rPr lang="en-US" altLang="zh-CN" dirty="0"/>
              <a:t>illustration from Euler’s 1741 paper on the subject.</a:t>
            </a:r>
            <a:endParaRPr lang="en-US" altLang="zh-CN" dirty="0" smtClean="0"/>
          </a:p>
        </p:txBody>
      </p:sp>
      <p:pic>
        <p:nvPicPr>
          <p:cNvPr id="4" name="图片 3"/>
          <p:cNvPicPr>
            <a:picLocks noChangeAspect="1"/>
          </p:cNvPicPr>
          <p:nvPr/>
        </p:nvPicPr>
        <p:blipFill>
          <a:blip r:embed="rId2"/>
          <a:stretch>
            <a:fillRect/>
          </a:stretch>
        </p:blipFill>
        <p:spPr>
          <a:xfrm>
            <a:off x="2423593" y="1196752"/>
            <a:ext cx="6560329" cy="3384376"/>
          </a:xfrm>
          <a:prstGeom prst="rect">
            <a:avLst/>
          </a:prstGeom>
        </p:spPr>
      </p:pic>
    </p:spTree>
    <p:extLst>
      <p:ext uri="{BB962C8B-B14F-4D97-AF65-F5344CB8AC3E}">
        <p14:creationId xmlns:p14="http://schemas.microsoft.com/office/powerpoint/2010/main" val="41400392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Puzzles</a:t>
            </a:r>
            <a:endParaRPr lang="zh-CN" altLang="en-US" dirty="0"/>
          </a:p>
        </p:txBody>
      </p:sp>
      <p:sp>
        <p:nvSpPr>
          <p:cNvPr id="3" name="内容占位符 2"/>
          <p:cNvSpPr>
            <a:spLocks noGrp="1"/>
          </p:cNvSpPr>
          <p:nvPr>
            <p:ph idx="1"/>
          </p:nvPr>
        </p:nvSpPr>
        <p:spPr/>
        <p:txBody>
          <a:bodyPr/>
          <a:lstStyle/>
          <a:p>
            <a:r>
              <a:rPr lang="en-US" altLang="zh-CN" dirty="0"/>
              <a:t>Can you traverse all edges exactly once, starting and finishing at the same vertex?</a:t>
            </a:r>
            <a:endParaRPr lang="zh-CN" altLang="en-US" dirty="0"/>
          </a:p>
        </p:txBody>
      </p:sp>
      <p:pic>
        <p:nvPicPr>
          <p:cNvPr id="4" name="图片 3"/>
          <p:cNvPicPr>
            <a:picLocks noChangeAspect="1"/>
          </p:cNvPicPr>
          <p:nvPr/>
        </p:nvPicPr>
        <p:blipFill>
          <a:blip r:embed="rId2"/>
          <a:stretch>
            <a:fillRect/>
          </a:stretch>
        </p:blipFill>
        <p:spPr>
          <a:xfrm>
            <a:off x="2423592" y="2276873"/>
            <a:ext cx="1724038" cy="2595581"/>
          </a:xfrm>
          <a:prstGeom prst="rect">
            <a:avLst/>
          </a:prstGeom>
        </p:spPr>
      </p:pic>
      <p:pic>
        <p:nvPicPr>
          <p:cNvPr id="5" name="图片 4"/>
          <p:cNvPicPr>
            <a:picLocks noChangeAspect="1"/>
          </p:cNvPicPr>
          <p:nvPr/>
        </p:nvPicPr>
        <p:blipFill>
          <a:blip r:embed="rId3"/>
          <a:stretch>
            <a:fillRect/>
          </a:stretch>
        </p:blipFill>
        <p:spPr>
          <a:xfrm>
            <a:off x="5314945" y="2492897"/>
            <a:ext cx="1562111" cy="1900251"/>
          </a:xfrm>
          <a:prstGeom prst="rect">
            <a:avLst/>
          </a:prstGeom>
        </p:spPr>
      </p:pic>
      <p:pic>
        <p:nvPicPr>
          <p:cNvPr id="6" name="图片 5"/>
          <p:cNvPicPr>
            <a:picLocks noChangeAspect="1"/>
          </p:cNvPicPr>
          <p:nvPr/>
        </p:nvPicPr>
        <p:blipFill>
          <a:blip r:embed="rId4"/>
          <a:stretch>
            <a:fillRect/>
          </a:stretch>
        </p:blipFill>
        <p:spPr>
          <a:xfrm>
            <a:off x="8112225" y="2950770"/>
            <a:ext cx="1362085" cy="1247784"/>
          </a:xfrm>
          <a:prstGeom prst="rect">
            <a:avLst/>
          </a:prstGeom>
        </p:spPr>
      </p:pic>
    </p:spTree>
    <p:extLst>
      <p:ext uri="{BB962C8B-B14F-4D97-AF65-F5344CB8AC3E}">
        <p14:creationId xmlns:p14="http://schemas.microsoft.com/office/powerpoint/2010/main" val="4002701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Euler Paths and Circuits</a:t>
            </a:r>
            <a:endParaRPr lang="zh-CN" altLang="en-US" dirty="0"/>
          </a:p>
        </p:txBody>
      </p:sp>
      <p:sp>
        <p:nvSpPr>
          <p:cNvPr id="3" name="内容占位符 2"/>
          <p:cNvSpPr>
            <a:spLocks noGrp="1"/>
          </p:cNvSpPr>
          <p:nvPr>
            <p:ph idx="1"/>
          </p:nvPr>
        </p:nvSpPr>
        <p:spPr/>
        <p:txBody>
          <a:bodyPr/>
          <a:lstStyle/>
          <a:p>
            <a:r>
              <a:rPr lang="en-US" altLang="zh-CN" dirty="0"/>
              <a:t>Euler </a:t>
            </a:r>
            <a:r>
              <a:rPr lang="en-US" altLang="zh-CN" dirty="0" smtClean="0"/>
              <a:t>Path: </a:t>
            </a:r>
            <a:r>
              <a:rPr lang="en-US" altLang="zh-CN" dirty="0"/>
              <a:t>a path through a graph that visits each edge exactly </a:t>
            </a:r>
            <a:r>
              <a:rPr lang="en-US" altLang="zh-CN" dirty="0" smtClean="0"/>
              <a:t>once.</a:t>
            </a:r>
          </a:p>
          <a:p>
            <a:r>
              <a:rPr lang="en-US" altLang="zh-CN" dirty="0" smtClean="0"/>
              <a:t>Euler Circuit</a:t>
            </a:r>
            <a:r>
              <a:rPr lang="en-US" altLang="zh-CN" dirty="0"/>
              <a:t>: an Euler tour that starts and ends at the same </a:t>
            </a:r>
            <a:r>
              <a:rPr lang="en-US" altLang="zh-CN" dirty="0" smtClean="0"/>
              <a:t>vertex.</a:t>
            </a:r>
          </a:p>
          <a:p>
            <a:r>
              <a:rPr lang="en-US" altLang="zh-CN" dirty="0" smtClean="0"/>
              <a:t>Observations:</a:t>
            </a:r>
          </a:p>
          <a:p>
            <a:pPr lvl="1"/>
            <a:r>
              <a:rPr lang="en-US" altLang="zh-CN" dirty="0" smtClean="0"/>
              <a:t>An </a:t>
            </a:r>
            <a:r>
              <a:rPr lang="en-US" altLang="zh-CN" dirty="0"/>
              <a:t>Euler circuit is only possible if the graph is connected and each vertex has even degree (# of edges onto vertex</a:t>
            </a:r>
            <a:r>
              <a:rPr lang="en-US" altLang="zh-CN" dirty="0" smtClean="0"/>
              <a:t>).</a:t>
            </a:r>
          </a:p>
          <a:p>
            <a:pPr lvl="1"/>
            <a:r>
              <a:rPr lang="en-US" altLang="zh-CN" dirty="0" smtClean="0"/>
              <a:t>Why?</a:t>
            </a:r>
          </a:p>
          <a:p>
            <a:pPr lvl="1"/>
            <a:r>
              <a:rPr lang="en-US" altLang="zh-CN" dirty="0" smtClean="0"/>
              <a:t>At </a:t>
            </a:r>
            <a:r>
              <a:rPr lang="en-US" altLang="zh-CN" dirty="0"/>
              <a:t>every vertex, need one edge to get in and one edge to get out!</a:t>
            </a:r>
            <a:endParaRPr lang="zh-CN" altLang="en-US" dirty="0"/>
          </a:p>
        </p:txBody>
      </p:sp>
    </p:spTree>
    <p:extLst>
      <p:ext uri="{BB962C8B-B14F-4D97-AF65-F5344CB8AC3E}">
        <p14:creationId xmlns:p14="http://schemas.microsoft.com/office/powerpoint/2010/main" val="992712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Handshaking Theorem</a:t>
            </a:r>
            <a:endParaRPr lang="zh-CN" altLang="en-US" dirty="0"/>
          </a:p>
        </p:txBody>
      </p:sp>
      <p:sp>
        <p:nvSpPr>
          <p:cNvPr id="3" name="内容占位符 2"/>
          <p:cNvSpPr>
            <a:spLocks noGrp="1"/>
          </p:cNvSpPr>
          <p:nvPr>
            <p:ph idx="1"/>
          </p:nvPr>
        </p:nvSpPr>
        <p:spPr/>
        <p:txBody>
          <a:bodyPr/>
          <a:lstStyle/>
          <a:p>
            <a:r>
              <a:rPr lang="en-US" altLang="zh-CN" dirty="0" smtClean="0"/>
              <a:t>Theorem: In </a:t>
            </a:r>
            <a:r>
              <a:rPr lang="en-US" altLang="zh-CN" dirty="0"/>
              <a:t>every graph, the sum of the degrees of all vertices equals twice the number of edges</a:t>
            </a:r>
            <a:r>
              <a:rPr lang="en-US" altLang="zh-CN" dirty="0" smtClean="0"/>
              <a:t>.</a:t>
            </a:r>
          </a:p>
          <a:p>
            <a:r>
              <a:rPr lang="en-US" altLang="zh-CN" dirty="0"/>
              <a:t>If there are n vertices V</a:t>
            </a:r>
            <a:r>
              <a:rPr lang="en-US" altLang="zh-CN" baseline="-25000" dirty="0"/>
              <a:t>1</a:t>
            </a:r>
            <a:r>
              <a:rPr lang="en-US" altLang="zh-CN" dirty="0"/>
              <a:t>, . . . , </a:t>
            </a:r>
            <a:r>
              <a:rPr lang="en-US" altLang="zh-CN" dirty="0" err="1"/>
              <a:t>V</a:t>
            </a:r>
            <a:r>
              <a:rPr lang="en-US" altLang="zh-CN" baseline="-25000" dirty="0" err="1"/>
              <a:t>n</a:t>
            </a:r>
            <a:r>
              <a:rPr lang="en-US" altLang="zh-CN" dirty="0"/>
              <a:t>, with degrees d</a:t>
            </a:r>
            <a:r>
              <a:rPr lang="en-US" altLang="zh-CN" baseline="-25000" dirty="0"/>
              <a:t>1</a:t>
            </a:r>
            <a:r>
              <a:rPr lang="en-US" altLang="zh-CN" dirty="0"/>
              <a:t>, . . . , </a:t>
            </a:r>
            <a:r>
              <a:rPr lang="en-US" altLang="zh-CN" dirty="0" err="1"/>
              <a:t>d</a:t>
            </a:r>
            <a:r>
              <a:rPr lang="en-US" altLang="zh-CN" baseline="-25000" dirty="0" err="1"/>
              <a:t>n</a:t>
            </a:r>
            <a:r>
              <a:rPr lang="en-US" altLang="zh-CN" dirty="0"/>
              <a:t>, and there are e edges, </a:t>
            </a:r>
            <a:r>
              <a:rPr lang="en-US" altLang="zh-CN" dirty="0" smtClean="0"/>
              <a:t>then</a:t>
            </a:r>
          </a:p>
          <a:p>
            <a:pPr marL="0" indent="0">
              <a:buNone/>
            </a:pPr>
            <a:r>
              <a:rPr lang="en-US" altLang="zh-CN" dirty="0" smtClean="0"/>
              <a:t>		d</a:t>
            </a:r>
            <a:r>
              <a:rPr lang="en-US" altLang="zh-CN" baseline="-25000" dirty="0" smtClean="0"/>
              <a:t>1</a:t>
            </a:r>
            <a:r>
              <a:rPr lang="en-US" altLang="zh-CN" dirty="0" smtClean="0"/>
              <a:t> </a:t>
            </a:r>
            <a:r>
              <a:rPr lang="en-US" altLang="zh-CN" dirty="0"/>
              <a:t>+ d</a:t>
            </a:r>
            <a:r>
              <a:rPr lang="en-US" altLang="zh-CN" baseline="-25000" dirty="0"/>
              <a:t>2</a:t>
            </a:r>
            <a:r>
              <a:rPr lang="en-US" altLang="zh-CN" dirty="0"/>
              <a:t> + · · · + d</a:t>
            </a:r>
            <a:r>
              <a:rPr lang="en-US" altLang="zh-CN" baseline="-25000" dirty="0"/>
              <a:t>n−1</a:t>
            </a:r>
            <a:r>
              <a:rPr lang="en-US" altLang="zh-CN" dirty="0"/>
              <a:t> + </a:t>
            </a:r>
            <a:r>
              <a:rPr lang="en-US" altLang="zh-CN" dirty="0" err="1"/>
              <a:t>d</a:t>
            </a:r>
            <a:r>
              <a:rPr lang="en-US" altLang="zh-CN" baseline="-25000" dirty="0" err="1"/>
              <a:t>n</a:t>
            </a:r>
            <a:r>
              <a:rPr lang="en-US" altLang="zh-CN" dirty="0"/>
              <a:t> = </a:t>
            </a:r>
            <a:r>
              <a:rPr lang="en-US" altLang="zh-CN" dirty="0" smtClean="0"/>
              <a:t>2e</a:t>
            </a:r>
          </a:p>
          <a:p>
            <a:r>
              <a:rPr lang="en-US" altLang="zh-CN" dirty="0" smtClean="0"/>
              <a:t>Therefore, d</a:t>
            </a:r>
            <a:r>
              <a:rPr lang="en-US" altLang="zh-CN" baseline="-25000" dirty="0" smtClean="0"/>
              <a:t>1</a:t>
            </a:r>
            <a:r>
              <a:rPr lang="en-US" altLang="zh-CN" dirty="0" smtClean="0"/>
              <a:t> </a:t>
            </a:r>
            <a:r>
              <a:rPr lang="en-US" altLang="zh-CN" dirty="0"/>
              <a:t>+ d</a:t>
            </a:r>
            <a:r>
              <a:rPr lang="en-US" altLang="zh-CN" baseline="-25000" dirty="0"/>
              <a:t>2</a:t>
            </a:r>
            <a:r>
              <a:rPr lang="en-US" altLang="zh-CN" dirty="0"/>
              <a:t> + · · · + </a:t>
            </a:r>
            <a:r>
              <a:rPr lang="en-US" altLang="zh-CN" dirty="0" err="1"/>
              <a:t>d</a:t>
            </a:r>
            <a:r>
              <a:rPr lang="en-US" altLang="zh-CN" baseline="-25000" dirty="0" err="1"/>
              <a:t>n</a:t>
            </a:r>
            <a:r>
              <a:rPr lang="en-US" altLang="zh-CN" dirty="0"/>
              <a:t> must be an even </a:t>
            </a:r>
            <a:r>
              <a:rPr lang="en-US" altLang="zh-CN" dirty="0" smtClean="0"/>
              <a:t>number.</a:t>
            </a:r>
          </a:p>
          <a:p>
            <a:r>
              <a:rPr lang="en-US" altLang="zh-CN" dirty="0" smtClean="0"/>
              <a:t>The </a:t>
            </a:r>
            <a:r>
              <a:rPr lang="en-US" altLang="zh-CN" dirty="0"/>
              <a:t>numbers </a:t>
            </a:r>
            <a:r>
              <a:rPr lang="en-US" altLang="zh-CN" dirty="0" smtClean="0"/>
              <a:t>d</a:t>
            </a:r>
            <a:r>
              <a:rPr lang="en-US" altLang="zh-CN" baseline="-25000" dirty="0"/>
              <a:t>1</a:t>
            </a:r>
            <a:r>
              <a:rPr lang="en-US" altLang="zh-CN" dirty="0" smtClean="0"/>
              <a:t>, d</a:t>
            </a:r>
            <a:r>
              <a:rPr lang="en-US" altLang="zh-CN" baseline="-25000" dirty="0"/>
              <a:t>2</a:t>
            </a:r>
            <a:r>
              <a:rPr lang="en-US" altLang="zh-CN" dirty="0" smtClean="0"/>
              <a:t>, </a:t>
            </a:r>
            <a:r>
              <a:rPr lang="en-US" altLang="zh-CN" dirty="0"/>
              <a:t>· · · , </a:t>
            </a:r>
            <a:r>
              <a:rPr lang="en-US" altLang="zh-CN" dirty="0" err="1" smtClean="0"/>
              <a:t>d</a:t>
            </a:r>
            <a:r>
              <a:rPr lang="en-US" altLang="zh-CN" baseline="-25000" dirty="0" err="1"/>
              <a:t>n</a:t>
            </a:r>
            <a:r>
              <a:rPr lang="en-US" altLang="zh-CN" dirty="0" smtClean="0"/>
              <a:t> </a:t>
            </a:r>
            <a:r>
              <a:rPr lang="en-US" altLang="zh-CN" dirty="0"/>
              <a:t>must include an even number of odd </a:t>
            </a:r>
            <a:r>
              <a:rPr lang="en-US" altLang="zh-CN" dirty="0" smtClean="0"/>
              <a:t>numbers.</a:t>
            </a:r>
          </a:p>
          <a:p>
            <a:r>
              <a:rPr lang="en-US" altLang="zh-CN" dirty="0" smtClean="0"/>
              <a:t>Every </a:t>
            </a:r>
            <a:r>
              <a:rPr lang="en-US" altLang="zh-CN" dirty="0"/>
              <a:t>graph has an </a:t>
            </a:r>
            <a:r>
              <a:rPr lang="en-US" altLang="zh-CN" dirty="0">
                <a:solidFill>
                  <a:srgbClr val="FF0000"/>
                </a:solidFill>
              </a:rPr>
              <a:t>even</a:t>
            </a:r>
            <a:r>
              <a:rPr lang="en-US" altLang="zh-CN" dirty="0"/>
              <a:t> number of </a:t>
            </a:r>
            <a:r>
              <a:rPr lang="en-US" altLang="zh-CN" dirty="0">
                <a:solidFill>
                  <a:srgbClr val="FF0000"/>
                </a:solidFill>
              </a:rPr>
              <a:t>odd </a:t>
            </a:r>
            <a:r>
              <a:rPr lang="en-US" altLang="zh-CN" dirty="0" smtClean="0">
                <a:solidFill>
                  <a:srgbClr val="FF0000"/>
                </a:solidFill>
              </a:rPr>
              <a:t>vertices</a:t>
            </a:r>
            <a:r>
              <a:rPr lang="en-US" altLang="zh-CN" dirty="0" smtClean="0"/>
              <a:t>.</a:t>
            </a:r>
            <a:endParaRPr lang="zh-CN" altLang="en-US" dirty="0"/>
          </a:p>
        </p:txBody>
      </p:sp>
    </p:spTree>
    <p:extLst>
      <p:ext uri="{BB962C8B-B14F-4D97-AF65-F5344CB8AC3E}">
        <p14:creationId xmlns:p14="http://schemas.microsoft.com/office/powerpoint/2010/main" val="1242051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Euler </a:t>
            </a:r>
            <a:r>
              <a:rPr lang="en-US" altLang="zh-CN" dirty="0" smtClean="0"/>
              <a:t>Circuit </a:t>
            </a:r>
            <a:r>
              <a:rPr lang="en-US" altLang="zh-CN" dirty="0"/>
              <a:t>Theorem</a:t>
            </a:r>
            <a:endParaRPr lang="zh-CN" altLang="en-US" dirty="0"/>
          </a:p>
        </p:txBody>
      </p:sp>
      <p:sp>
        <p:nvSpPr>
          <p:cNvPr id="3" name="内容占位符 2"/>
          <p:cNvSpPr>
            <a:spLocks noGrp="1"/>
          </p:cNvSpPr>
          <p:nvPr>
            <p:ph idx="1"/>
          </p:nvPr>
        </p:nvSpPr>
        <p:spPr/>
        <p:txBody>
          <a:bodyPr/>
          <a:lstStyle/>
          <a:p>
            <a:pPr eaLnBrk="1" hangingPunct="1"/>
            <a:r>
              <a:rPr lang="en-US" altLang="zh-CN" dirty="0" smtClean="0"/>
              <a:t>If </a:t>
            </a:r>
            <a:r>
              <a:rPr lang="en-US" altLang="zh-CN" dirty="0"/>
              <a:t>a graph is </a:t>
            </a:r>
            <a:r>
              <a:rPr lang="en-US" altLang="zh-CN" i="1" dirty="0"/>
              <a:t>connected</a:t>
            </a:r>
            <a:r>
              <a:rPr lang="en-US" altLang="zh-CN" dirty="0"/>
              <a:t> and </a:t>
            </a:r>
            <a:r>
              <a:rPr lang="en-US" altLang="zh-CN" i="1" dirty="0"/>
              <a:t>every vertex is even</a:t>
            </a:r>
            <a:r>
              <a:rPr lang="en-US" altLang="zh-CN" dirty="0"/>
              <a:t>, then it has an Euler circuit</a:t>
            </a:r>
            <a:r>
              <a:rPr lang="en-US" altLang="zh-CN" dirty="0">
                <a:latin typeface="Helvetica" panose="020B0604020202020204" pitchFamily="34" charset="0"/>
              </a:rPr>
              <a:t> </a:t>
            </a:r>
            <a:r>
              <a:rPr lang="en-US" altLang="zh-CN" dirty="0"/>
              <a:t>(at least one, usually more).</a:t>
            </a:r>
            <a:endParaRPr lang="en-US" altLang="zh-CN" dirty="0">
              <a:latin typeface="Helvetica" panose="020B0604020202020204" pitchFamily="34" charset="0"/>
            </a:endParaRPr>
          </a:p>
          <a:p>
            <a:pPr eaLnBrk="1" hangingPunct="1"/>
            <a:r>
              <a:rPr lang="en-US" altLang="zh-CN" dirty="0" smtClean="0"/>
              <a:t>If </a:t>
            </a:r>
            <a:r>
              <a:rPr lang="en-US" altLang="zh-CN" dirty="0"/>
              <a:t>a graph has </a:t>
            </a:r>
            <a:r>
              <a:rPr lang="en-US" altLang="zh-CN" i="1" dirty="0"/>
              <a:t>any odd vertices</a:t>
            </a:r>
            <a:r>
              <a:rPr lang="en-US" altLang="zh-CN" dirty="0"/>
              <a:t>, then it does not have an Euler circuit.</a:t>
            </a:r>
            <a:r>
              <a:rPr lang="en-US" altLang="zh-CN" dirty="0">
                <a:latin typeface="Helvetica" panose="020B0604020202020204" pitchFamily="34" charset="0"/>
              </a:rPr>
              <a:t> </a:t>
            </a:r>
          </a:p>
          <a:p>
            <a:endParaRPr lang="zh-CN" altLang="en-US" dirty="0"/>
          </a:p>
        </p:txBody>
      </p:sp>
    </p:spTree>
    <p:extLst>
      <p:ext uri="{BB962C8B-B14F-4D97-AF65-F5344CB8AC3E}">
        <p14:creationId xmlns:p14="http://schemas.microsoft.com/office/powerpoint/2010/main" val="4179872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Euler Path Theorem</a:t>
            </a:r>
            <a:endParaRPr lang="zh-CN" altLang="en-US" dirty="0"/>
          </a:p>
        </p:txBody>
      </p:sp>
      <p:sp>
        <p:nvSpPr>
          <p:cNvPr id="3" name="内容占位符 2"/>
          <p:cNvSpPr>
            <a:spLocks noGrp="1"/>
          </p:cNvSpPr>
          <p:nvPr>
            <p:ph idx="1"/>
          </p:nvPr>
        </p:nvSpPr>
        <p:spPr/>
        <p:txBody>
          <a:bodyPr/>
          <a:lstStyle/>
          <a:p>
            <a:r>
              <a:rPr lang="en-US" altLang="zh-CN" dirty="0" smtClean="0"/>
              <a:t>If </a:t>
            </a:r>
            <a:r>
              <a:rPr lang="en-US" altLang="zh-CN" dirty="0"/>
              <a:t>a graph is </a:t>
            </a:r>
            <a:r>
              <a:rPr lang="en-US" altLang="zh-CN" i="1" dirty="0"/>
              <a:t>connected</a:t>
            </a:r>
            <a:r>
              <a:rPr lang="en-US" altLang="zh-CN" dirty="0"/>
              <a:t> and has exactly two odd vertices, then it has an Euler path (at least one, usually more). Any such path must start at one of the odd vertices and end at the other one.</a:t>
            </a:r>
          </a:p>
          <a:p>
            <a:r>
              <a:rPr lang="en-US" altLang="zh-CN" dirty="0" smtClean="0"/>
              <a:t>If </a:t>
            </a:r>
            <a:r>
              <a:rPr lang="en-US" altLang="zh-CN" dirty="0"/>
              <a:t>a graph has more than two odd vertices, then it cannot have an Euler path.</a:t>
            </a:r>
          </a:p>
          <a:p>
            <a:endParaRPr lang="zh-CN" altLang="en-US" dirty="0"/>
          </a:p>
        </p:txBody>
      </p:sp>
    </p:spTree>
    <p:extLst>
      <p:ext uri="{BB962C8B-B14F-4D97-AF65-F5344CB8AC3E}">
        <p14:creationId xmlns:p14="http://schemas.microsoft.com/office/powerpoint/2010/main" val="4897166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Finding Euler Circuits</a:t>
            </a:r>
            <a:endParaRPr lang="zh-CN" altLang="en-US" dirty="0"/>
          </a:p>
        </p:txBody>
      </p:sp>
      <p:sp>
        <p:nvSpPr>
          <p:cNvPr id="3" name="内容占位符 2"/>
          <p:cNvSpPr>
            <a:spLocks noGrp="1"/>
          </p:cNvSpPr>
          <p:nvPr>
            <p:ph idx="1"/>
          </p:nvPr>
        </p:nvSpPr>
        <p:spPr/>
        <p:txBody>
          <a:bodyPr/>
          <a:lstStyle/>
          <a:p>
            <a:r>
              <a:rPr lang="en-US" altLang="zh-CN" dirty="0"/>
              <a:t>Given a graph G = (V,E), find an Euler circuit in </a:t>
            </a:r>
            <a:r>
              <a:rPr lang="en-US" altLang="zh-CN" dirty="0" smtClean="0"/>
              <a:t>G.</a:t>
            </a:r>
          </a:p>
          <a:p>
            <a:r>
              <a:rPr lang="en-US" altLang="zh-CN" dirty="0" smtClean="0"/>
              <a:t>Can </a:t>
            </a:r>
            <a:r>
              <a:rPr lang="en-US" altLang="zh-CN" dirty="0"/>
              <a:t>check if one exists in O(|V|) time (check degrees).</a:t>
            </a:r>
          </a:p>
          <a:p>
            <a:r>
              <a:rPr lang="en-US" altLang="zh-CN" dirty="0"/>
              <a:t>To find an Euler path or an Euler </a:t>
            </a:r>
            <a:r>
              <a:rPr lang="en-US" altLang="zh-CN" dirty="0" smtClean="0"/>
              <a:t>circuit</a:t>
            </a:r>
          </a:p>
          <a:p>
            <a:pPr lvl="1"/>
            <a:r>
              <a:rPr lang="en-US" altLang="zh-CN" dirty="0"/>
              <a:t>Fleury’s </a:t>
            </a:r>
            <a:r>
              <a:rPr lang="en-US" altLang="zh-CN" dirty="0" smtClean="0"/>
              <a:t>Algorithm</a:t>
            </a:r>
          </a:p>
          <a:p>
            <a:pPr lvl="1"/>
            <a:r>
              <a:rPr lang="en-US" altLang="zh-CN" dirty="0" smtClean="0"/>
              <a:t>DFS Algorithm</a:t>
            </a:r>
            <a:endParaRPr lang="zh-CN" altLang="en-US" dirty="0"/>
          </a:p>
        </p:txBody>
      </p:sp>
    </p:spTree>
    <p:extLst>
      <p:ext uri="{BB962C8B-B14F-4D97-AF65-F5344CB8AC3E}">
        <p14:creationId xmlns:p14="http://schemas.microsoft.com/office/powerpoint/2010/main" val="3363458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Fleury’s </a:t>
            </a:r>
            <a:r>
              <a:rPr lang="en-US" altLang="zh-CN" dirty="0" smtClean="0"/>
              <a:t>Algorithm: Bridges</a:t>
            </a:r>
            <a:endParaRPr lang="zh-CN" altLang="en-US" dirty="0"/>
          </a:p>
        </p:txBody>
      </p:sp>
      <p:sp>
        <p:nvSpPr>
          <p:cNvPr id="3" name="内容占位符 2"/>
          <p:cNvSpPr>
            <a:spLocks noGrp="1"/>
          </p:cNvSpPr>
          <p:nvPr>
            <p:ph idx="1"/>
          </p:nvPr>
        </p:nvSpPr>
        <p:spPr/>
        <p:txBody>
          <a:bodyPr/>
          <a:lstStyle/>
          <a:p>
            <a:r>
              <a:rPr lang="en-US" altLang="zh-CN" dirty="0"/>
              <a:t>Removing a single edge from a connected graph can make it </a:t>
            </a:r>
            <a:r>
              <a:rPr lang="en-US" altLang="zh-CN" dirty="0" smtClean="0"/>
              <a:t>disconnected. Such </a:t>
            </a:r>
            <a:r>
              <a:rPr lang="en-US" altLang="zh-CN" dirty="0"/>
              <a:t>an edge is called a </a:t>
            </a:r>
            <a:r>
              <a:rPr lang="en-US" altLang="zh-CN" dirty="0">
                <a:solidFill>
                  <a:srgbClr val="FF0000"/>
                </a:solidFill>
              </a:rPr>
              <a:t>bridge</a:t>
            </a:r>
            <a:r>
              <a:rPr lang="en-US" altLang="zh-CN" dirty="0" smtClean="0"/>
              <a:t>.</a:t>
            </a:r>
          </a:p>
          <a:p>
            <a:endParaRPr lang="zh-CN" altLang="en-US" dirty="0"/>
          </a:p>
        </p:txBody>
      </p:sp>
      <p:pic>
        <p:nvPicPr>
          <p:cNvPr id="4" name="图片 3"/>
          <p:cNvPicPr>
            <a:picLocks noChangeAspect="1"/>
          </p:cNvPicPr>
          <p:nvPr/>
        </p:nvPicPr>
        <p:blipFill>
          <a:blip r:embed="rId2"/>
          <a:stretch>
            <a:fillRect/>
          </a:stretch>
        </p:blipFill>
        <p:spPr>
          <a:xfrm>
            <a:off x="4067160" y="1988841"/>
            <a:ext cx="4057680" cy="4105305"/>
          </a:xfrm>
          <a:prstGeom prst="rect">
            <a:avLst/>
          </a:prstGeom>
        </p:spPr>
      </p:pic>
    </p:spTree>
    <p:extLst>
      <p:ext uri="{BB962C8B-B14F-4D97-AF65-F5344CB8AC3E}">
        <p14:creationId xmlns:p14="http://schemas.microsoft.com/office/powerpoint/2010/main" val="2232976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Fleury’s Algorithm</a:t>
            </a:r>
            <a:endParaRPr lang="zh-CN" altLang="en-US" dirty="0"/>
          </a:p>
        </p:txBody>
      </p:sp>
      <p:sp>
        <p:nvSpPr>
          <p:cNvPr id="3" name="内容占位符 2"/>
          <p:cNvSpPr>
            <a:spLocks noGrp="1"/>
          </p:cNvSpPr>
          <p:nvPr>
            <p:ph idx="1"/>
          </p:nvPr>
        </p:nvSpPr>
        <p:spPr/>
        <p:txBody>
          <a:bodyPr/>
          <a:lstStyle/>
          <a:p>
            <a:r>
              <a:rPr lang="en-US" altLang="zh-CN" dirty="0" smtClean="0"/>
              <a:t>Idea: </a:t>
            </a:r>
            <a:r>
              <a:rPr lang="en-US" altLang="zh-CN" dirty="0" smtClean="0">
                <a:solidFill>
                  <a:srgbClr val="FF0000"/>
                </a:solidFill>
              </a:rPr>
              <a:t>Don’t </a:t>
            </a:r>
            <a:r>
              <a:rPr lang="en-US" altLang="zh-CN" dirty="0">
                <a:solidFill>
                  <a:srgbClr val="FF0000"/>
                </a:solidFill>
              </a:rPr>
              <a:t>burn your bridges</a:t>
            </a:r>
            <a:r>
              <a:rPr lang="en-US" altLang="zh-CN" dirty="0" smtClean="0"/>
              <a:t>.</a:t>
            </a:r>
          </a:p>
          <a:p>
            <a:endParaRPr lang="en-US" altLang="zh-CN" dirty="0"/>
          </a:p>
          <a:p>
            <a:pPr marL="457200" indent="-457200">
              <a:buFont typeface="+mj-lt"/>
              <a:buAutoNum type="arabicPeriod"/>
            </a:pPr>
            <a:r>
              <a:rPr lang="en-US" altLang="zh-CN" dirty="0" smtClean="0"/>
              <a:t>Make </a:t>
            </a:r>
            <a:r>
              <a:rPr lang="en-US" altLang="zh-CN" dirty="0"/>
              <a:t>sure the graph has either 0 or 2 odd </a:t>
            </a:r>
            <a:r>
              <a:rPr lang="en-US" altLang="zh-CN" dirty="0" smtClean="0"/>
              <a:t>vertices.</a:t>
            </a:r>
          </a:p>
          <a:p>
            <a:pPr marL="457200" indent="-457200">
              <a:buFont typeface="+mj-lt"/>
              <a:buAutoNum type="arabicPeriod"/>
            </a:pPr>
            <a:r>
              <a:rPr lang="en-US" altLang="zh-CN" dirty="0" smtClean="0"/>
              <a:t>If </a:t>
            </a:r>
            <a:r>
              <a:rPr lang="en-US" altLang="zh-CN" dirty="0"/>
              <a:t>there are 0 odd vertices, start anywhere. If there are 2 odd vertices, start at one of </a:t>
            </a:r>
            <a:r>
              <a:rPr lang="en-US" altLang="zh-CN" dirty="0" smtClean="0"/>
              <a:t>them.</a:t>
            </a:r>
          </a:p>
          <a:p>
            <a:pPr marL="457200" indent="-457200">
              <a:buFont typeface="+mj-lt"/>
              <a:buAutoNum type="arabicPeriod"/>
            </a:pPr>
            <a:r>
              <a:rPr lang="en-US" altLang="zh-CN" dirty="0" smtClean="0"/>
              <a:t>Follow </a:t>
            </a:r>
            <a:r>
              <a:rPr lang="en-US" altLang="zh-CN" dirty="0"/>
              <a:t>edges one at a time. If you have a choice between a bridge and a non-bridge, always choose the </a:t>
            </a:r>
            <a:r>
              <a:rPr lang="en-US" altLang="zh-CN" dirty="0" smtClean="0"/>
              <a:t>non-bridge.</a:t>
            </a:r>
          </a:p>
          <a:p>
            <a:pPr marL="457200" indent="-457200">
              <a:buFont typeface="+mj-lt"/>
              <a:buAutoNum type="arabicPeriod"/>
            </a:pPr>
            <a:r>
              <a:rPr lang="en-US" altLang="zh-CN" dirty="0" smtClean="0"/>
              <a:t>Stop </a:t>
            </a:r>
            <a:r>
              <a:rPr lang="en-US" altLang="zh-CN" dirty="0"/>
              <a:t>when you run out of edges. </a:t>
            </a:r>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126837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a:t>
            </a:r>
            <a:endParaRPr lang="zh-CN" altLang="en-US" dirty="0"/>
          </a:p>
        </p:txBody>
      </p:sp>
      <p:pic>
        <p:nvPicPr>
          <p:cNvPr id="4" name="图片 3"/>
          <p:cNvPicPr>
            <a:picLocks noChangeAspect="1"/>
          </p:cNvPicPr>
          <p:nvPr/>
        </p:nvPicPr>
        <p:blipFill>
          <a:blip r:embed="rId2"/>
          <a:stretch>
            <a:fillRect/>
          </a:stretch>
        </p:blipFill>
        <p:spPr>
          <a:xfrm>
            <a:off x="1271464" y="1124744"/>
            <a:ext cx="2598699" cy="2162522"/>
          </a:xfrm>
          <a:prstGeom prst="rect">
            <a:avLst/>
          </a:prstGeom>
        </p:spPr>
      </p:pic>
      <p:pic>
        <p:nvPicPr>
          <p:cNvPr id="5" name="图片 4"/>
          <p:cNvPicPr>
            <a:picLocks noChangeAspect="1"/>
          </p:cNvPicPr>
          <p:nvPr/>
        </p:nvPicPr>
        <p:blipFill>
          <a:blip r:embed="rId3"/>
          <a:stretch>
            <a:fillRect/>
          </a:stretch>
        </p:blipFill>
        <p:spPr>
          <a:xfrm>
            <a:off x="5087888" y="964566"/>
            <a:ext cx="3610919" cy="2743602"/>
          </a:xfrm>
          <a:prstGeom prst="rect">
            <a:avLst/>
          </a:prstGeom>
        </p:spPr>
      </p:pic>
      <p:pic>
        <p:nvPicPr>
          <p:cNvPr id="6" name="图片 5"/>
          <p:cNvPicPr>
            <a:picLocks noChangeAspect="1"/>
          </p:cNvPicPr>
          <p:nvPr/>
        </p:nvPicPr>
        <p:blipFill>
          <a:blip r:embed="rId4"/>
          <a:stretch>
            <a:fillRect/>
          </a:stretch>
        </p:blipFill>
        <p:spPr>
          <a:xfrm>
            <a:off x="2088770" y="3815483"/>
            <a:ext cx="3562786" cy="2681877"/>
          </a:xfrm>
          <a:prstGeom prst="rect">
            <a:avLst/>
          </a:prstGeom>
        </p:spPr>
      </p:pic>
      <p:pic>
        <p:nvPicPr>
          <p:cNvPr id="7" name="图片 6"/>
          <p:cNvPicPr>
            <a:picLocks noChangeAspect="1"/>
          </p:cNvPicPr>
          <p:nvPr/>
        </p:nvPicPr>
        <p:blipFill>
          <a:blip r:embed="rId5"/>
          <a:stretch>
            <a:fillRect/>
          </a:stretch>
        </p:blipFill>
        <p:spPr>
          <a:xfrm>
            <a:off x="7176120" y="3815483"/>
            <a:ext cx="3528392" cy="2633701"/>
          </a:xfrm>
          <a:prstGeom prst="rect">
            <a:avLst/>
          </a:prstGeom>
        </p:spPr>
      </p:pic>
    </p:spTree>
    <p:extLst>
      <p:ext uri="{BB962C8B-B14F-4D97-AF65-F5344CB8AC3E}">
        <p14:creationId xmlns:p14="http://schemas.microsoft.com/office/powerpoint/2010/main" val="238308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a:t>Hierholzer's</a:t>
            </a:r>
            <a:r>
              <a:rPr lang="en-US" altLang="zh-CN" b="1" dirty="0"/>
              <a:t> </a:t>
            </a:r>
            <a:r>
              <a:rPr lang="en-US" altLang="zh-CN" b="1" dirty="0" smtClean="0"/>
              <a:t>Algorithm</a:t>
            </a:r>
            <a:endParaRPr lang="zh-CN" altLang="en-US" dirty="0"/>
          </a:p>
        </p:txBody>
      </p:sp>
      <p:sp>
        <p:nvSpPr>
          <p:cNvPr id="3" name="内容占位符 2"/>
          <p:cNvSpPr>
            <a:spLocks noGrp="1"/>
          </p:cNvSpPr>
          <p:nvPr>
            <p:ph idx="1"/>
          </p:nvPr>
        </p:nvSpPr>
        <p:spPr/>
        <p:txBody>
          <a:bodyPr/>
          <a:lstStyle/>
          <a:p>
            <a:pPr marL="400050"/>
            <a:r>
              <a:rPr lang="en-US" altLang="zh-CN" dirty="0"/>
              <a:t>DFS and then Splice</a:t>
            </a:r>
          </a:p>
          <a:p>
            <a:pPr marL="514350" indent="-457200">
              <a:buFont typeface="+mj-lt"/>
              <a:buAutoNum type="arabicPeriod"/>
            </a:pPr>
            <a:r>
              <a:rPr lang="en-US" altLang="zh-CN" dirty="0" smtClean="0"/>
              <a:t>Perform a depth-first search (DFS) from a vertex until you are back at this vertex.</a:t>
            </a:r>
          </a:p>
          <a:p>
            <a:pPr marL="514350" indent="-457200">
              <a:buFont typeface="+mj-lt"/>
              <a:buAutoNum type="arabicPeriod"/>
            </a:pPr>
            <a:r>
              <a:rPr lang="en-US" altLang="zh-CN" dirty="0" smtClean="0"/>
              <a:t>Pick </a:t>
            </a:r>
            <a:r>
              <a:rPr lang="en-US" altLang="zh-CN" dirty="0"/>
              <a:t>a vertex on this path with an unused edge and repeat </a:t>
            </a:r>
            <a:r>
              <a:rPr lang="en-US" altLang="zh-CN" dirty="0" smtClean="0"/>
              <a:t>1.</a:t>
            </a:r>
          </a:p>
          <a:p>
            <a:pPr marL="514350" indent="-457200">
              <a:buFont typeface="+mj-lt"/>
              <a:buAutoNum type="arabicPeriod"/>
            </a:pPr>
            <a:r>
              <a:rPr lang="en-US" altLang="zh-CN" dirty="0" smtClean="0"/>
              <a:t>Splice </a:t>
            </a:r>
            <a:r>
              <a:rPr lang="en-US" altLang="zh-CN" dirty="0"/>
              <a:t>all these paths into an Euler </a:t>
            </a:r>
            <a:r>
              <a:rPr lang="en-US" altLang="zh-CN" dirty="0" smtClean="0"/>
              <a:t>circuit.</a:t>
            </a:r>
          </a:p>
          <a:p>
            <a:endParaRPr lang="en-US" altLang="zh-CN" dirty="0" smtClean="0"/>
          </a:p>
          <a:p>
            <a:r>
              <a:rPr lang="en-US" altLang="zh-CN" dirty="0" smtClean="0"/>
              <a:t>Running </a:t>
            </a:r>
            <a:r>
              <a:rPr lang="en-US" altLang="zh-CN" dirty="0"/>
              <a:t>time = O(|V|+|E</a:t>
            </a:r>
            <a:r>
              <a:rPr lang="en-US" altLang="zh-CN" dirty="0" smtClean="0"/>
              <a:t>|).</a:t>
            </a:r>
            <a:endParaRPr lang="zh-CN" altLang="en-US" dirty="0"/>
          </a:p>
        </p:txBody>
      </p:sp>
    </p:spTree>
    <p:extLst>
      <p:ext uri="{BB962C8B-B14F-4D97-AF65-F5344CB8AC3E}">
        <p14:creationId xmlns:p14="http://schemas.microsoft.com/office/powerpoint/2010/main" val="39781293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a:t>
            </a:r>
            <a:endParaRPr lang="zh-CN" altLang="en-US" dirty="0"/>
          </a:p>
        </p:txBody>
      </p:sp>
      <p:pic>
        <p:nvPicPr>
          <p:cNvPr id="4" name="图片 3"/>
          <p:cNvPicPr>
            <a:picLocks noChangeAspect="1"/>
          </p:cNvPicPr>
          <p:nvPr/>
        </p:nvPicPr>
        <p:blipFill>
          <a:blip r:embed="rId2"/>
          <a:stretch>
            <a:fillRect/>
          </a:stretch>
        </p:blipFill>
        <p:spPr>
          <a:xfrm>
            <a:off x="2138259" y="1340768"/>
            <a:ext cx="7915482" cy="4320480"/>
          </a:xfrm>
          <a:prstGeom prst="rect">
            <a:avLst/>
          </a:prstGeom>
        </p:spPr>
      </p:pic>
    </p:spTree>
    <p:extLst>
      <p:ext uri="{BB962C8B-B14F-4D97-AF65-F5344CB8AC3E}">
        <p14:creationId xmlns:p14="http://schemas.microsoft.com/office/powerpoint/2010/main" val="779748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881189" y="1357314"/>
            <a:ext cx="8429625" cy="642937"/>
          </a:xfrm>
          <a:prstGeom prst="rect">
            <a:avLst/>
          </a:prstGeom>
        </p:spPr>
        <p:txBody>
          <a:bodyPr/>
          <a:lstStyle/>
          <a:p>
            <a:pPr algn="ctr">
              <a:defRPr/>
            </a:pPr>
            <a:r>
              <a:rPr lang="en-US" altLang="zh-CN" sz="4400" kern="0" dirty="0">
                <a:solidFill>
                  <a:schemeClr val="tx2"/>
                </a:solidFill>
                <a:latin typeface="+mj-lt"/>
                <a:ea typeface="+mj-ea"/>
                <a:cs typeface="+mj-cs"/>
              </a:rPr>
              <a:t>Thank you!</a:t>
            </a:r>
          </a:p>
        </p:txBody>
      </p:sp>
      <p:pic>
        <p:nvPicPr>
          <p:cNvPr id="5" name="Picture 4"/>
          <p:cNvPicPr>
            <a:picLocks noChangeAspect="1" noChangeArrowheads="1"/>
          </p:cNvPicPr>
          <p:nvPr/>
        </p:nvPicPr>
        <p:blipFill>
          <a:blip r:embed="rId2" cstate="print"/>
          <a:srcRect/>
          <a:stretch>
            <a:fillRect/>
          </a:stretch>
        </p:blipFill>
        <p:spPr bwMode="auto">
          <a:xfrm>
            <a:off x="3738563" y="2714625"/>
            <a:ext cx="4868862" cy="3143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2_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9483</TotalTime>
  <Words>1582</Words>
  <Application>Microsoft Office PowerPoint</Application>
  <PresentationFormat>宽屏</PresentationFormat>
  <Paragraphs>349</Paragraphs>
  <Slides>35</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35</vt:i4>
      </vt:variant>
    </vt:vector>
  </HeadingPairs>
  <TitlesOfParts>
    <vt:vector size="50" baseType="lpstr">
      <vt:lpstr>MTSYN</vt:lpstr>
      <vt:lpstr>RMTMI</vt:lpstr>
      <vt:lpstr>仿宋_GB2312</vt:lpstr>
      <vt:lpstr>黑体</vt:lpstr>
      <vt:lpstr>楷体_GB2312</vt:lpstr>
      <vt:lpstr>隶书</vt:lpstr>
      <vt:lpstr>宋体</vt:lpstr>
      <vt:lpstr>Arial</vt:lpstr>
      <vt:lpstr>Arial Black</vt:lpstr>
      <vt:lpstr>Calibri</vt:lpstr>
      <vt:lpstr>Helvetica</vt:lpstr>
      <vt:lpstr>Symbol</vt:lpstr>
      <vt:lpstr>Times New Roman</vt:lpstr>
      <vt:lpstr>Wingdings</vt:lpstr>
      <vt:lpstr>2_Studio</vt:lpstr>
      <vt:lpstr>Lecture 20 Graphs (II)</vt:lpstr>
      <vt:lpstr>Outline</vt:lpstr>
      <vt:lpstr>Topological Sorting (拓扑排序)</vt:lpstr>
      <vt:lpstr>A DAG Example</vt:lpstr>
      <vt:lpstr>Example of Topological Sorting</vt:lpstr>
      <vt:lpstr>Topological Sorting: Breadth-First Algorithm</vt:lpstr>
      <vt:lpstr>Breadth-First Example for Topological Sorting</vt:lpstr>
      <vt:lpstr>Breadth-First Example for Topological Sorting</vt:lpstr>
      <vt:lpstr>Topological Sorting: Breadth-First Algorithm</vt:lpstr>
      <vt:lpstr>Topological Sorting: Breadth-First Algorithm</vt:lpstr>
      <vt:lpstr>Topological Sorting: Breadth-First Algorithm</vt:lpstr>
      <vt:lpstr>Topological Sorting: Depth-First Algorithm</vt:lpstr>
      <vt:lpstr>Topological Sorting: Depth-First Algorithm</vt:lpstr>
      <vt:lpstr>Topological Sorting: Depth-First Algorithm</vt:lpstr>
      <vt:lpstr>Topological Sorting: Depth-First Algorithm</vt:lpstr>
      <vt:lpstr>Topological Sorting: Depth-First Algorithm</vt:lpstr>
      <vt:lpstr>Topological Sorting: Depth-First Algorithm</vt:lpstr>
      <vt:lpstr>Topological Sorting: Depth-First Algorithm</vt:lpstr>
      <vt:lpstr>Topological Sorting: Depth-First Algorithm</vt:lpstr>
      <vt:lpstr>Topological Sorting: Depth-First Algorithm</vt:lpstr>
      <vt:lpstr>Topological Sorting: Depth-First Algorithm</vt:lpstr>
      <vt:lpstr>Topological Sorting: Depth-First Algorithm</vt:lpstr>
      <vt:lpstr>The Seven Bridges of Königsberg</vt:lpstr>
      <vt:lpstr>Puzzles</vt:lpstr>
      <vt:lpstr>Euler Paths and Circuits</vt:lpstr>
      <vt:lpstr>The Handshaking Theorem</vt:lpstr>
      <vt:lpstr>Euler Circuit Theorem</vt:lpstr>
      <vt:lpstr>Euler Path Theorem</vt:lpstr>
      <vt:lpstr>Finding Euler Circuits</vt:lpstr>
      <vt:lpstr>Fleury’s Algorithm: Bridges</vt:lpstr>
      <vt:lpstr>Fleury’s Algorithm</vt:lpstr>
      <vt:lpstr>Example</vt:lpstr>
      <vt:lpstr>Hierholzer's Algorithm</vt:lpstr>
      <vt:lpstr>Example</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ZZZ</dc:creator>
  <cp:lastModifiedBy>zzz</cp:lastModifiedBy>
  <cp:revision>1151</cp:revision>
  <dcterms:created xsi:type="dcterms:W3CDTF">2014-09-15T06:27:30Z</dcterms:created>
  <dcterms:modified xsi:type="dcterms:W3CDTF">2025-12-09T04:11:09Z</dcterms:modified>
</cp:coreProperties>
</file>