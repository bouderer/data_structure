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5"/>
  </p:notesMasterIdLst>
  <p:handoutMasterIdLst>
    <p:handoutMasterId r:id="rId26"/>
  </p:handoutMasterIdLst>
  <p:sldIdLst>
    <p:sldId id="256" r:id="rId2"/>
    <p:sldId id="356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26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99" autoAdjust="0"/>
  </p:normalViewPr>
  <p:slideViewPr>
    <p:cSldViewPr>
      <p:cViewPr varScale="1">
        <p:scale>
          <a:sx n="133" d="100"/>
          <a:sy n="133" d="100"/>
        </p:scale>
        <p:origin x="133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1D4C8-AD22-4880-9484-3393AAEA21B4}" type="datetimeFigureOut">
              <a:rPr lang="zh-CN" altLang="en-US" smtClean="0"/>
              <a:pPr/>
              <a:t>2025/11/12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5F2AC-91B5-4045-8919-646887698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BEC3C-C740-4938-B957-964D0E0312A7}" type="datetimeFigureOut">
              <a:rPr lang="zh-CN" altLang="en-US" smtClean="0"/>
              <a:pPr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86499-B8C4-4393-BB2B-FE4804D7EC6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kumimoji="0"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CA728A-43F0-49BF-8B8D-B1697E3B1699}" type="slidenum">
              <a:rPr lang="en-US" altLang="zh-CN" smtClean="0">
                <a:latin typeface="Arial" charset="0"/>
              </a:rPr>
              <a:pPr/>
              <a:t>1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zizhen@gmail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 userDrawn="1"/>
        </p:nvSpPr>
        <p:spPr bwMode="auto">
          <a:xfrm>
            <a:off x="304800" y="381001"/>
            <a:ext cx="11582400" cy="6048375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white">
          <a:xfrm>
            <a:off x="436034" y="488950"/>
            <a:ext cx="11247967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blackWhite">
          <a:xfrm>
            <a:off x="1828800" y="4500563"/>
            <a:ext cx="8534400" cy="13573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1800">
              <a:latin typeface="Arial" pitchFamily="34" charset="0"/>
            </a:endParaRPr>
          </a:p>
        </p:txBody>
      </p:sp>
      <p:pic>
        <p:nvPicPr>
          <p:cNvPr id="6" name="Picture 11" descr="sysu_logo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0300" y="76260"/>
            <a:ext cx="2445420" cy="68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2095530" y="4500570"/>
            <a:ext cx="8191500" cy="102797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48" charset="2"/>
              <a:buNone/>
              <a:defRPr/>
            </a:pPr>
            <a:r>
              <a:rPr lang="en-US" altLang="zh-CN" sz="1800" b="1" dirty="0" smtClean="0">
                <a:solidFill>
                  <a:srgbClr val="3A7877"/>
                </a:solidFill>
              </a:rPr>
              <a:t>Data Structures and Algorithms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itchFamily="48" charset="2"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Zizhen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Zhang, School of Computer Science and Engineering, Sun </a:t>
            </a: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Yat-sen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University</a:t>
            </a:r>
            <a:endParaRPr kumimoji="0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itchFamily="48" charset="2"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  <a:hlinkClick r:id="rId3"/>
              </a:rPr>
              <a:t>zhangzizhen@gmail.com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1519240"/>
            <a:ext cx="103632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251" y="214314"/>
            <a:ext cx="112395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1" y="928688"/>
            <a:ext cx="11239500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pic>
        <p:nvPicPr>
          <p:cNvPr id="1028" name="Picture 15" descr="C:\Documents and Settings\Administrator\桌面\Briefcase\Web程序设计与AJAX 课程\gif图片下载\英文校名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3751" y="6581776"/>
            <a:ext cx="3302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直接连接符 20"/>
          <p:cNvCxnSpPr/>
          <p:nvPr/>
        </p:nvCxnSpPr>
        <p:spPr>
          <a:xfrm>
            <a:off x="476251" y="855664"/>
            <a:ext cx="11239500" cy="1587"/>
          </a:xfrm>
          <a:prstGeom prst="line">
            <a:avLst/>
          </a:prstGeom>
          <a:ln w="381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26"/>
          <p:cNvSpPr txBox="1">
            <a:spLocks noChangeArrowheads="1"/>
          </p:cNvSpPr>
          <p:nvPr/>
        </p:nvSpPr>
        <p:spPr bwMode="auto">
          <a:xfrm>
            <a:off x="5143501" y="71439"/>
            <a:ext cx="66675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1100" i="1" dirty="0" smtClean="0">
                <a:solidFill>
                  <a:srgbClr val="3A7877"/>
                </a:solidFill>
                <a:latin typeface="Arial" pitchFamily="34" charset="0"/>
              </a:rPr>
              <a:t>Data structures</a:t>
            </a:r>
            <a:r>
              <a:rPr lang="en-US" altLang="zh-CN" sz="1100" i="1" baseline="0" dirty="0" smtClean="0">
                <a:solidFill>
                  <a:srgbClr val="3A7877"/>
                </a:solidFill>
                <a:latin typeface="Arial" pitchFamily="34" charset="0"/>
              </a:rPr>
              <a:t> and algorithms</a:t>
            </a:r>
            <a:endParaRPr lang="zh-CN" altLang="en-US" sz="1100" i="1" dirty="0">
              <a:solidFill>
                <a:srgbClr val="3A7877"/>
              </a:solidFill>
              <a:latin typeface="Arial" pitchFamily="34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6868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FED218EC-7653-412D-96B2-7145C570315F}" type="slidenum">
              <a:rPr lang="en-US" altLang="zh-CN" sz="1000" b="1">
                <a:solidFill>
                  <a:srgbClr val="3A7877"/>
                </a:solidFill>
                <a:latin typeface="Arial" pitchFamily="34" charset="0"/>
              </a:rPr>
              <a:pPr algn="ctr">
                <a:defRPr/>
              </a:pPr>
              <a:t>‹#›</a:t>
            </a:fld>
            <a:r>
              <a:rPr lang="en-US" altLang="zh-CN" sz="1000" b="1" dirty="0">
                <a:solidFill>
                  <a:srgbClr val="3A7877"/>
                </a:solidFill>
                <a:latin typeface="Arial" pitchFamily="34" charset="0"/>
              </a:rPr>
              <a:t> </a:t>
            </a:r>
            <a:r>
              <a:rPr lang="en-US" altLang="zh-CN" sz="1000" b="1" dirty="0" smtClean="0">
                <a:solidFill>
                  <a:srgbClr val="3A7877"/>
                </a:solidFill>
                <a:latin typeface="Arial" pitchFamily="34" charset="0"/>
              </a:rPr>
              <a:t>/</a:t>
            </a:r>
            <a:endParaRPr lang="en-US" altLang="zh-CN" sz="1000" b="1" dirty="0">
              <a:solidFill>
                <a:srgbClr val="3A7877"/>
              </a:solidFill>
              <a:latin typeface="Arial" pitchFamily="34" charset="0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9525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28F2FBAF-9894-4EB8-8AC6-3F534D888B82}" type="datetime4">
              <a:rPr lang="en-US" altLang="zh-CN" sz="1000" b="1">
                <a:solidFill>
                  <a:srgbClr val="3A7877"/>
                </a:solidFill>
                <a:latin typeface="Arial" pitchFamily="34" charset="0"/>
              </a:rPr>
              <a:pPr algn="ctr">
                <a:defRPr/>
              </a:pPr>
              <a:t>November 12, 2025</a:t>
            </a:fld>
            <a:endParaRPr lang="en-US" altLang="zh-CN" sz="1000" b="1" dirty="0">
              <a:solidFill>
                <a:srgbClr val="3A7877"/>
              </a:solidFill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 spd="slow"/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854y187eo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altLang="zh-CN" i="0" dirty="0" smtClean="0"/>
              <a:t>Lecture </a:t>
            </a:r>
            <a:r>
              <a:rPr kumimoji="0" lang="en-US" altLang="zh-CN" i="0" dirty="0" smtClean="0"/>
              <a:t>16</a:t>
            </a:r>
            <a:r>
              <a:rPr kumimoji="0" lang="en-US" altLang="zh-CN" i="0" dirty="0" smtClean="0"/>
              <a:t/>
            </a:r>
            <a:br>
              <a:rPr kumimoji="0" lang="en-US" altLang="zh-CN" i="0" dirty="0" smtClean="0"/>
            </a:br>
            <a:r>
              <a:rPr kumimoji="0" lang="en-US" altLang="zh-CN" i="0" dirty="0" smtClean="0"/>
              <a:t>Balanced </a:t>
            </a:r>
            <a:r>
              <a:rPr kumimoji="0" lang="en-US" altLang="zh-CN" i="0" dirty="0"/>
              <a:t>Trees</a:t>
            </a:r>
            <a:endParaRPr kumimoji="0" lang="zh-CN" altLang="en-US" i="0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AVL </a:t>
            </a:r>
            <a:r>
              <a:rPr lang="en-US" altLang="zh-CN" dirty="0" smtClean="0"/>
              <a:t>Trees</a:t>
            </a:r>
          </a:p>
          <a:p>
            <a:r>
              <a:rPr lang="en-US" altLang="zh-CN" dirty="0" smtClean="0"/>
              <a:t>Red-Black Trees*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2971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/>
              <a:t>Balanced Binary Search Trees: AVL Trees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An </a:t>
            </a:r>
            <a:r>
              <a:rPr lang="en-US" altLang="zh-CN" i="1" dirty="0" smtClean="0"/>
              <a:t>AVL</a:t>
            </a:r>
            <a:r>
              <a:rPr lang="en-US" altLang="zh-CN" dirty="0" smtClean="0"/>
              <a:t> tree is a binary search tree in which the heights of the left and right </a:t>
            </a:r>
            <a:r>
              <a:rPr lang="en-US" altLang="zh-CN" dirty="0" err="1" smtClean="0"/>
              <a:t>subtrees</a:t>
            </a:r>
            <a:r>
              <a:rPr lang="en-US" altLang="zh-CN" dirty="0" smtClean="0"/>
              <a:t> of the root differ by </a:t>
            </a:r>
            <a:r>
              <a:rPr lang="en-US" altLang="zh-CN" dirty="0" smtClean="0">
                <a:solidFill>
                  <a:srgbClr val="FF0000"/>
                </a:solidFill>
              </a:rPr>
              <a:t>at most 1 </a:t>
            </a:r>
            <a:r>
              <a:rPr lang="en-US" altLang="zh-CN" dirty="0" smtClean="0"/>
              <a:t>and in which the left and right </a:t>
            </a:r>
            <a:r>
              <a:rPr lang="en-US" altLang="zh-CN" dirty="0" err="1" smtClean="0"/>
              <a:t>subtrees</a:t>
            </a:r>
            <a:r>
              <a:rPr lang="en-US" altLang="zh-CN" dirty="0" smtClean="0"/>
              <a:t> are again AVL trees.</a:t>
            </a:r>
          </a:p>
          <a:p>
            <a:r>
              <a:rPr lang="en-US" altLang="zh-CN" dirty="0" smtClean="0"/>
              <a:t>With each node of an AVL tree is associated a </a:t>
            </a:r>
            <a:r>
              <a:rPr lang="en-US" altLang="zh-CN" i="1" dirty="0" smtClean="0">
                <a:solidFill>
                  <a:srgbClr val="FF0000"/>
                </a:solidFill>
              </a:rPr>
              <a:t>balance factor</a:t>
            </a:r>
            <a:r>
              <a:rPr lang="zh-CN" altLang="en-US" dirty="0" smtClean="0">
                <a:solidFill>
                  <a:srgbClr val="FF0000"/>
                </a:solidFill>
              </a:rPr>
              <a:t>（平衡因子，左子树的高度减去右子树的高度）</a:t>
            </a:r>
            <a:r>
              <a:rPr lang="en-US" altLang="zh-CN" dirty="0" smtClean="0"/>
              <a:t>that is </a:t>
            </a:r>
            <a:r>
              <a:rPr lang="en-US" altLang="zh-CN" i="1" dirty="0" smtClean="0">
                <a:solidFill>
                  <a:srgbClr val="FF0000"/>
                </a:solidFill>
              </a:rPr>
              <a:t>left higher</a:t>
            </a:r>
            <a:r>
              <a:rPr lang="en-US" altLang="zh-CN" i="1" dirty="0" smtClean="0"/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equal</a:t>
            </a:r>
            <a:r>
              <a:rPr lang="en-US" altLang="zh-CN" i="1" dirty="0" smtClean="0"/>
              <a:t>, </a:t>
            </a:r>
            <a:r>
              <a:rPr lang="en-US" altLang="zh-CN" dirty="0" smtClean="0"/>
              <a:t>or </a:t>
            </a:r>
            <a:r>
              <a:rPr lang="en-US" altLang="zh-CN" i="1" dirty="0" smtClean="0">
                <a:solidFill>
                  <a:srgbClr val="FF0000"/>
                </a:solidFill>
              </a:rPr>
              <a:t>right higher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/>
              <a:t>according, respectively, as the left </a:t>
            </a:r>
            <a:r>
              <a:rPr lang="en-US" altLang="zh-CN" dirty="0" err="1" smtClean="0"/>
              <a:t>subtree</a:t>
            </a:r>
            <a:r>
              <a:rPr lang="en-US" altLang="zh-CN" dirty="0" smtClean="0"/>
              <a:t> has height greater than, equal to, or less than that of the right </a:t>
            </a:r>
            <a:r>
              <a:rPr lang="en-US" altLang="zh-CN" dirty="0" err="1" smtClean="0"/>
              <a:t>subtree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The name AVL comes from the discoverers of this method, G. M. </a:t>
            </a:r>
            <a:r>
              <a:rPr lang="en-US" altLang="zh-CN" dirty="0" err="1" smtClean="0"/>
              <a:t>Adel'son-Vel'ski</a:t>
            </a:r>
            <a:r>
              <a:rPr lang="en-US" altLang="zh-CN" dirty="0" smtClean="0"/>
              <a:t> and E. M. Landis. The method dates from 1962.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771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AVL Tree Examples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596" y="1214422"/>
            <a:ext cx="8286808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8913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Insertions into an AVL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如果在一棵</a:t>
            </a:r>
            <a:r>
              <a:rPr lang="en-US" altLang="zh-CN" dirty="0" smtClean="0">
                <a:latin typeface="+mn-ea"/>
              </a:rPr>
              <a:t>AVL</a:t>
            </a:r>
            <a:r>
              <a:rPr lang="zh-CN" altLang="en-US" dirty="0" smtClean="0">
                <a:latin typeface="+mn-ea"/>
              </a:rPr>
              <a:t>树中插入一个新结点，就有可能造成失衡，此时必须</a:t>
            </a:r>
            <a:r>
              <a:rPr lang="zh-CN" altLang="en-US" dirty="0" smtClean="0">
                <a:solidFill>
                  <a:srgbClr val="FF3300"/>
                </a:solidFill>
                <a:latin typeface="+mn-ea"/>
              </a:rPr>
              <a:t>重新调整树的结构</a:t>
            </a:r>
            <a:r>
              <a:rPr lang="zh-CN" altLang="en-US" dirty="0" smtClean="0">
                <a:latin typeface="+mn-ea"/>
              </a:rPr>
              <a:t>，使之恢复平衡。我们称调整平衡过程为</a:t>
            </a:r>
            <a:r>
              <a:rPr lang="zh-CN" altLang="en-US" dirty="0" smtClean="0">
                <a:solidFill>
                  <a:srgbClr val="FF3300"/>
                </a:solidFill>
                <a:latin typeface="+mn-ea"/>
              </a:rPr>
              <a:t>平衡旋转</a:t>
            </a:r>
            <a:r>
              <a:rPr lang="en-US" altLang="zh-CN" dirty="0" smtClean="0">
                <a:solidFill>
                  <a:srgbClr val="FF3300"/>
                </a:solidFill>
                <a:latin typeface="+mn-ea"/>
              </a:rPr>
              <a:t>(rotation)</a:t>
            </a:r>
            <a:r>
              <a:rPr lang="zh-CN" altLang="en-US" dirty="0" smtClean="0">
                <a:latin typeface="+mn-ea"/>
              </a:rPr>
              <a:t>。</a:t>
            </a:r>
          </a:p>
          <a:p>
            <a:r>
              <a:rPr lang="zh-CN" altLang="en-US" dirty="0" smtClean="0"/>
              <a:t>对于失去平衡的二叉树可以归纳为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种类型：</a:t>
            </a:r>
            <a:endParaRPr lang="en-US" altLang="zh-CN" dirty="0" smtClean="0"/>
          </a:p>
          <a:p>
            <a:pPr lvl="1"/>
            <a:r>
              <a:rPr lang="en-US" altLang="zh-CN" sz="2200" dirty="0"/>
              <a:t>RR</a:t>
            </a:r>
            <a:r>
              <a:rPr lang="zh-CN" altLang="en-US" sz="2200" dirty="0"/>
              <a:t>型：单向左旋平衡处理</a:t>
            </a:r>
            <a:endParaRPr lang="en-US" altLang="zh-CN" sz="2200" dirty="0"/>
          </a:p>
          <a:p>
            <a:pPr lvl="1"/>
            <a:r>
              <a:rPr lang="en-US" altLang="zh-CN" sz="2200" dirty="0"/>
              <a:t>LL</a:t>
            </a:r>
            <a:r>
              <a:rPr lang="zh-CN" altLang="en-US" sz="2200" dirty="0"/>
              <a:t>型：单向右旋平衡处理</a:t>
            </a:r>
            <a:endParaRPr lang="en-US" altLang="zh-CN" sz="2200" dirty="0"/>
          </a:p>
          <a:p>
            <a:pPr lvl="1"/>
            <a:r>
              <a:rPr lang="en-US" altLang="zh-CN" sz="2200" dirty="0"/>
              <a:t>RL</a:t>
            </a:r>
            <a:r>
              <a:rPr lang="zh-CN" altLang="en-US" sz="2200" dirty="0"/>
              <a:t>型：双向旋转，先右后左</a:t>
            </a:r>
            <a:endParaRPr lang="en-US" altLang="zh-CN" sz="2200" dirty="0"/>
          </a:p>
          <a:p>
            <a:pPr lvl="1"/>
            <a:r>
              <a:rPr lang="en-US" altLang="zh-CN" sz="2200" dirty="0"/>
              <a:t>LR</a:t>
            </a:r>
            <a:r>
              <a:rPr lang="zh-CN" altLang="en-US" sz="2200" dirty="0"/>
              <a:t>型：双向旋转，先左后</a:t>
            </a:r>
            <a:r>
              <a:rPr lang="zh-CN" altLang="en-US" sz="2200" dirty="0" smtClean="0"/>
              <a:t>右</a:t>
            </a:r>
            <a:endParaRPr lang="en-US" altLang="zh-CN" sz="2200" dirty="0" smtClean="0"/>
          </a:p>
          <a:p>
            <a:r>
              <a:rPr lang="zh-CN" altLang="en-US" dirty="0" smtClean="0"/>
              <a:t>确定旋转类型时，需要确定失去</a:t>
            </a:r>
            <a:r>
              <a:rPr lang="zh-CN" altLang="en-US" dirty="0"/>
              <a:t>平衡的最高层结点</a:t>
            </a:r>
            <a:endParaRPr lang="en-US" altLang="zh-CN" dirty="0"/>
          </a:p>
          <a:p>
            <a:pPr lvl="1"/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31029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RR Type: Left Rotation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sz="1400" dirty="0"/>
          </a:p>
          <a:p>
            <a:endParaRPr lang="en-US" altLang="zh-CN" dirty="0" smtClean="0"/>
          </a:p>
          <a:p>
            <a:r>
              <a:rPr lang="zh-CN" altLang="en-US" b="1" dirty="0" smtClean="0"/>
              <a:t>结点</a:t>
            </a:r>
            <a:r>
              <a:rPr lang="en-US" altLang="zh-CN" b="1" dirty="0" smtClean="0"/>
              <a:t>A</a:t>
            </a:r>
            <a:r>
              <a:rPr lang="zh-CN" altLang="en-US" b="1" dirty="0" smtClean="0"/>
              <a:t>是插入后失去平衡的最高层结点，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	</a:t>
            </a:r>
            <a:r>
              <a:rPr lang="zh-CN" altLang="en-US" b="1" dirty="0" smtClean="0"/>
              <a:t>插入后</a:t>
            </a:r>
            <a:r>
              <a:rPr lang="en-US" altLang="zh-CN" b="1" dirty="0" smtClean="0"/>
              <a:t>A</a:t>
            </a:r>
            <a:r>
              <a:rPr lang="zh-CN" altLang="en-US" b="1" dirty="0" smtClean="0"/>
              <a:t>的右子树的右子树偏高，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	</a:t>
            </a:r>
            <a:r>
              <a:rPr lang="zh-CN" altLang="en-US" b="1" dirty="0" smtClean="0"/>
              <a:t>则进行左旋转。</a:t>
            </a:r>
          </a:p>
          <a:p>
            <a:endParaRPr lang="zh-CN" altLang="en-US" dirty="0"/>
          </a:p>
        </p:txBody>
      </p:sp>
      <p:grpSp>
        <p:nvGrpSpPr>
          <p:cNvPr id="60" name="组合 59"/>
          <p:cNvGrpSpPr/>
          <p:nvPr/>
        </p:nvGrpSpPr>
        <p:grpSpPr>
          <a:xfrm>
            <a:off x="1868507" y="1011246"/>
            <a:ext cx="8381825" cy="3501715"/>
            <a:chOff x="344506" y="1011245"/>
            <a:chExt cx="8524888" cy="3589330"/>
          </a:xfrm>
        </p:grpSpPr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3179781" y="1065213"/>
              <a:ext cx="3124200" cy="3535362"/>
              <a:chOff x="2016" y="671"/>
              <a:chExt cx="1968" cy="2227"/>
            </a:xfrm>
          </p:grpSpPr>
          <p:sp>
            <p:nvSpPr>
              <p:cNvPr id="5" name="Line 5"/>
              <p:cNvSpPr>
                <a:spLocks noChangeShapeType="1"/>
              </p:cNvSpPr>
              <p:nvPr/>
            </p:nvSpPr>
            <p:spPr bwMode="auto">
              <a:xfrm>
                <a:off x="3072" y="1391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" name="Line 6"/>
              <p:cNvSpPr>
                <a:spLocks noChangeShapeType="1"/>
              </p:cNvSpPr>
              <p:nvPr/>
            </p:nvSpPr>
            <p:spPr bwMode="auto">
              <a:xfrm flipH="1">
                <a:off x="2832" y="1391"/>
                <a:ext cx="240" cy="24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" name="Text Box 7"/>
              <p:cNvSpPr txBox="1">
                <a:spLocks noChangeArrowheads="1"/>
              </p:cNvSpPr>
              <p:nvPr/>
            </p:nvSpPr>
            <p:spPr bwMode="auto">
              <a:xfrm>
                <a:off x="2079" y="2640"/>
                <a:ext cx="1905" cy="2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000" b="1" dirty="0"/>
                  <a:t>(b)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右子树的右子树偏高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Line 8"/>
              <p:cNvSpPr>
                <a:spLocks noChangeShapeType="1"/>
              </p:cNvSpPr>
              <p:nvPr/>
            </p:nvSpPr>
            <p:spPr bwMode="auto">
              <a:xfrm flipH="1">
                <a:off x="2400" y="1103"/>
                <a:ext cx="240" cy="24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2736" y="1631"/>
                <a:ext cx="240" cy="52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3200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2304" y="1295"/>
                <a:ext cx="240" cy="52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3200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2736" y="1055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Oval 12"/>
              <p:cNvSpPr>
                <a:spLocks noChangeArrowheads="1"/>
              </p:cNvSpPr>
              <p:nvPr/>
            </p:nvSpPr>
            <p:spPr bwMode="auto">
              <a:xfrm>
                <a:off x="2928" y="1247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Oval 13"/>
              <p:cNvSpPr>
                <a:spLocks noChangeArrowheads="1"/>
              </p:cNvSpPr>
              <p:nvPr/>
            </p:nvSpPr>
            <p:spPr bwMode="auto">
              <a:xfrm>
                <a:off x="2592" y="911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216" y="1631"/>
                <a:ext cx="240" cy="816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60000"/>
                  </a:lnSpc>
                </a:pPr>
                <a:r>
                  <a:rPr lang="en-US" altLang="zh-CN" sz="3200" b="1" i="1" dirty="0">
                    <a:solidFill>
                      <a:srgbClr val="00B050"/>
                    </a:solidFill>
                  </a:rPr>
                  <a:t>h</a:t>
                </a:r>
              </a:p>
              <a:p>
                <a:pPr algn="ctr">
                  <a:lnSpc>
                    <a:spcPct val="60000"/>
                  </a:lnSpc>
                </a:pPr>
                <a:r>
                  <a:rPr lang="en-US" altLang="zh-CN" sz="3200" b="1" i="1" dirty="0">
                    <a:solidFill>
                      <a:srgbClr val="00B050"/>
                    </a:solidFill>
                  </a:rPr>
                  <a:t>+</a:t>
                </a:r>
              </a:p>
              <a:p>
                <a:pPr algn="ctr">
                  <a:lnSpc>
                    <a:spcPct val="60000"/>
                  </a:lnSpc>
                </a:pPr>
                <a:r>
                  <a:rPr lang="en-US" altLang="zh-CN" sz="3200" b="1" dirty="0">
                    <a:solidFill>
                      <a:srgbClr val="00B050"/>
                    </a:solidFill>
                  </a:rPr>
                  <a:t>1</a:t>
                </a:r>
                <a:endParaRPr lang="en-US" altLang="zh-CN" sz="3200" b="1" i="1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5" name="Text Box 15"/>
              <p:cNvSpPr txBox="1">
                <a:spLocks noChangeArrowheads="1"/>
              </p:cNvSpPr>
              <p:nvPr/>
            </p:nvSpPr>
            <p:spPr bwMode="auto">
              <a:xfrm>
                <a:off x="2016" y="1007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B</a:t>
                </a:r>
                <a:endParaRPr lang="en-US" altLang="zh-CN" sz="2400"/>
              </a:p>
            </p:txBody>
          </p:sp>
          <p:sp>
            <p:nvSpPr>
              <p:cNvPr id="16" name="Text Box 16"/>
              <p:cNvSpPr txBox="1">
                <a:spLocks noChangeArrowheads="1"/>
              </p:cNvSpPr>
              <p:nvPr/>
            </p:nvSpPr>
            <p:spPr bwMode="auto">
              <a:xfrm>
                <a:off x="2819" y="671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A</a:t>
                </a:r>
                <a:endParaRPr lang="en-US" altLang="zh-CN" sz="2400"/>
              </a:p>
            </p:txBody>
          </p:sp>
          <p:sp>
            <p:nvSpPr>
              <p:cNvPr id="17" name="Text Box 17"/>
              <p:cNvSpPr txBox="1">
                <a:spLocks noChangeArrowheads="1"/>
              </p:cNvSpPr>
              <p:nvPr/>
            </p:nvSpPr>
            <p:spPr bwMode="auto">
              <a:xfrm>
                <a:off x="3107" y="1026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C</a:t>
                </a:r>
                <a:endParaRPr lang="en-US" altLang="zh-CN" sz="2400"/>
              </a:p>
            </p:txBody>
          </p:sp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3457" y="1362"/>
                <a:ext cx="294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E</a:t>
                </a:r>
                <a:endParaRPr lang="en-US" altLang="zh-CN" sz="2400"/>
              </a:p>
            </p:txBody>
          </p:sp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2579" y="1314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3399"/>
                    </a:solidFill>
                  </a:rPr>
                  <a:t>D</a:t>
                </a:r>
                <a:endParaRPr lang="en-US" altLang="zh-CN" sz="2400" dirty="0"/>
              </a:p>
            </p:txBody>
          </p:sp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>
                <a:off x="2304" y="719"/>
                <a:ext cx="294" cy="2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4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-2</a:t>
                </a:r>
                <a:endParaRPr lang="en-US" altLang="zh-CN" sz="2400"/>
              </a:p>
            </p:txBody>
          </p:sp>
          <p:sp>
            <p:nvSpPr>
              <p:cNvPr id="21" name="Text Box 21"/>
              <p:cNvSpPr txBox="1">
                <a:spLocks noChangeArrowheads="1"/>
              </p:cNvSpPr>
              <p:nvPr/>
            </p:nvSpPr>
            <p:spPr bwMode="auto">
              <a:xfrm>
                <a:off x="2880" y="985"/>
                <a:ext cx="294" cy="2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4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-1</a:t>
                </a:r>
                <a:endParaRPr lang="en-US" altLang="zh-CN" sz="2400"/>
              </a:p>
            </p:txBody>
          </p:sp>
        </p:grpSp>
        <p:grpSp>
          <p:nvGrpSpPr>
            <p:cNvPr id="22" name="Group 22"/>
            <p:cNvGrpSpPr>
              <a:grpSpLocks/>
            </p:cNvGrpSpPr>
            <p:nvPr/>
          </p:nvGrpSpPr>
          <p:grpSpPr bwMode="auto">
            <a:xfrm>
              <a:off x="344506" y="1095375"/>
              <a:ext cx="2770188" cy="3487738"/>
              <a:chOff x="230" y="690"/>
              <a:chExt cx="1745" cy="2197"/>
            </a:xfrm>
          </p:grpSpPr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1008" y="1103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>
                <a:off x="1344" y="1439"/>
                <a:ext cx="288" cy="288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 flipH="1">
                <a:off x="624" y="1103"/>
                <a:ext cx="240" cy="24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Rectangle 26"/>
              <p:cNvSpPr>
                <a:spLocks noChangeArrowheads="1"/>
              </p:cNvSpPr>
              <p:nvPr/>
            </p:nvSpPr>
            <p:spPr bwMode="auto">
              <a:xfrm>
                <a:off x="528" y="1295"/>
                <a:ext cx="240" cy="52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3200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27" name="Oval 27"/>
              <p:cNvSpPr>
                <a:spLocks noChangeArrowheads="1"/>
              </p:cNvSpPr>
              <p:nvPr/>
            </p:nvSpPr>
            <p:spPr bwMode="auto">
              <a:xfrm>
                <a:off x="816" y="911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 flipH="1">
                <a:off x="960" y="1439"/>
                <a:ext cx="240" cy="240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Oval 29"/>
              <p:cNvSpPr>
                <a:spLocks noChangeArrowheads="1"/>
              </p:cNvSpPr>
              <p:nvPr/>
            </p:nvSpPr>
            <p:spPr bwMode="auto">
              <a:xfrm>
                <a:off x="1152" y="1247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Rectangle 30"/>
              <p:cNvSpPr>
                <a:spLocks noChangeArrowheads="1"/>
              </p:cNvSpPr>
              <p:nvPr/>
            </p:nvSpPr>
            <p:spPr bwMode="auto">
              <a:xfrm>
                <a:off x="912" y="1631"/>
                <a:ext cx="240" cy="52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3200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31" name="Rectangle 31"/>
              <p:cNvSpPr>
                <a:spLocks noChangeArrowheads="1"/>
              </p:cNvSpPr>
              <p:nvPr/>
            </p:nvSpPr>
            <p:spPr bwMode="auto">
              <a:xfrm>
                <a:off x="1440" y="1631"/>
                <a:ext cx="240" cy="528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3200" b="1" i="1" dirty="0">
                    <a:solidFill>
                      <a:srgbClr val="00B050"/>
                    </a:solidFill>
                  </a:rPr>
                  <a:t>h</a:t>
                </a:r>
              </a:p>
            </p:txBody>
          </p:sp>
          <p:sp>
            <p:nvSpPr>
              <p:cNvPr id="32" name="Text Box 32"/>
              <p:cNvSpPr txBox="1">
                <a:spLocks noChangeArrowheads="1"/>
              </p:cNvSpPr>
              <p:nvPr/>
            </p:nvSpPr>
            <p:spPr bwMode="auto">
              <a:xfrm>
                <a:off x="1046" y="690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A</a:t>
                </a:r>
                <a:endParaRPr lang="en-US" altLang="zh-CN" sz="2400"/>
              </a:p>
            </p:txBody>
          </p:sp>
          <p:sp>
            <p:nvSpPr>
              <p:cNvPr id="33" name="Text Box 33"/>
              <p:cNvSpPr txBox="1">
                <a:spLocks noChangeArrowheads="1"/>
              </p:cNvSpPr>
              <p:nvPr/>
            </p:nvSpPr>
            <p:spPr bwMode="auto">
              <a:xfrm>
                <a:off x="1386" y="1038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C</a:t>
                </a:r>
                <a:endParaRPr lang="en-US" altLang="zh-CN" sz="2400"/>
              </a:p>
            </p:txBody>
          </p:sp>
          <p:sp>
            <p:nvSpPr>
              <p:cNvPr id="34" name="Text Box 34"/>
              <p:cNvSpPr txBox="1">
                <a:spLocks noChangeArrowheads="1"/>
              </p:cNvSpPr>
              <p:nvPr/>
            </p:nvSpPr>
            <p:spPr bwMode="auto">
              <a:xfrm>
                <a:off x="1681" y="1362"/>
                <a:ext cx="294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E</a:t>
                </a:r>
                <a:endParaRPr lang="en-US" altLang="zh-CN" sz="2400"/>
              </a:p>
            </p:txBody>
          </p:sp>
          <p:sp>
            <p:nvSpPr>
              <p:cNvPr id="35" name="Text Box 35"/>
              <p:cNvSpPr txBox="1">
                <a:spLocks noChangeArrowheads="1"/>
              </p:cNvSpPr>
              <p:nvPr/>
            </p:nvSpPr>
            <p:spPr bwMode="auto">
              <a:xfrm>
                <a:off x="230" y="1019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B</a:t>
                </a:r>
                <a:endParaRPr lang="en-US" altLang="zh-CN" sz="2400"/>
              </a:p>
            </p:txBody>
          </p:sp>
          <p:sp>
            <p:nvSpPr>
              <p:cNvPr id="36" name="Text Box 36"/>
              <p:cNvSpPr txBox="1">
                <a:spLocks noChangeArrowheads="1"/>
              </p:cNvSpPr>
              <p:nvPr/>
            </p:nvSpPr>
            <p:spPr bwMode="auto">
              <a:xfrm>
                <a:off x="768" y="1314"/>
                <a:ext cx="308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3200" b="1">
                    <a:solidFill>
                      <a:srgbClr val="003399"/>
                    </a:solidFill>
                  </a:rPr>
                  <a:t>D</a:t>
                </a:r>
                <a:endParaRPr lang="en-US" altLang="zh-CN" sz="2400"/>
              </a:p>
            </p:txBody>
          </p:sp>
          <p:sp>
            <p:nvSpPr>
              <p:cNvPr id="37" name="Text Box 37"/>
              <p:cNvSpPr txBox="1">
                <a:spLocks noChangeArrowheads="1"/>
              </p:cNvSpPr>
              <p:nvPr/>
            </p:nvSpPr>
            <p:spPr bwMode="auto">
              <a:xfrm>
                <a:off x="576" y="697"/>
                <a:ext cx="294" cy="2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4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-1</a:t>
                </a:r>
                <a:endParaRPr lang="en-US" altLang="zh-CN" sz="2400"/>
              </a:p>
            </p:txBody>
          </p:sp>
          <p:sp>
            <p:nvSpPr>
              <p:cNvPr id="38" name="Text Box 38"/>
              <p:cNvSpPr txBox="1">
                <a:spLocks noChangeArrowheads="1"/>
              </p:cNvSpPr>
              <p:nvPr/>
            </p:nvSpPr>
            <p:spPr bwMode="auto">
              <a:xfrm>
                <a:off x="1190" y="985"/>
                <a:ext cx="228" cy="2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4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0</a:t>
                </a:r>
                <a:endParaRPr lang="en-US" altLang="zh-CN" sz="2400"/>
              </a:p>
            </p:txBody>
          </p:sp>
          <p:sp>
            <p:nvSpPr>
              <p:cNvPr id="39" name="Rectangle 39"/>
              <p:cNvSpPr>
                <a:spLocks noChangeArrowheads="1"/>
              </p:cNvSpPr>
              <p:nvPr/>
            </p:nvSpPr>
            <p:spPr bwMode="auto">
              <a:xfrm>
                <a:off x="293" y="2649"/>
                <a:ext cx="1572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Arial" pitchFamily="34" charset="0"/>
                  </a:rPr>
                  <a:t>(a)   </a:t>
                </a:r>
                <a:r>
                  <a:rPr lang="zh-CN" altLang="en-US" b="1">
                    <a:latin typeface="Arial" pitchFamily="34" charset="0"/>
                  </a:rPr>
                  <a:t>插入到</a:t>
                </a:r>
                <a:r>
                  <a:rPr lang="en-US" altLang="zh-CN" b="1">
                    <a:latin typeface="Arial" pitchFamily="34" charset="0"/>
                  </a:rPr>
                  <a:t>C</a:t>
                </a:r>
                <a:r>
                  <a:rPr lang="zh-CN" altLang="en-US" b="1">
                    <a:latin typeface="Arial" pitchFamily="34" charset="0"/>
                  </a:rPr>
                  <a:t>的右子树</a:t>
                </a:r>
              </a:p>
            </p:txBody>
          </p:sp>
        </p:grpSp>
        <p:grpSp>
          <p:nvGrpSpPr>
            <p:cNvPr id="40" name="Group 40"/>
            <p:cNvGrpSpPr>
              <a:grpSpLocks/>
            </p:cNvGrpSpPr>
            <p:nvPr/>
          </p:nvGrpSpPr>
          <p:grpSpPr bwMode="auto">
            <a:xfrm>
              <a:off x="6194456" y="1011245"/>
              <a:ext cx="2674938" cy="3570288"/>
              <a:chOff x="3937" y="601"/>
              <a:chExt cx="1685" cy="2249"/>
            </a:xfrm>
          </p:grpSpPr>
          <p:sp>
            <p:nvSpPr>
              <p:cNvPr id="41" name="Text Box 41"/>
              <p:cNvSpPr txBox="1">
                <a:spLocks noChangeArrowheads="1"/>
              </p:cNvSpPr>
              <p:nvPr/>
            </p:nvSpPr>
            <p:spPr bwMode="auto">
              <a:xfrm>
                <a:off x="4886" y="601"/>
                <a:ext cx="228" cy="2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0</a:t>
                </a:r>
              </a:p>
            </p:txBody>
          </p:sp>
          <p:grpSp>
            <p:nvGrpSpPr>
              <p:cNvPr id="42" name="Group 42"/>
              <p:cNvGrpSpPr>
                <a:grpSpLocks/>
              </p:cNvGrpSpPr>
              <p:nvPr/>
            </p:nvGrpSpPr>
            <p:grpSpPr bwMode="auto">
              <a:xfrm>
                <a:off x="3937" y="671"/>
                <a:ext cx="1685" cy="2179"/>
                <a:chOff x="3937" y="671"/>
                <a:chExt cx="1685" cy="2179"/>
              </a:xfrm>
            </p:grpSpPr>
            <p:sp>
              <p:nvSpPr>
                <p:cNvPr id="43" name="Line 43"/>
                <p:cNvSpPr>
                  <a:spLocks noChangeShapeType="1"/>
                </p:cNvSpPr>
                <p:nvPr/>
              </p:nvSpPr>
              <p:spPr bwMode="auto">
                <a:xfrm>
                  <a:off x="4992" y="1055"/>
                  <a:ext cx="288" cy="288"/>
                </a:xfrm>
                <a:prstGeom prst="line">
                  <a:avLst/>
                </a:prstGeom>
                <a:noFill/>
                <a:ln w="2857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4656" y="1103"/>
                  <a:ext cx="240" cy="240"/>
                </a:xfrm>
                <a:prstGeom prst="line">
                  <a:avLst/>
                </a:prstGeom>
                <a:noFill/>
                <a:ln w="2857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Oval 45"/>
                <p:cNvSpPr>
                  <a:spLocks noChangeArrowheads="1"/>
                </p:cNvSpPr>
                <p:nvPr/>
              </p:nvSpPr>
              <p:spPr bwMode="auto">
                <a:xfrm>
                  <a:off x="4512" y="1247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Oval 46"/>
                <p:cNvSpPr>
                  <a:spLocks noChangeArrowheads="1"/>
                </p:cNvSpPr>
                <p:nvPr/>
              </p:nvSpPr>
              <p:spPr bwMode="auto">
                <a:xfrm>
                  <a:off x="4848" y="911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4320" y="1439"/>
                  <a:ext cx="240" cy="240"/>
                </a:xfrm>
                <a:prstGeom prst="line">
                  <a:avLst/>
                </a:prstGeom>
                <a:noFill/>
                <a:ln w="2857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Rectangle 48"/>
                <p:cNvSpPr>
                  <a:spLocks noChangeArrowheads="1"/>
                </p:cNvSpPr>
                <p:nvPr/>
              </p:nvSpPr>
              <p:spPr bwMode="auto">
                <a:xfrm>
                  <a:off x="4224" y="1631"/>
                  <a:ext cx="240" cy="528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3200" b="1" i="1" dirty="0">
                      <a:solidFill>
                        <a:srgbClr val="00B050"/>
                      </a:solidFill>
                    </a:rPr>
                    <a:t>h</a:t>
                  </a:r>
                </a:p>
              </p:txBody>
            </p:sp>
            <p:sp>
              <p:nvSpPr>
                <p:cNvPr id="49" name="Line 49"/>
                <p:cNvSpPr>
                  <a:spLocks noChangeShapeType="1"/>
                </p:cNvSpPr>
                <p:nvPr/>
              </p:nvSpPr>
              <p:spPr bwMode="auto">
                <a:xfrm>
                  <a:off x="4704" y="1439"/>
                  <a:ext cx="288" cy="288"/>
                </a:xfrm>
                <a:prstGeom prst="line">
                  <a:avLst/>
                </a:prstGeom>
                <a:noFill/>
                <a:ln w="28575">
                  <a:solidFill>
                    <a:srgbClr val="008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Rectangle 50"/>
                <p:cNvSpPr>
                  <a:spLocks noChangeArrowheads="1"/>
                </p:cNvSpPr>
                <p:nvPr/>
              </p:nvSpPr>
              <p:spPr bwMode="auto">
                <a:xfrm>
                  <a:off x="4752" y="1631"/>
                  <a:ext cx="240" cy="528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sz="3200" b="1" i="1" dirty="0">
                      <a:solidFill>
                        <a:srgbClr val="00B050"/>
                      </a:solidFill>
                    </a:rPr>
                    <a:t>h</a:t>
                  </a:r>
                </a:p>
              </p:txBody>
            </p:sp>
            <p:sp>
              <p:nvSpPr>
                <p:cNvPr id="51" name="Rectangle 51"/>
                <p:cNvSpPr>
                  <a:spLocks noChangeArrowheads="1"/>
                </p:cNvSpPr>
                <p:nvPr/>
              </p:nvSpPr>
              <p:spPr bwMode="auto">
                <a:xfrm>
                  <a:off x="5232" y="1343"/>
                  <a:ext cx="240" cy="816"/>
                </a:xfrm>
                <a:prstGeom prst="rect">
                  <a:avLst/>
                </a:prstGeom>
                <a:solidFill>
                  <a:schemeClr val="accent1"/>
                </a:solidFill>
                <a:ln w="28575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60000"/>
                    </a:lnSpc>
                  </a:pPr>
                  <a:r>
                    <a:rPr lang="en-US" altLang="zh-CN" sz="3200" b="1" i="1" dirty="0">
                      <a:solidFill>
                        <a:srgbClr val="00B050"/>
                      </a:solidFill>
                    </a:rPr>
                    <a:t>h</a:t>
                  </a:r>
                </a:p>
                <a:p>
                  <a:pPr algn="ctr">
                    <a:lnSpc>
                      <a:spcPct val="60000"/>
                    </a:lnSpc>
                  </a:pPr>
                  <a:r>
                    <a:rPr lang="en-US" altLang="zh-CN" sz="3200" b="1" i="1" dirty="0">
                      <a:solidFill>
                        <a:srgbClr val="00B050"/>
                      </a:solidFill>
                    </a:rPr>
                    <a:t>+</a:t>
                  </a:r>
                </a:p>
                <a:p>
                  <a:pPr algn="ctr">
                    <a:lnSpc>
                      <a:spcPct val="60000"/>
                    </a:lnSpc>
                  </a:pPr>
                  <a:r>
                    <a:rPr lang="en-US" altLang="zh-CN" sz="3200" b="1" dirty="0">
                      <a:solidFill>
                        <a:srgbClr val="00B050"/>
                      </a:solidFill>
                    </a:rPr>
                    <a:t>1</a:t>
                  </a:r>
                  <a:endParaRPr lang="en-US" altLang="zh-CN" sz="3200" b="1" i="1" dirty="0">
                    <a:solidFill>
                      <a:srgbClr val="00B050"/>
                    </a:solidFill>
                  </a:endParaRPr>
                </a:p>
              </p:txBody>
            </p:sp>
            <p:sp>
              <p:nvSpPr>
                <p:cNvPr id="52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4608" y="671"/>
                  <a:ext cx="308" cy="3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3200" b="1">
                      <a:solidFill>
                        <a:srgbClr val="003399"/>
                      </a:solidFill>
                    </a:rPr>
                    <a:t>C</a:t>
                  </a:r>
                  <a:endParaRPr lang="en-US" altLang="zh-CN" sz="2400"/>
                </a:p>
              </p:txBody>
            </p:sp>
            <p:sp>
              <p:nvSpPr>
                <p:cNvPr id="53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5328" y="768"/>
                  <a:ext cx="294" cy="3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3200" b="1">
                      <a:solidFill>
                        <a:srgbClr val="003399"/>
                      </a:solidFill>
                    </a:rPr>
                    <a:t>E</a:t>
                  </a:r>
                  <a:endParaRPr lang="en-US" altLang="zh-CN" sz="2400"/>
                </a:p>
              </p:txBody>
            </p:sp>
            <p:sp>
              <p:nvSpPr>
                <p:cNvPr id="54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224" y="1026"/>
                  <a:ext cx="308" cy="3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3200" b="1">
                      <a:solidFill>
                        <a:srgbClr val="003399"/>
                      </a:solidFill>
                    </a:rPr>
                    <a:t>A</a:t>
                  </a:r>
                  <a:endParaRPr lang="en-US" altLang="zh-CN" sz="2400"/>
                </a:p>
              </p:txBody>
            </p:sp>
            <p:sp>
              <p:nvSpPr>
                <p:cNvPr id="55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937" y="1410"/>
                  <a:ext cx="308" cy="3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3200" b="1">
                      <a:solidFill>
                        <a:srgbClr val="003399"/>
                      </a:solidFill>
                    </a:rPr>
                    <a:t>B</a:t>
                  </a:r>
                  <a:endParaRPr lang="en-US" altLang="zh-CN" sz="2400"/>
                </a:p>
              </p:txBody>
            </p:sp>
            <p:sp>
              <p:nvSpPr>
                <p:cNvPr id="56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4931" y="1314"/>
                  <a:ext cx="308" cy="3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3200" b="1">
                      <a:solidFill>
                        <a:srgbClr val="003399"/>
                      </a:solidFill>
                    </a:rPr>
                    <a:t>D</a:t>
                  </a:r>
                  <a:endParaRPr lang="en-US" altLang="zh-CN" sz="2400"/>
                </a:p>
              </p:txBody>
            </p:sp>
            <p:sp>
              <p:nvSpPr>
                <p:cNvPr id="57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4502" y="985"/>
                  <a:ext cx="228" cy="2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>
                      <a:solidFill>
                        <a:srgbClr val="FF33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</a:rPr>
                    <a:t>0</a:t>
                  </a:r>
                  <a:endParaRPr lang="en-US" altLang="zh-CN" sz="2400"/>
                </a:p>
              </p:txBody>
            </p:sp>
            <p:sp>
              <p:nvSpPr>
                <p:cNvPr id="58" name="Rectangle 58"/>
                <p:cNvSpPr>
                  <a:spLocks noChangeArrowheads="1"/>
                </p:cNvSpPr>
                <p:nvPr/>
              </p:nvSpPr>
              <p:spPr bwMode="auto">
                <a:xfrm>
                  <a:off x="4464" y="2592"/>
                  <a:ext cx="816" cy="25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 dirty="0">
                      <a:latin typeface="Arial" pitchFamily="34" charset="0"/>
                    </a:rPr>
                    <a:t>(c)</a:t>
                  </a:r>
                  <a:r>
                    <a:rPr lang="zh-CN" altLang="en-US" sz="2000" b="1" dirty="0">
                      <a:latin typeface="Arial" pitchFamily="34" charset="0"/>
                    </a:rPr>
                    <a:t>左旋转</a:t>
                  </a:r>
                  <a:r>
                    <a:rPr lang="zh-CN" altLang="en-US" sz="2000" dirty="0">
                      <a:latin typeface="Arial" pitchFamily="34" charset="0"/>
                    </a:rPr>
                    <a:t> </a:t>
                  </a:r>
                </a:p>
              </p:txBody>
            </p:sp>
          </p:grpSp>
        </p:grp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39140" y="4714884"/>
            <a:ext cx="1500198" cy="1735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3771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LL Type: Right Rotation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b="1" dirty="0" smtClean="0"/>
              <a:t>结点</a:t>
            </a:r>
            <a:r>
              <a:rPr lang="en-US" altLang="zh-CN" b="1" dirty="0" smtClean="0"/>
              <a:t>A</a:t>
            </a:r>
            <a:r>
              <a:rPr lang="zh-CN" altLang="en-US" b="1" dirty="0" smtClean="0"/>
              <a:t>是插入后失去平衡的最高层结点，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	</a:t>
            </a:r>
            <a:r>
              <a:rPr lang="zh-CN" altLang="en-US" b="1" dirty="0" smtClean="0"/>
              <a:t>插入后</a:t>
            </a:r>
            <a:r>
              <a:rPr lang="en-US" altLang="zh-CN" b="1" dirty="0" smtClean="0"/>
              <a:t>A</a:t>
            </a:r>
            <a:r>
              <a:rPr lang="zh-CN" altLang="en-US" b="1" dirty="0" smtClean="0"/>
              <a:t>的左子树的左子树偏高，</a:t>
            </a: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	</a:t>
            </a:r>
            <a:r>
              <a:rPr lang="zh-CN" altLang="en-US" b="1" dirty="0" smtClean="0"/>
              <a:t>则进行右旋转。</a:t>
            </a:r>
          </a:p>
          <a:p>
            <a:endParaRPr lang="zh-CN" altLang="en-US" dirty="0"/>
          </a:p>
        </p:txBody>
      </p:sp>
      <p:grpSp>
        <p:nvGrpSpPr>
          <p:cNvPr id="53" name="组合 52"/>
          <p:cNvGrpSpPr/>
          <p:nvPr/>
        </p:nvGrpSpPr>
        <p:grpSpPr>
          <a:xfrm>
            <a:off x="1846264" y="1000109"/>
            <a:ext cx="8607455" cy="3175487"/>
            <a:chOff x="250825" y="1268413"/>
            <a:chExt cx="8893175" cy="3296694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4813300" y="2014538"/>
              <a:ext cx="457200" cy="4572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H="1">
              <a:off x="3594100" y="2547938"/>
              <a:ext cx="381000" cy="3810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1460500" y="2547938"/>
              <a:ext cx="457200" cy="4572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917700" y="1938338"/>
              <a:ext cx="457200" cy="4572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H="1">
              <a:off x="1460500" y="1938338"/>
              <a:ext cx="381000" cy="3810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222500" y="2319338"/>
              <a:ext cx="381000" cy="838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200" b="1" i="1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1689100" y="170973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H="1">
              <a:off x="774700" y="2547938"/>
              <a:ext cx="381000" cy="3810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1155700" y="224313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622300" y="2852738"/>
              <a:ext cx="381000" cy="838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12900" y="2852738"/>
              <a:ext cx="381000" cy="838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1231900" y="1358900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A</a:t>
              </a:r>
              <a:endParaRPr lang="en-US" altLang="zh-CN" sz="2400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2354263" y="1785938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C</a:t>
              </a:r>
              <a:endParaRPr lang="en-US" altLang="zh-CN" sz="2400"/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1765300" y="2319338"/>
              <a:ext cx="474009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E</a:t>
              </a:r>
              <a:endParaRPr lang="en-US" altLang="zh-CN" sz="2400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74700" y="1881188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B</a:t>
              </a:r>
              <a:endParaRPr lang="en-US" altLang="zh-CN" sz="2400"/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296863" y="2349500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D</a:t>
              </a:r>
              <a:endParaRPr lang="en-US" altLang="zh-CN" sz="2400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H="1">
              <a:off x="4203700" y="2014538"/>
              <a:ext cx="381000" cy="3810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5041900" y="2319338"/>
              <a:ext cx="381000" cy="838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279900" y="2547938"/>
              <a:ext cx="457200" cy="4572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3975100" y="224313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4508500" y="170973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3441700" y="2852738"/>
              <a:ext cx="381000" cy="12954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60000"/>
                </a:lnSpc>
              </a:pPr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  <a:p>
              <a:pPr algn="ctr">
                <a:lnSpc>
                  <a:spcPct val="60000"/>
                </a:lnSpc>
              </a:pPr>
              <a:r>
                <a:rPr lang="en-US" altLang="zh-CN" sz="3200" b="1" i="1" dirty="0">
                  <a:solidFill>
                    <a:srgbClr val="00B050"/>
                  </a:solidFill>
                </a:rPr>
                <a:t>+</a:t>
              </a:r>
            </a:p>
            <a:p>
              <a:pPr algn="ctr">
                <a:lnSpc>
                  <a:spcPct val="60000"/>
                </a:lnSpc>
              </a:pPr>
              <a:r>
                <a:rPr lang="en-US" altLang="zh-CN" sz="3200" b="1" dirty="0">
                  <a:solidFill>
                    <a:srgbClr val="00B050"/>
                  </a:solidFill>
                </a:rPr>
                <a:t>1</a:t>
              </a:r>
              <a:endParaRPr lang="en-US" altLang="zh-CN" sz="3200" b="1" i="1" dirty="0">
                <a:solidFill>
                  <a:srgbClr val="00B050"/>
                </a:solidFill>
              </a:endParaRP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3594100" y="1862138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B</a:t>
              </a:r>
              <a:endParaRPr lang="en-US" altLang="zh-CN" sz="2400"/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4106863" y="1328738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A</a:t>
              </a:r>
              <a:endParaRPr lang="en-US" altLang="zh-CN" sz="2400"/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5173663" y="1785938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C</a:t>
              </a:r>
              <a:endParaRPr lang="en-US" altLang="zh-CN" sz="2400"/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4508500" y="2319338"/>
              <a:ext cx="474009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E</a:t>
              </a:r>
              <a:endParaRPr lang="en-US" altLang="zh-CN" sz="2400"/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3060700" y="2349500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D</a:t>
              </a:r>
              <a:endParaRPr lang="en-US" altLang="zh-CN" sz="2400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>
              <a:off x="7251700" y="1938338"/>
              <a:ext cx="457200" cy="4572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>
              <a:off x="6718300" y="1938338"/>
              <a:ext cx="457200" cy="4572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7556500" y="224313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7023100" y="1709738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 flipH="1">
              <a:off x="7251700" y="2547938"/>
              <a:ext cx="381000" cy="3810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7175500" y="2852738"/>
              <a:ext cx="381000" cy="838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7861300" y="2547938"/>
              <a:ext cx="457200" cy="45720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Rectangle 38"/>
            <p:cNvSpPr>
              <a:spLocks noChangeArrowheads="1"/>
            </p:cNvSpPr>
            <p:nvPr/>
          </p:nvSpPr>
          <p:spPr bwMode="auto">
            <a:xfrm>
              <a:off x="8089900" y="2852738"/>
              <a:ext cx="381000" cy="838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39" name="Rectangle 39"/>
            <p:cNvSpPr>
              <a:spLocks noChangeArrowheads="1"/>
            </p:cNvSpPr>
            <p:nvPr/>
          </p:nvSpPr>
          <p:spPr bwMode="auto">
            <a:xfrm>
              <a:off x="6489700" y="2395538"/>
              <a:ext cx="381000" cy="12954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60000"/>
                </a:lnSpc>
              </a:pPr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  <a:p>
              <a:pPr algn="ctr">
                <a:lnSpc>
                  <a:spcPct val="60000"/>
                </a:lnSpc>
              </a:pPr>
              <a:r>
                <a:rPr lang="en-US" altLang="zh-CN" sz="3200" b="1" i="1" dirty="0">
                  <a:solidFill>
                    <a:srgbClr val="00B050"/>
                  </a:solidFill>
                </a:rPr>
                <a:t>+</a:t>
              </a:r>
            </a:p>
            <a:p>
              <a:pPr algn="ctr">
                <a:lnSpc>
                  <a:spcPct val="60000"/>
                </a:lnSpc>
              </a:pPr>
              <a:r>
                <a:rPr lang="en-US" altLang="zh-CN" sz="3200" b="1" dirty="0">
                  <a:solidFill>
                    <a:srgbClr val="00B050"/>
                  </a:solidFill>
                </a:rPr>
                <a:t>1</a:t>
              </a:r>
              <a:endParaRPr lang="en-US" altLang="zh-CN" sz="3200" b="1" i="1" dirty="0">
                <a:solidFill>
                  <a:srgbClr val="00B050"/>
                </a:solidFill>
              </a:endParaRPr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8297863" y="2319338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C</a:t>
              </a:r>
              <a:endParaRPr lang="en-US" altLang="zh-CN" sz="2400"/>
            </a:p>
          </p:txBody>
        </p:sp>
        <p:sp>
          <p:nvSpPr>
            <p:cNvPr id="41" name="Text Box 41"/>
            <p:cNvSpPr txBox="1">
              <a:spLocks noChangeArrowheads="1"/>
            </p:cNvSpPr>
            <p:nvPr/>
          </p:nvSpPr>
          <p:spPr bwMode="auto">
            <a:xfrm>
              <a:off x="7023100" y="2319338"/>
              <a:ext cx="474009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E</a:t>
              </a:r>
              <a:endParaRPr lang="en-US" altLang="zh-CN" sz="2400"/>
            </a:p>
          </p:txBody>
        </p:sp>
        <p:sp>
          <p:nvSpPr>
            <p:cNvPr id="42" name="Text Box 42"/>
            <p:cNvSpPr txBox="1">
              <a:spLocks noChangeArrowheads="1"/>
            </p:cNvSpPr>
            <p:nvPr/>
          </p:nvSpPr>
          <p:spPr bwMode="auto">
            <a:xfrm>
              <a:off x="7916863" y="1892300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A</a:t>
              </a:r>
              <a:endParaRPr lang="en-US" altLang="zh-CN" sz="2400"/>
            </a:p>
          </p:txBody>
        </p:sp>
        <p:sp>
          <p:nvSpPr>
            <p:cNvPr id="43" name="Text Box 43"/>
            <p:cNvSpPr txBox="1">
              <a:spLocks noChangeArrowheads="1"/>
            </p:cNvSpPr>
            <p:nvPr/>
          </p:nvSpPr>
          <p:spPr bwMode="auto">
            <a:xfrm>
              <a:off x="7405689" y="1404939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B</a:t>
              </a:r>
              <a:endParaRPr lang="en-US" altLang="zh-CN" sz="2400"/>
            </a:p>
          </p:txBody>
        </p:sp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6184900" y="1862138"/>
              <a:ext cx="497196" cy="6070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3399"/>
                  </a:solidFill>
                </a:rPr>
                <a:t>D</a:t>
              </a:r>
              <a:endParaRPr lang="en-US" altLang="zh-CN" sz="2400"/>
            </a:p>
          </p:txBody>
        </p:sp>
        <p:sp>
          <p:nvSpPr>
            <p:cNvPr id="45" name="Rectangle 45"/>
            <p:cNvSpPr>
              <a:spLocks noChangeArrowheads="1"/>
            </p:cNvSpPr>
            <p:nvPr/>
          </p:nvSpPr>
          <p:spPr bwMode="auto">
            <a:xfrm>
              <a:off x="4356100" y="2852738"/>
              <a:ext cx="381000" cy="8382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3200" b="1" i="1" dirty="0">
                  <a:solidFill>
                    <a:srgbClr val="00B050"/>
                  </a:solidFill>
                </a:rPr>
                <a:t>h</a:t>
              </a:r>
            </a:p>
          </p:txBody>
        </p:sp>
        <p:sp>
          <p:nvSpPr>
            <p:cNvPr id="46" name="Text Box 46"/>
            <p:cNvSpPr txBox="1">
              <a:spLocks noChangeArrowheads="1"/>
            </p:cNvSpPr>
            <p:nvPr/>
          </p:nvSpPr>
          <p:spPr bwMode="auto">
            <a:xfrm>
              <a:off x="7616825" y="1827213"/>
              <a:ext cx="368011" cy="47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47" name="Text Box 47"/>
            <p:cNvSpPr txBox="1">
              <a:spLocks noChangeArrowheads="1"/>
            </p:cNvSpPr>
            <p:nvPr/>
          </p:nvSpPr>
          <p:spPr bwMode="auto">
            <a:xfrm>
              <a:off x="1216025" y="1827213"/>
              <a:ext cx="368011" cy="47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48" name="Text Box 48"/>
            <p:cNvSpPr txBox="1">
              <a:spLocks noChangeArrowheads="1"/>
            </p:cNvSpPr>
            <p:nvPr/>
          </p:nvSpPr>
          <p:spPr bwMode="auto">
            <a:xfrm>
              <a:off x="3975100" y="1827213"/>
              <a:ext cx="368011" cy="47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49" name="Text Box 49"/>
            <p:cNvSpPr txBox="1">
              <a:spLocks noChangeArrowheads="1"/>
            </p:cNvSpPr>
            <p:nvPr/>
          </p:nvSpPr>
          <p:spPr bwMode="auto">
            <a:xfrm>
              <a:off x="4568825" y="1328738"/>
              <a:ext cx="368011" cy="47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sz="2400"/>
            </a:p>
          </p:txBody>
        </p:sp>
        <p:sp>
          <p:nvSpPr>
            <p:cNvPr id="50" name="Text Box 50"/>
            <p:cNvSpPr txBox="1">
              <a:spLocks noChangeArrowheads="1"/>
            </p:cNvSpPr>
            <p:nvPr/>
          </p:nvSpPr>
          <p:spPr bwMode="auto">
            <a:xfrm>
              <a:off x="1979612" y="1341438"/>
              <a:ext cx="368011" cy="47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2400"/>
            </a:p>
          </p:txBody>
        </p:sp>
        <p:sp>
          <p:nvSpPr>
            <p:cNvPr id="51" name="Text Box 51"/>
            <p:cNvSpPr txBox="1">
              <a:spLocks noChangeArrowheads="1"/>
            </p:cNvSpPr>
            <p:nvPr/>
          </p:nvSpPr>
          <p:spPr bwMode="auto">
            <a:xfrm>
              <a:off x="7092950" y="1268413"/>
              <a:ext cx="368011" cy="47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2400"/>
            </a:p>
          </p:txBody>
        </p:sp>
        <p:sp>
          <p:nvSpPr>
            <p:cNvPr id="52" name="Text Box 52"/>
            <p:cNvSpPr txBox="1">
              <a:spLocks noChangeArrowheads="1"/>
            </p:cNvSpPr>
            <p:nvPr/>
          </p:nvSpPr>
          <p:spPr bwMode="auto">
            <a:xfrm>
              <a:off x="250825" y="4149725"/>
              <a:ext cx="8893175" cy="415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000" b="1"/>
                <a:t>(a)   </a:t>
              </a:r>
              <a:r>
                <a:rPr lang="zh-CN" altLang="en-US" sz="2000" b="1"/>
                <a:t>插入到</a:t>
              </a:r>
              <a:r>
                <a:rPr lang="en-US" altLang="zh-CN" sz="2000" b="1"/>
                <a:t>B</a:t>
              </a:r>
              <a:r>
                <a:rPr lang="zh-CN" altLang="en-US" sz="2000" b="1"/>
                <a:t>的左子树        </a:t>
              </a:r>
              <a:r>
                <a:rPr lang="en-US" altLang="zh-CN" sz="2000" b="1"/>
                <a:t>(b)</a:t>
              </a:r>
              <a:r>
                <a:rPr lang="zh-CN" altLang="en-US" sz="2000" b="1">
                  <a:solidFill>
                    <a:srgbClr val="FF0000"/>
                  </a:solidFill>
                </a:rPr>
                <a:t>左子树的左子树偏高              </a:t>
              </a:r>
              <a:r>
                <a:rPr lang="en-US" altLang="zh-CN" sz="2000" b="1"/>
                <a:t>(c)</a:t>
              </a:r>
              <a:r>
                <a:rPr lang="zh-CN" altLang="en-US" sz="2000" b="1"/>
                <a:t>右旋转 </a:t>
              </a:r>
              <a:endParaRPr lang="zh-CN" altLang="en-US" sz="2000"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39140" y="4500570"/>
            <a:ext cx="1500198" cy="1752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6234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RL Type: Double Rotation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750" y="908051"/>
            <a:ext cx="2363788" cy="288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5869" y="928670"/>
            <a:ext cx="2219325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09918" y="3644900"/>
            <a:ext cx="24765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96066" y="3716339"/>
            <a:ext cx="262890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7524761" y="928670"/>
            <a:ext cx="1439863" cy="1285884"/>
          </a:xfrm>
          <a:prstGeom prst="wedgeRoundRectCallout">
            <a:avLst>
              <a:gd name="adj1" fmla="val -86273"/>
              <a:gd name="adj2" fmla="val -2412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dirty="0">
                <a:latin typeface="Arial" pitchFamily="34" charset="0"/>
              </a:rPr>
              <a:t>插入后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</a:rPr>
              <a:t>右子树的左子树</a:t>
            </a:r>
            <a:r>
              <a:rPr lang="zh-CN" altLang="en-US" dirty="0">
                <a:latin typeface="Arial" pitchFamily="34" charset="0"/>
              </a:rPr>
              <a:t>偏高</a:t>
            </a:r>
            <a:r>
              <a:rPr lang="en-US" altLang="zh-CN" dirty="0">
                <a:latin typeface="Arial" pitchFamily="34" charset="0"/>
              </a:rPr>
              <a:t>,</a:t>
            </a:r>
            <a:r>
              <a:rPr lang="zh-CN" altLang="en-US" dirty="0">
                <a:latin typeface="Arial" pitchFamily="34" charset="0"/>
              </a:rPr>
              <a:t>先右旋转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1881159" y="5286388"/>
            <a:ext cx="1152525" cy="431800"/>
          </a:xfrm>
          <a:prstGeom prst="wedgeRoundRectCallout">
            <a:avLst>
              <a:gd name="adj1" fmla="val 71109"/>
              <a:gd name="adj2" fmla="val -135371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dirty="0">
                <a:latin typeface="Arial" pitchFamily="34" charset="0"/>
              </a:rPr>
              <a:t>再左旋转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667769" y="2285992"/>
            <a:ext cx="1514481" cy="173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6171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LR Type: Double Rotation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2314" y="1052514"/>
            <a:ext cx="21621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67034" y="3686196"/>
            <a:ext cx="248602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38943" y="3838598"/>
            <a:ext cx="271462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7881950" y="928671"/>
            <a:ext cx="1439862" cy="1231893"/>
          </a:xfrm>
          <a:prstGeom prst="wedgeRoundRectCallout">
            <a:avLst>
              <a:gd name="adj1" fmla="val -91636"/>
              <a:gd name="adj2" fmla="val 22263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dirty="0">
                <a:latin typeface="Arial" pitchFamily="34" charset="0"/>
              </a:rPr>
              <a:t>插入后</a:t>
            </a:r>
            <a:r>
              <a:rPr lang="zh-CN" altLang="en-US" dirty="0">
                <a:solidFill>
                  <a:srgbClr val="FF0000"/>
                </a:solidFill>
                <a:latin typeface="Arial" pitchFamily="34" charset="0"/>
              </a:rPr>
              <a:t>左子树的右子树</a:t>
            </a:r>
            <a:r>
              <a:rPr lang="zh-CN" altLang="en-US" dirty="0">
                <a:latin typeface="Arial" pitchFamily="34" charset="0"/>
              </a:rPr>
              <a:t>偏高，先左旋转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381621" y="5711844"/>
            <a:ext cx="1152525" cy="431800"/>
          </a:xfrm>
          <a:prstGeom prst="wedgeRoundRectCallout">
            <a:avLst>
              <a:gd name="adj1" fmla="val -88019"/>
              <a:gd name="adj2" fmla="val -105148"/>
              <a:gd name="adj3" fmla="val 16667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dirty="0">
                <a:latin typeface="Arial" pitchFamily="34" charset="0"/>
              </a:rPr>
              <a:t>再右旋转</a:t>
            </a:r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24431" y="928670"/>
            <a:ext cx="2181225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739206" y="2214554"/>
            <a:ext cx="1643074" cy="1872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2297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 AVL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输入关键码序列为 </a:t>
            </a:r>
            <a:r>
              <a:rPr lang="en-US" altLang="zh-CN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{ 16, 3, 7, 11, 9, 26, 18, 14, 15 }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，插入和调整过程如下。</a:t>
            </a:r>
            <a:endParaRPr lang="zh-CN" altLang="en-US" dirty="0"/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881190" y="1857364"/>
            <a:ext cx="8534182" cy="4595834"/>
            <a:chOff x="0" y="1905000"/>
            <a:chExt cx="8889545" cy="4953000"/>
          </a:xfrm>
        </p:grpSpPr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2753236" y="2828878"/>
              <a:ext cx="33655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77" name="Text Box 76"/>
            <p:cNvSpPr txBox="1">
              <a:spLocks noChangeArrowheads="1"/>
            </p:cNvSpPr>
            <p:nvPr/>
          </p:nvSpPr>
          <p:spPr bwMode="auto">
            <a:xfrm>
              <a:off x="901245" y="3911474"/>
              <a:ext cx="477884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-2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017435" y="2100365"/>
              <a:ext cx="512563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  <a:endParaRPr lang="en-US" altLang="zh-CN" sz="2400" dirty="0"/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 flipH="1">
              <a:off x="3810000" y="472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14478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048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1143000" y="2286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838200" y="259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25908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2286000" y="2286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981200" y="259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900113" y="2060575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362200" y="29718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2590800" y="3276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bg2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18" name="AutoShape 17"/>
            <p:cNvSpPr>
              <a:spLocks noChangeArrowheads="1"/>
            </p:cNvSpPr>
            <p:nvPr/>
          </p:nvSpPr>
          <p:spPr bwMode="auto">
            <a:xfrm>
              <a:off x="3200400" y="2667000"/>
              <a:ext cx="1219200" cy="228600"/>
            </a:xfrm>
            <a:prstGeom prst="rightArrow">
              <a:avLst>
                <a:gd name="adj1" fmla="val 50000"/>
                <a:gd name="adj2" fmla="val 1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3124200" y="2133600"/>
              <a:ext cx="1264336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LR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旋转</a:t>
              </a:r>
              <a:endParaRPr lang="zh-CN" altLang="en-US" sz="2400" dirty="0"/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52578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572000" y="259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H="1">
              <a:off x="4953000" y="2286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5638800" y="2286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3"/>
            <p:cNvSpPr>
              <a:spLocks noChangeArrowheads="1"/>
            </p:cNvSpPr>
            <p:nvPr/>
          </p:nvSpPr>
          <p:spPr bwMode="auto">
            <a:xfrm>
              <a:off x="5867400" y="259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4632325" y="2058980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5927725" y="2058980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73914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>
              <a:off x="7086600" y="2286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28"/>
            <p:cNvSpPr>
              <a:spLocks noChangeArrowheads="1"/>
            </p:cNvSpPr>
            <p:nvPr/>
          </p:nvSpPr>
          <p:spPr bwMode="auto">
            <a:xfrm>
              <a:off x="6705600" y="259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7772400" y="2286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flipH="1">
              <a:off x="7772400" y="29718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7391400" y="3276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>
              <a:off x="7451725" y="2756627"/>
              <a:ext cx="33655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8213725" y="2174875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609600" y="4343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H="1">
              <a:off x="304800" y="472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0" y="502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990600" y="472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Oval 38"/>
            <p:cNvSpPr>
              <a:spLocks noChangeArrowheads="1"/>
            </p:cNvSpPr>
            <p:nvPr/>
          </p:nvSpPr>
          <p:spPr bwMode="auto">
            <a:xfrm>
              <a:off x="1295400" y="502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40" name="Oval 39"/>
            <p:cNvSpPr>
              <a:spLocks noChangeArrowheads="1"/>
            </p:cNvSpPr>
            <p:nvPr/>
          </p:nvSpPr>
          <p:spPr bwMode="auto">
            <a:xfrm>
              <a:off x="8001000" y="259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flipH="1">
              <a:off x="914400" y="54102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609600" y="571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 flipH="1">
              <a:off x="228600" y="60960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0" y="6324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  <a:ea typeface="MS Hei"/>
                  <a:cs typeface="MS Hei"/>
                </a:rPr>
                <a:t>9</a:t>
              </a:r>
              <a:endParaRPr lang="en-US" altLang="zh-CN" sz="2400"/>
            </a:p>
          </p:txBody>
        </p:sp>
        <p:sp>
          <p:nvSpPr>
            <p:cNvPr id="45" name="Text Box 44"/>
            <p:cNvSpPr txBox="1">
              <a:spLocks noChangeArrowheads="1"/>
            </p:cNvSpPr>
            <p:nvPr/>
          </p:nvSpPr>
          <p:spPr bwMode="auto">
            <a:xfrm>
              <a:off x="60324" y="5908675"/>
              <a:ext cx="371020" cy="497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669924" y="5215562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47" name="Text Box 46"/>
            <p:cNvSpPr txBox="1">
              <a:spLocks noChangeArrowheads="1"/>
            </p:cNvSpPr>
            <p:nvPr/>
          </p:nvSpPr>
          <p:spPr bwMode="auto">
            <a:xfrm>
              <a:off x="1476375" y="4522654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48" name="AutoShape 47"/>
            <p:cNvSpPr>
              <a:spLocks noChangeArrowheads="1"/>
            </p:cNvSpPr>
            <p:nvPr/>
          </p:nvSpPr>
          <p:spPr bwMode="auto">
            <a:xfrm>
              <a:off x="1981200" y="5486400"/>
              <a:ext cx="1219200" cy="228600"/>
            </a:xfrm>
            <a:prstGeom prst="rightArrow">
              <a:avLst>
                <a:gd name="adj1" fmla="val 50000"/>
                <a:gd name="adj2" fmla="val 1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Text Box 48"/>
            <p:cNvSpPr txBox="1">
              <a:spLocks noChangeArrowheads="1"/>
            </p:cNvSpPr>
            <p:nvPr/>
          </p:nvSpPr>
          <p:spPr bwMode="auto">
            <a:xfrm>
              <a:off x="1965325" y="4972050"/>
              <a:ext cx="1227602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LL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旋转</a:t>
              </a:r>
              <a:endParaRPr lang="zh-CN" altLang="en-US" sz="2400" dirty="0"/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>
              <a:off x="3505200" y="502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51" name="Line 50"/>
            <p:cNvSpPr>
              <a:spLocks noChangeShapeType="1"/>
            </p:cNvSpPr>
            <p:nvPr/>
          </p:nvSpPr>
          <p:spPr bwMode="auto">
            <a:xfrm>
              <a:off x="4419600" y="472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Oval 51"/>
            <p:cNvSpPr>
              <a:spLocks noChangeArrowheads="1"/>
            </p:cNvSpPr>
            <p:nvPr/>
          </p:nvSpPr>
          <p:spPr bwMode="auto">
            <a:xfrm>
              <a:off x="4114800" y="4343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5029200" y="54102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53"/>
            <p:cNvSpPr>
              <a:spLocks noChangeArrowheads="1"/>
            </p:cNvSpPr>
            <p:nvPr/>
          </p:nvSpPr>
          <p:spPr bwMode="auto">
            <a:xfrm>
              <a:off x="5334000" y="571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 flipH="1">
              <a:off x="4343400" y="54102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Oval 55"/>
            <p:cNvSpPr>
              <a:spLocks noChangeArrowheads="1"/>
            </p:cNvSpPr>
            <p:nvPr/>
          </p:nvSpPr>
          <p:spPr bwMode="auto">
            <a:xfrm>
              <a:off x="4114800" y="571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9</a:t>
              </a:r>
              <a:endParaRPr lang="en-US" altLang="zh-CN" sz="2400"/>
            </a:p>
          </p:txBody>
        </p:sp>
        <p:sp>
          <p:nvSpPr>
            <p:cNvPr id="57" name="Text Box 56"/>
            <p:cNvSpPr txBox="1">
              <a:spLocks noChangeArrowheads="1"/>
            </p:cNvSpPr>
            <p:nvPr/>
          </p:nvSpPr>
          <p:spPr bwMode="auto">
            <a:xfrm>
              <a:off x="4175125" y="5215562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58" name="Text Box 57"/>
            <p:cNvSpPr txBox="1">
              <a:spLocks noChangeArrowheads="1"/>
            </p:cNvSpPr>
            <p:nvPr/>
          </p:nvSpPr>
          <p:spPr bwMode="auto">
            <a:xfrm>
              <a:off x="5394325" y="5215562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59" name="Text Box 58"/>
            <p:cNvSpPr txBox="1">
              <a:spLocks noChangeArrowheads="1"/>
            </p:cNvSpPr>
            <p:nvPr/>
          </p:nvSpPr>
          <p:spPr bwMode="auto">
            <a:xfrm>
              <a:off x="4784725" y="4613275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60" name="Text Box 59"/>
            <p:cNvSpPr txBox="1">
              <a:spLocks noChangeArrowheads="1"/>
            </p:cNvSpPr>
            <p:nvPr/>
          </p:nvSpPr>
          <p:spPr bwMode="auto">
            <a:xfrm>
              <a:off x="4251325" y="3886200"/>
              <a:ext cx="477884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>
              <a:off x="6324600" y="472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Oval 61"/>
            <p:cNvSpPr>
              <a:spLocks noChangeArrowheads="1"/>
            </p:cNvSpPr>
            <p:nvPr/>
          </p:nvSpPr>
          <p:spPr bwMode="auto">
            <a:xfrm>
              <a:off x="6019800" y="502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63" name="Oval 62"/>
            <p:cNvSpPr>
              <a:spLocks noChangeArrowheads="1"/>
            </p:cNvSpPr>
            <p:nvPr/>
          </p:nvSpPr>
          <p:spPr bwMode="auto">
            <a:xfrm>
              <a:off x="6629400" y="4343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bg2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7010400" y="472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7239000" y="502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66" name="Line 65"/>
            <p:cNvSpPr>
              <a:spLocks noChangeShapeType="1"/>
            </p:cNvSpPr>
            <p:nvPr/>
          </p:nvSpPr>
          <p:spPr bwMode="auto">
            <a:xfrm>
              <a:off x="7620000" y="54102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>
              <a:off x="8153400" y="60960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Oval 67"/>
            <p:cNvSpPr>
              <a:spLocks noChangeArrowheads="1"/>
            </p:cNvSpPr>
            <p:nvPr/>
          </p:nvSpPr>
          <p:spPr bwMode="auto">
            <a:xfrm>
              <a:off x="8382000" y="640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26</a:t>
              </a:r>
              <a:endParaRPr lang="en-US" altLang="zh-CN" sz="2400"/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 flipH="1">
              <a:off x="6858000" y="54102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Oval 69"/>
            <p:cNvSpPr>
              <a:spLocks noChangeArrowheads="1"/>
            </p:cNvSpPr>
            <p:nvPr/>
          </p:nvSpPr>
          <p:spPr bwMode="auto">
            <a:xfrm>
              <a:off x="6629400" y="571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9</a:t>
              </a:r>
              <a:endParaRPr lang="en-US" altLang="zh-CN" sz="2400"/>
            </a:p>
          </p:txBody>
        </p:sp>
        <p:sp>
          <p:nvSpPr>
            <p:cNvPr id="71" name="Oval 70"/>
            <p:cNvSpPr>
              <a:spLocks noChangeArrowheads="1"/>
            </p:cNvSpPr>
            <p:nvPr/>
          </p:nvSpPr>
          <p:spPr bwMode="auto">
            <a:xfrm>
              <a:off x="7848600" y="571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4648200" y="502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73" name="Text Box 72"/>
            <p:cNvSpPr txBox="1">
              <a:spLocks noChangeArrowheads="1"/>
            </p:cNvSpPr>
            <p:nvPr/>
          </p:nvSpPr>
          <p:spPr bwMode="auto">
            <a:xfrm>
              <a:off x="8518525" y="5908470"/>
              <a:ext cx="371020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74" name="Text Box 73"/>
            <p:cNvSpPr txBox="1">
              <a:spLocks noChangeArrowheads="1"/>
            </p:cNvSpPr>
            <p:nvPr/>
          </p:nvSpPr>
          <p:spPr bwMode="auto">
            <a:xfrm>
              <a:off x="7985125" y="5215562"/>
              <a:ext cx="477884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75" name="Text Box 74"/>
            <p:cNvSpPr txBox="1">
              <a:spLocks noChangeArrowheads="1"/>
            </p:cNvSpPr>
            <p:nvPr/>
          </p:nvSpPr>
          <p:spPr bwMode="auto">
            <a:xfrm>
              <a:off x="7375525" y="4522654"/>
              <a:ext cx="477884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76" name="Text Box 75"/>
            <p:cNvSpPr txBox="1">
              <a:spLocks noChangeArrowheads="1"/>
            </p:cNvSpPr>
            <p:nvPr/>
          </p:nvSpPr>
          <p:spPr bwMode="auto">
            <a:xfrm>
              <a:off x="6732588" y="3860800"/>
              <a:ext cx="477884" cy="4975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503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 AVL Example</a:t>
            </a:r>
            <a:endParaRPr lang="zh-CN" altLang="en-US" dirty="0"/>
          </a:p>
        </p:txBody>
      </p:sp>
      <p:grpSp>
        <p:nvGrpSpPr>
          <p:cNvPr id="76" name="组合 75"/>
          <p:cNvGrpSpPr/>
          <p:nvPr/>
        </p:nvGrpSpPr>
        <p:grpSpPr>
          <a:xfrm>
            <a:off x="2033590" y="1071546"/>
            <a:ext cx="8026872" cy="5386406"/>
            <a:chOff x="152400" y="228600"/>
            <a:chExt cx="8534400" cy="5943600"/>
          </a:xfrm>
        </p:grpSpPr>
        <p:sp>
          <p:nvSpPr>
            <p:cNvPr id="60" name="Text Box 58"/>
            <p:cNvSpPr txBox="1">
              <a:spLocks noChangeArrowheads="1"/>
            </p:cNvSpPr>
            <p:nvPr/>
          </p:nvSpPr>
          <p:spPr bwMode="auto">
            <a:xfrm>
              <a:off x="1752601" y="30480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28" name="Text Box 26"/>
            <p:cNvSpPr txBox="1">
              <a:spLocks noChangeArrowheads="1"/>
            </p:cNvSpPr>
            <p:nvPr/>
          </p:nvSpPr>
          <p:spPr bwMode="auto">
            <a:xfrm>
              <a:off x="1676400" y="44958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2438400" y="37338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61" name="Text Box 59"/>
            <p:cNvSpPr txBox="1">
              <a:spLocks noChangeArrowheads="1"/>
            </p:cNvSpPr>
            <p:nvPr/>
          </p:nvSpPr>
          <p:spPr bwMode="auto">
            <a:xfrm>
              <a:off x="4876800" y="53340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53" name="Text Box 51"/>
            <p:cNvSpPr txBox="1">
              <a:spLocks noChangeArrowheads="1"/>
            </p:cNvSpPr>
            <p:nvPr/>
          </p:nvSpPr>
          <p:spPr bwMode="auto">
            <a:xfrm>
              <a:off x="6140450" y="37338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62" name="Text Box 60"/>
            <p:cNvSpPr txBox="1">
              <a:spLocks noChangeArrowheads="1"/>
            </p:cNvSpPr>
            <p:nvPr/>
          </p:nvSpPr>
          <p:spPr bwMode="auto">
            <a:xfrm>
              <a:off x="3244850" y="838200"/>
              <a:ext cx="487788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44" name="Text Box 42"/>
            <p:cNvSpPr txBox="1">
              <a:spLocks noChangeArrowheads="1"/>
            </p:cNvSpPr>
            <p:nvPr/>
          </p:nvSpPr>
          <p:spPr bwMode="auto">
            <a:xfrm>
              <a:off x="7239001" y="15240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4" name="Line 2"/>
            <p:cNvSpPr>
              <a:spLocks noChangeShapeType="1"/>
            </p:cNvSpPr>
            <p:nvPr/>
          </p:nvSpPr>
          <p:spPr bwMode="auto">
            <a:xfrm flipH="1">
              <a:off x="5334000" y="5257800"/>
              <a:ext cx="3048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4876800" y="4495800"/>
              <a:ext cx="1524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H="1">
              <a:off x="5867400" y="4495800"/>
              <a:ext cx="2286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638800" y="3810000"/>
              <a:ext cx="5334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>
              <a:off x="4876800" y="38100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1143000" y="4495800"/>
              <a:ext cx="1524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 flipH="1">
              <a:off x="2057400" y="4495800"/>
              <a:ext cx="2286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2514600" y="4495800"/>
              <a:ext cx="5334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828800" y="38100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5334000" y="16002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H="1">
              <a:off x="4724400" y="15240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2667000" y="8382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3276600" y="15240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5"/>
            <p:cNvSpPr>
              <a:spLocks noChangeArrowheads="1"/>
            </p:cNvSpPr>
            <p:nvPr/>
          </p:nvSpPr>
          <p:spPr bwMode="auto">
            <a:xfrm>
              <a:off x="2133600" y="4114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18</a:t>
              </a:r>
              <a:endParaRPr lang="en-US" altLang="zh-CN" sz="2400"/>
            </a:p>
          </p:txBody>
        </p:sp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5943600" y="4114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18</a:t>
              </a:r>
              <a:endParaRPr lang="en-US" altLang="zh-CN" sz="2400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1600201" y="8382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  <a:endParaRPr lang="en-US" altLang="zh-CN" sz="2400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>
              <a:off x="1447800" y="16002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19"/>
            <p:cNvSpPr>
              <a:spLocks noChangeArrowheads="1"/>
            </p:cNvSpPr>
            <p:nvPr/>
          </p:nvSpPr>
          <p:spPr bwMode="auto">
            <a:xfrm>
              <a:off x="10668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22" name="Oval 20"/>
            <p:cNvSpPr>
              <a:spLocks noChangeArrowheads="1"/>
            </p:cNvSpPr>
            <p:nvPr/>
          </p:nvSpPr>
          <p:spPr bwMode="auto">
            <a:xfrm>
              <a:off x="2971800" y="121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 flipH="1">
              <a:off x="4038600" y="4419600"/>
              <a:ext cx="6858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2"/>
            <p:cNvSpPr>
              <a:spLocks noChangeArrowheads="1"/>
            </p:cNvSpPr>
            <p:nvPr/>
          </p:nvSpPr>
          <p:spPr bwMode="auto">
            <a:xfrm>
              <a:off x="38100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25" name="Text Box 23"/>
            <p:cNvSpPr txBox="1">
              <a:spLocks noChangeArrowheads="1"/>
            </p:cNvSpPr>
            <p:nvPr/>
          </p:nvSpPr>
          <p:spPr bwMode="auto">
            <a:xfrm>
              <a:off x="5334000" y="44958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  <a:endParaRPr lang="en-US" altLang="zh-CN" sz="2400"/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2743200" y="304799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27" name="Oval 25"/>
            <p:cNvSpPr>
              <a:spLocks noChangeArrowheads="1"/>
            </p:cNvSpPr>
            <p:nvPr/>
          </p:nvSpPr>
          <p:spPr bwMode="auto">
            <a:xfrm>
              <a:off x="17526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16</a:t>
              </a:r>
              <a:endParaRPr lang="en-US" altLang="zh-CN" sz="2400"/>
            </a:p>
          </p:txBody>
        </p:sp>
        <p:sp>
          <p:nvSpPr>
            <p:cNvPr id="29" name="Text Box 27"/>
            <p:cNvSpPr txBox="1">
              <a:spLocks noChangeArrowheads="1"/>
            </p:cNvSpPr>
            <p:nvPr/>
          </p:nvSpPr>
          <p:spPr bwMode="auto">
            <a:xfrm>
              <a:off x="6673850" y="838200"/>
              <a:ext cx="487788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-2</a:t>
              </a:r>
              <a:endParaRPr lang="en-US" altLang="zh-CN" sz="2400"/>
            </a:p>
          </p:txBody>
        </p:sp>
        <p:sp>
          <p:nvSpPr>
            <p:cNvPr id="30" name="AutoShape 28"/>
            <p:cNvSpPr>
              <a:spLocks noChangeArrowheads="1"/>
            </p:cNvSpPr>
            <p:nvPr/>
          </p:nvSpPr>
          <p:spPr bwMode="auto">
            <a:xfrm>
              <a:off x="7467600" y="1295400"/>
              <a:ext cx="1219200" cy="228600"/>
            </a:xfrm>
            <a:prstGeom prst="rightArrow">
              <a:avLst>
                <a:gd name="adj1" fmla="val 50000"/>
                <a:gd name="adj2" fmla="val 1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7391400" y="762000"/>
              <a:ext cx="1290540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RL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旋转</a:t>
              </a:r>
              <a:endParaRPr lang="zh-CN" altLang="en-US" sz="2400" dirty="0"/>
            </a:p>
          </p:txBody>
        </p:sp>
        <p:sp>
          <p:nvSpPr>
            <p:cNvPr id="32" name="Oval 30"/>
            <p:cNvSpPr>
              <a:spLocks noChangeArrowheads="1"/>
            </p:cNvSpPr>
            <p:nvPr/>
          </p:nvSpPr>
          <p:spPr bwMode="auto">
            <a:xfrm>
              <a:off x="5029200" y="121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33" name="Oval 31"/>
            <p:cNvSpPr>
              <a:spLocks noChangeArrowheads="1"/>
            </p:cNvSpPr>
            <p:nvPr/>
          </p:nvSpPr>
          <p:spPr bwMode="auto">
            <a:xfrm>
              <a:off x="44196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34" name="Oval 32"/>
            <p:cNvSpPr>
              <a:spLocks noChangeArrowheads="1"/>
            </p:cNvSpPr>
            <p:nvPr/>
          </p:nvSpPr>
          <p:spPr bwMode="auto">
            <a:xfrm>
              <a:off x="55626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9</a:t>
              </a:r>
              <a:endParaRPr lang="en-US" altLang="zh-CN" sz="2400"/>
            </a:p>
          </p:txBody>
        </p:sp>
        <p:sp>
          <p:nvSpPr>
            <p:cNvPr id="35" name="Text Box 33"/>
            <p:cNvSpPr txBox="1">
              <a:spLocks noChangeArrowheads="1"/>
            </p:cNvSpPr>
            <p:nvPr/>
          </p:nvSpPr>
          <p:spPr bwMode="auto">
            <a:xfrm>
              <a:off x="3092450" y="44958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521450" y="2209800"/>
              <a:ext cx="378709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38" name="Oval 36"/>
            <p:cNvSpPr>
              <a:spLocks noChangeArrowheads="1"/>
            </p:cNvSpPr>
            <p:nvPr/>
          </p:nvSpPr>
          <p:spPr bwMode="auto">
            <a:xfrm>
              <a:off x="6400800" y="2590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  <a:ea typeface="MS Hei"/>
                  <a:cs typeface="MS Hei"/>
                </a:rPr>
                <a:t>18</a:t>
              </a:r>
              <a:endParaRPr lang="en-US" altLang="zh-CN" sz="2400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H="1">
              <a:off x="6781800" y="2286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Oval 38"/>
            <p:cNvSpPr>
              <a:spLocks noChangeArrowheads="1"/>
            </p:cNvSpPr>
            <p:nvPr/>
          </p:nvSpPr>
          <p:spPr bwMode="auto">
            <a:xfrm>
              <a:off x="70866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  <a:ea typeface="MS Hei"/>
                  <a:cs typeface="MS Hei"/>
                </a:rPr>
                <a:t>26</a:t>
              </a:r>
              <a:endParaRPr lang="en-US" altLang="zh-CN" sz="2400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6096000" y="91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 flipH="1">
              <a:off x="5410200" y="91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41"/>
            <p:cNvSpPr>
              <a:spLocks noChangeArrowheads="1"/>
            </p:cNvSpPr>
            <p:nvPr/>
          </p:nvSpPr>
          <p:spPr bwMode="auto">
            <a:xfrm>
              <a:off x="5715000" y="533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45" name="Oval 43"/>
            <p:cNvSpPr>
              <a:spLocks noChangeArrowheads="1"/>
            </p:cNvSpPr>
            <p:nvPr/>
          </p:nvSpPr>
          <p:spPr bwMode="auto">
            <a:xfrm>
              <a:off x="838200" y="4114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 flipH="1">
              <a:off x="457200" y="44958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>
              <a:off x="2057400" y="16002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Oval 46"/>
            <p:cNvSpPr>
              <a:spLocks noChangeArrowheads="1"/>
            </p:cNvSpPr>
            <p:nvPr/>
          </p:nvSpPr>
          <p:spPr bwMode="auto">
            <a:xfrm>
              <a:off x="28956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26</a:t>
              </a:r>
              <a:endParaRPr lang="en-US" altLang="zh-CN" sz="2400"/>
            </a:p>
          </p:txBody>
        </p:sp>
        <p:sp>
          <p:nvSpPr>
            <p:cNvPr id="49" name="Oval 47"/>
            <p:cNvSpPr>
              <a:spLocks noChangeArrowheads="1"/>
            </p:cNvSpPr>
            <p:nvPr/>
          </p:nvSpPr>
          <p:spPr bwMode="auto">
            <a:xfrm>
              <a:off x="6400800" y="121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H="1">
              <a:off x="1219200" y="38100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Oval 49"/>
            <p:cNvSpPr>
              <a:spLocks noChangeArrowheads="1"/>
            </p:cNvSpPr>
            <p:nvPr/>
          </p:nvSpPr>
          <p:spPr bwMode="auto">
            <a:xfrm>
              <a:off x="1524000" y="3429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52" name="Oval 50"/>
            <p:cNvSpPr>
              <a:spLocks noChangeArrowheads="1"/>
            </p:cNvSpPr>
            <p:nvPr/>
          </p:nvSpPr>
          <p:spPr bwMode="auto">
            <a:xfrm>
              <a:off x="22860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9</a:t>
              </a:r>
              <a:endParaRPr lang="en-US" altLang="zh-CN" sz="2400"/>
            </a:p>
          </p:txBody>
        </p:sp>
        <p:sp>
          <p:nvSpPr>
            <p:cNvPr id="54" name="AutoShape 52"/>
            <p:cNvSpPr>
              <a:spLocks noChangeArrowheads="1"/>
            </p:cNvSpPr>
            <p:nvPr/>
          </p:nvSpPr>
          <p:spPr bwMode="auto">
            <a:xfrm>
              <a:off x="304800" y="1295400"/>
              <a:ext cx="1219200" cy="228600"/>
            </a:xfrm>
            <a:prstGeom prst="rightArrow">
              <a:avLst>
                <a:gd name="adj1" fmla="val 50000"/>
                <a:gd name="adj2" fmla="val 1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53"/>
            <p:cNvSpPr txBox="1">
              <a:spLocks noChangeArrowheads="1"/>
            </p:cNvSpPr>
            <p:nvPr/>
          </p:nvSpPr>
          <p:spPr bwMode="auto">
            <a:xfrm>
              <a:off x="304800" y="762000"/>
              <a:ext cx="1328036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RR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旋转</a:t>
              </a:r>
              <a:endParaRPr lang="zh-CN" altLang="en-US" sz="2400" dirty="0"/>
            </a:p>
          </p:txBody>
        </p:sp>
        <p:sp>
          <p:nvSpPr>
            <p:cNvPr id="56" name="Oval 54"/>
            <p:cNvSpPr>
              <a:spLocks noChangeArrowheads="1"/>
            </p:cNvSpPr>
            <p:nvPr/>
          </p:nvSpPr>
          <p:spPr bwMode="auto">
            <a:xfrm>
              <a:off x="11430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9</a:t>
              </a:r>
              <a:endParaRPr lang="en-US" altLang="zh-CN" sz="2400"/>
            </a:p>
          </p:txBody>
        </p:sp>
        <p:sp>
          <p:nvSpPr>
            <p:cNvPr id="57" name="Oval 55"/>
            <p:cNvSpPr>
              <a:spLocks noChangeArrowheads="1"/>
            </p:cNvSpPr>
            <p:nvPr/>
          </p:nvSpPr>
          <p:spPr bwMode="auto">
            <a:xfrm>
              <a:off x="4572000" y="4114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58" name="Oval 56"/>
            <p:cNvSpPr>
              <a:spLocks noChangeArrowheads="1"/>
            </p:cNvSpPr>
            <p:nvPr/>
          </p:nvSpPr>
          <p:spPr bwMode="auto">
            <a:xfrm>
              <a:off x="55626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16</a:t>
              </a:r>
              <a:endParaRPr lang="en-US" altLang="zh-CN" sz="2400"/>
            </a:p>
          </p:txBody>
        </p:sp>
        <p:sp>
          <p:nvSpPr>
            <p:cNvPr id="59" name="Oval 57"/>
            <p:cNvSpPr>
              <a:spLocks noChangeArrowheads="1"/>
            </p:cNvSpPr>
            <p:nvPr/>
          </p:nvSpPr>
          <p:spPr bwMode="auto">
            <a:xfrm>
              <a:off x="5029200" y="571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14</a:t>
              </a:r>
              <a:endParaRPr lang="en-US" altLang="zh-CN" sz="2400"/>
            </a:p>
          </p:txBody>
        </p:sp>
        <p:sp>
          <p:nvSpPr>
            <p:cNvPr id="63" name="Line 61"/>
            <p:cNvSpPr>
              <a:spLocks noChangeShapeType="1"/>
            </p:cNvSpPr>
            <p:nvPr/>
          </p:nvSpPr>
          <p:spPr bwMode="auto">
            <a:xfrm flipH="1">
              <a:off x="2057400" y="9144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auto">
            <a:xfrm>
              <a:off x="1752600" y="12192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auto">
            <a:xfrm>
              <a:off x="2362200" y="533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11</a:t>
              </a:r>
              <a:endParaRPr lang="en-US" altLang="zh-CN" sz="2400"/>
            </a:p>
          </p:txBody>
        </p:sp>
        <p:sp>
          <p:nvSpPr>
            <p:cNvPr id="66" name="Line 64"/>
            <p:cNvSpPr>
              <a:spLocks noChangeShapeType="1"/>
            </p:cNvSpPr>
            <p:nvPr/>
          </p:nvSpPr>
          <p:spPr bwMode="auto">
            <a:xfrm>
              <a:off x="6781800" y="1600200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65"/>
            <p:cNvSpPr>
              <a:spLocks noChangeShapeType="1"/>
            </p:cNvSpPr>
            <p:nvPr/>
          </p:nvSpPr>
          <p:spPr bwMode="auto">
            <a:xfrm>
              <a:off x="6324600" y="4495800"/>
              <a:ext cx="5334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auto">
            <a:xfrm>
              <a:off x="3581400" y="1905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26</a:t>
              </a:r>
              <a:endParaRPr lang="en-US" altLang="zh-CN" sz="2400"/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auto">
            <a:xfrm>
              <a:off x="67056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26</a:t>
              </a:r>
              <a:endParaRPr lang="en-US" altLang="zh-CN" sz="2400"/>
            </a:p>
          </p:txBody>
        </p:sp>
        <p:sp>
          <p:nvSpPr>
            <p:cNvPr id="70" name="Oval 68"/>
            <p:cNvSpPr>
              <a:spLocks noChangeArrowheads="1"/>
            </p:cNvSpPr>
            <p:nvPr/>
          </p:nvSpPr>
          <p:spPr bwMode="auto">
            <a:xfrm>
              <a:off x="48768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9</a:t>
              </a:r>
              <a:endParaRPr lang="en-US" altLang="zh-CN" sz="2400"/>
            </a:p>
          </p:txBody>
        </p:sp>
        <p:sp>
          <p:nvSpPr>
            <p:cNvPr id="71" name="Text Box 69"/>
            <p:cNvSpPr txBox="1">
              <a:spLocks noChangeArrowheads="1"/>
            </p:cNvSpPr>
            <p:nvPr/>
          </p:nvSpPr>
          <p:spPr bwMode="auto">
            <a:xfrm>
              <a:off x="5638800" y="3124201"/>
              <a:ext cx="487788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72" name="Text Box 70"/>
            <p:cNvSpPr txBox="1">
              <a:spLocks noChangeArrowheads="1"/>
            </p:cNvSpPr>
            <p:nvPr/>
          </p:nvSpPr>
          <p:spPr bwMode="auto">
            <a:xfrm>
              <a:off x="6140450" y="228600"/>
              <a:ext cx="487788" cy="5094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73" name="Oval 71"/>
            <p:cNvSpPr>
              <a:spLocks noChangeArrowheads="1"/>
            </p:cNvSpPr>
            <p:nvPr/>
          </p:nvSpPr>
          <p:spPr bwMode="auto">
            <a:xfrm>
              <a:off x="5257800" y="3429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74" name="Line 72"/>
            <p:cNvSpPr>
              <a:spLocks noChangeShapeType="1"/>
            </p:cNvSpPr>
            <p:nvPr/>
          </p:nvSpPr>
          <p:spPr bwMode="auto">
            <a:xfrm flipH="1">
              <a:off x="457200" y="44958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Oval 73"/>
            <p:cNvSpPr>
              <a:spLocks noChangeArrowheads="1"/>
            </p:cNvSpPr>
            <p:nvPr/>
          </p:nvSpPr>
          <p:spPr bwMode="auto">
            <a:xfrm>
              <a:off x="152400" y="4876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</p:grpSp>
    </p:spTree>
    <p:extLst>
      <p:ext uri="{BB962C8B-B14F-4D97-AF65-F5344CB8AC3E}">
        <p14:creationId xmlns:p14="http://schemas.microsoft.com/office/powerpoint/2010/main" val="360675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 AVL Example</a:t>
            </a:r>
            <a:endParaRPr lang="zh-CN" altLang="en-US" dirty="0"/>
          </a:p>
        </p:txBody>
      </p:sp>
      <p:grpSp>
        <p:nvGrpSpPr>
          <p:cNvPr id="50" name="组合 49"/>
          <p:cNvGrpSpPr/>
          <p:nvPr/>
        </p:nvGrpSpPr>
        <p:grpSpPr>
          <a:xfrm>
            <a:off x="1881158" y="1142984"/>
            <a:ext cx="8077200" cy="3886200"/>
            <a:chOff x="304800" y="304800"/>
            <a:chExt cx="8077200" cy="3886200"/>
          </a:xfrm>
        </p:grpSpPr>
        <p:sp>
          <p:nvSpPr>
            <p:cNvPr id="48" name="Text Box 47"/>
            <p:cNvSpPr txBox="1">
              <a:spLocks noChangeArrowheads="1"/>
            </p:cNvSpPr>
            <p:nvPr/>
          </p:nvSpPr>
          <p:spPr bwMode="auto">
            <a:xfrm>
              <a:off x="2590800" y="990600"/>
              <a:ext cx="356188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2286000" y="3352800"/>
              <a:ext cx="356188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47" name="Text Box 46"/>
            <p:cNvSpPr txBox="1">
              <a:spLocks noChangeArrowheads="1"/>
            </p:cNvSpPr>
            <p:nvPr/>
          </p:nvSpPr>
          <p:spPr bwMode="auto">
            <a:xfrm>
              <a:off x="1905000" y="2667000"/>
              <a:ext cx="458780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40" name="Text Box 39"/>
            <p:cNvSpPr txBox="1">
              <a:spLocks noChangeArrowheads="1"/>
            </p:cNvSpPr>
            <p:nvPr/>
          </p:nvSpPr>
          <p:spPr bwMode="auto">
            <a:xfrm>
              <a:off x="6750050" y="304800"/>
              <a:ext cx="458780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-1</a:t>
              </a:r>
            </a:p>
          </p:txBody>
        </p:sp>
        <p:sp>
          <p:nvSpPr>
            <p:cNvPr id="36" name="Text Box 35"/>
            <p:cNvSpPr txBox="1">
              <a:spLocks noChangeArrowheads="1"/>
            </p:cNvSpPr>
            <p:nvPr/>
          </p:nvSpPr>
          <p:spPr bwMode="auto">
            <a:xfrm>
              <a:off x="7239000" y="990600"/>
              <a:ext cx="356188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39" name="Text Box 38"/>
            <p:cNvSpPr txBox="1">
              <a:spLocks noChangeArrowheads="1"/>
            </p:cNvSpPr>
            <p:nvPr/>
          </p:nvSpPr>
          <p:spPr bwMode="auto">
            <a:xfrm>
              <a:off x="7359650" y="2590800"/>
              <a:ext cx="356188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4" name="Line 3"/>
            <p:cNvSpPr>
              <a:spLocks noChangeShapeType="1"/>
            </p:cNvSpPr>
            <p:nvPr/>
          </p:nvSpPr>
          <p:spPr bwMode="auto">
            <a:xfrm flipH="1">
              <a:off x="7010400" y="1752600"/>
              <a:ext cx="3048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4"/>
            <p:cNvSpPr>
              <a:spLocks noChangeShapeType="1"/>
            </p:cNvSpPr>
            <p:nvPr/>
          </p:nvSpPr>
          <p:spPr bwMode="auto">
            <a:xfrm>
              <a:off x="6858000" y="10668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 flipH="1">
              <a:off x="6019800" y="990600"/>
              <a:ext cx="5334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2133600" y="10668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1752600" y="2438400"/>
              <a:ext cx="3048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7086600" y="2514600"/>
              <a:ext cx="38100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6019800" y="1752600"/>
              <a:ext cx="2286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6477000" y="2514600"/>
              <a:ext cx="3048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1295400" y="1752600"/>
              <a:ext cx="2286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H="1">
              <a:off x="2286000" y="1752600"/>
              <a:ext cx="2286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828800" y="3276600"/>
              <a:ext cx="4572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5334000" y="17526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2819400" y="1752600"/>
              <a:ext cx="4572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2057400" y="3733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15</a:t>
              </a:r>
              <a:endParaRPr lang="en-US" altLang="zh-CN" sz="2400"/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7162800" y="1371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18</a:t>
              </a:r>
              <a:endParaRPr lang="en-US" altLang="zh-CN" sz="2400"/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019312" y="304800"/>
              <a:ext cx="458780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-2</a:t>
              </a:r>
              <a:endParaRPr lang="en-US" altLang="zh-CN" sz="2400" dirty="0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533400" y="1676400"/>
              <a:ext cx="6096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304800" y="2057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2438400" y="1371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18</a:t>
              </a:r>
              <a:endParaRPr lang="en-US" altLang="zh-CN" sz="2400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1981200" y="2057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  <a:ea typeface="MS Hei"/>
                  <a:cs typeface="MS Hei"/>
                </a:rPr>
                <a:t>16</a:t>
              </a:r>
              <a:endParaRPr lang="en-US" altLang="zh-CN" sz="2400"/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1905000" y="1600200"/>
              <a:ext cx="356188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  <a:endParaRPr lang="en-US" altLang="zh-CN" sz="2400"/>
            </a:p>
          </p:txBody>
        </p:sp>
        <p:sp>
          <p:nvSpPr>
            <p:cNvPr id="25" name="AutoShape 24"/>
            <p:cNvSpPr>
              <a:spLocks noChangeArrowheads="1"/>
            </p:cNvSpPr>
            <p:nvPr/>
          </p:nvSpPr>
          <p:spPr bwMode="auto">
            <a:xfrm>
              <a:off x="3810000" y="1600200"/>
              <a:ext cx="1219200" cy="228600"/>
            </a:xfrm>
            <a:prstGeom prst="rightArrow">
              <a:avLst>
                <a:gd name="adj1" fmla="val 50000"/>
                <a:gd name="adj2" fmla="val 13333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3733800" y="990600"/>
              <a:ext cx="1213794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LR</a:t>
              </a:r>
              <a:r>
                <a:rPr lang="zh-CN" altLang="en-US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仿宋_GB2312" pitchFamily="49" charset="-122"/>
                </a:rPr>
                <a:t>旋转</a:t>
              </a:r>
              <a:endParaRPr lang="zh-CN" altLang="en-US" sz="2400" dirty="0"/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5715000" y="1371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4953000" y="2133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3</a:t>
              </a:r>
              <a:endParaRPr lang="en-US" altLang="zh-CN" sz="2400"/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56188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6629400" y="1752600"/>
              <a:ext cx="356188" cy="461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0</a:t>
              </a: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6477000" y="685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11</a:t>
              </a:r>
              <a:endParaRPr lang="en-US" altLang="zh-CN" sz="2400"/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990600" y="1371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rgbClr val="CC3300"/>
                  </a:solidFill>
                  <a:ea typeface="MS Hei"/>
                  <a:cs typeface="MS Hei"/>
                </a:rPr>
                <a:t>7</a:t>
              </a:r>
              <a:endParaRPr lang="en-US" altLang="zh-CN" sz="2400"/>
            </a:p>
          </p:txBody>
        </p:sp>
        <p:sp>
          <p:nvSpPr>
            <p:cNvPr id="34" name="Oval 33"/>
            <p:cNvSpPr>
              <a:spLocks noChangeArrowheads="1"/>
            </p:cNvSpPr>
            <p:nvPr/>
          </p:nvSpPr>
          <p:spPr bwMode="auto">
            <a:xfrm>
              <a:off x="1524000" y="2895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chemeClr val="bg2"/>
                  </a:solidFill>
                </a:rPr>
                <a:t>14</a:t>
              </a:r>
              <a:endParaRPr lang="en-US" altLang="zh-CN" sz="2400"/>
            </a:p>
          </p:txBody>
        </p:sp>
        <p:sp>
          <p:nvSpPr>
            <p:cNvPr id="35" name="Oval 34"/>
            <p:cNvSpPr>
              <a:spLocks noChangeArrowheads="1"/>
            </p:cNvSpPr>
            <p:nvPr/>
          </p:nvSpPr>
          <p:spPr bwMode="auto">
            <a:xfrm>
              <a:off x="1371600" y="2057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9</a:t>
              </a:r>
              <a:endParaRPr lang="en-US" altLang="zh-CN" sz="2400"/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7162800" y="2971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16</a:t>
              </a:r>
              <a:endParaRPr lang="en-US" altLang="zh-CN" sz="2400"/>
            </a:p>
          </p:txBody>
        </p:sp>
        <p:sp>
          <p:nvSpPr>
            <p:cNvPr id="38" name="Oval 37"/>
            <p:cNvSpPr>
              <a:spLocks noChangeArrowheads="1"/>
            </p:cNvSpPr>
            <p:nvPr/>
          </p:nvSpPr>
          <p:spPr bwMode="auto">
            <a:xfrm>
              <a:off x="6705600" y="2133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15</a:t>
              </a:r>
              <a:endParaRPr lang="en-US" altLang="zh-CN" sz="2400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flipH="1">
              <a:off x="1371600" y="914400"/>
              <a:ext cx="5334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1"/>
            <p:cNvSpPr>
              <a:spLocks noChangeArrowheads="1"/>
            </p:cNvSpPr>
            <p:nvPr/>
          </p:nvSpPr>
          <p:spPr bwMode="auto">
            <a:xfrm>
              <a:off x="1752600" y="685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  <a:ea typeface="MS Hei"/>
                  <a:cs typeface="MS Hei"/>
                </a:rPr>
                <a:t>11</a:t>
              </a:r>
              <a:endParaRPr lang="en-US" altLang="zh-CN" sz="2400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7543800" y="1752600"/>
              <a:ext cx="6858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Oval 43"/>
            <p:cNvSpPr>
              <a:spLocks noChangeArrowheads="1"/>
            </p:cNvSpPr>
            <p:nvPr/>
          </p:nvSpPr>
          <p:spPr bwMode="auto">
            <a:xfrm>
              <a:off x="3124200" y="20574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26</a:t>
              </a:r>
              <a:endParaRPr lang="en-US" altLang="zh-CN" sz="2400"/>
            </a:p>
          </p:txBody>
        </p:sp>
        <p:sp>
          <p:nvSpPr>
            <p:cNvPr id="45" name="Oval 44"/>
            <p:cNvSpPr>
              <a:spLocks noChangeArrowheads="1"/>
            </p:cNvSpPr>
            <p:nvPr/>
          </p:nvSpPr>
          <p:spPr bwMode="auto">
            <a:xfrm>
              <a:off x="7924800" y="2133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26</a:t>
              </a:r>
              <a:endParaRPr lang="en-US" altLang="zh-CN" sz="2400"/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>
              <a:off x="6248400" y="2971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14</a:t>
              </a:r>
              <a:endParaRPr lang="en-US" altLang="zh-CN" sz="2400"/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6096000" y="21336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b="1">
                  <a:solidFill>
                    <a:srgbClr val="CC3300"/>
                  </a:solidFill>
                </a:rPr>
                <a:t>9</a:t>
              </a:r>
              <a:endParaRPr lang="en-US" altLang="zh-CN" sz="2400"/>
            </a:p>
          </p:txBody>
        </p:sp>
      </p:grpSp>
    </p:spTree>
    <p:extLst>
      <p:ext uri="{BB962C8B-B14F-4D97-AF65-F5344CB8AC3E}">
        <p14:creationId xmlns:p14="http://schemas.microsoft.com/office/powerpoint/2010/main" val="179654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Exercise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 each of the following, insert the keys, in the order shown, to build them into an AVL tree.</a:t>
            </a:r>
          </a:p>
          <a:p>
            <a:pPr>
              <a:buNone/>
            </a:pPr>
            <a:r>
              <a:rPr lang="en-US" altLang="zh-CN" dirty="0" smtClean="0"/>
              <a:t>		(1) A, Z, B, Y, C, X.</a:t>
            </a:r>
          </a:p>
          <a:p>
            <a:pPr>
              <a:buNone/>
            </a:pPr>
            <a:r>
              <a:rPr lang="en-US" altLang="zh-CN" dirty="0" smtClean="0"/>
              <a:t>		</a:t>
            </a:r>
            <a:r>
              <a:rPr lang="pl-PL" altLang="zh-CN" dirty="0" smtClean="0"/>
              <a:t>(</a:t>
            </a:r>
            <a:r>
              <a:rPr lang="en-US" altLang="zh-CN" dirty="0" smtClean="0"/>
              <a:t>2</a:t>
            </a:r>
            <a:r>
              <a:rPr lang="pl-PL" altLang="zh-CN" dirty="0" smtClean="0"/>
              <a:t>) A, Z, B, Y, C, X, D, W, E, V, F.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(3) </a:t>
            </a:r>
            <a:r>
              <a:rPr lang="en-US" altLang="zh-CN" dirty="0"/>
              <a:t>M, T, E, A, Z, G, P.</a:t>
            </a:r>
          </a:p>
          <a:p>
            <a:pPr marL="0" indent="0">
              <a:buNone/>
            </a:pPr>
            <a:r>
              <a:rPr lang="pt-BR" altLang="zh-CN" dirty="0" smtClean="0"/>
              <a:t>	(4) </a:t>
            </a:r>
            <a:r>
              <a:rPr lang="pt-BR" altLang="zh-CN" dirty="0"/>
              <a:t>A, B, C, D, E, F, G, H, I, J, K, L.</a:t>
            </a:r>
          </a:p>
          <a:p>
            <a:pPr marL="0" indent="0">
              <a:buNone/>
            </a:pPr>
            <a:r>
              <a:rPr lang="pt-BR" altLang="zh-CN" dirty="0" smtClean="0"/>
              <a:t>	(5) </a:t>
            </a:r>
            <a:r>
              <a:rPr lang="pt-BR" altLang="zh-CN" dirty="0"/>
              <a:t>A, V, L, T, R, E, I, S, O, K.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161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Analysis of AVL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 number of recursive calls to insert a new node can be as large as the height of the tree.</a:t>
            </a:r>
          </a:p>
          <a:p>
            <a:r>
              <a:rPr lang="en-US" altLang="zh-CN" dirty="0" smtClean="0"/>
              <a:t>At most one (single or double) rotation will be done per insertion.</a:t>
            </a:r>
          </a:p>
          <a:p>
            <a:r>
              <a:rPr lang="en-US" altLang="zh-CN" dirty="0" smtClean="0"/>
              <a:t>A rotation improves the balance of the tree, so later insertions are less likely to require rotations.</a:t>
            </a:r>
          </a:p>
          <a:p>
            <a:r>
              <a:rPr lang="en-US" altLang="zh-CN" dirty="0" smtClean="0"/>
              <a:t>It is very difficult to find the height of the </a:t>
            </a:r>
            <a:r>
              <a:rPr lang="en-US" altLang="zh-CN" i="1" dirty="0" smtClean="0"/>
              <a:t>average </a:t>
            </a:r>
            <a:r>
              <a:rPr lang="en-US" altLang="zh-CN" dirty="0" smtClean="0"/>
              <a:t>AVL tree</a:t>
            </a:r>
            <a:r>
              <a:rPr lang="en-US" altLang="zh-CN" i="1" dirty="0" smtClean="0"/>
              <a:t>, </a:t>
            </a:r>
            <a:r>
              <a:rPr lang="en-US" altLang="zh-CN" dirty="0" smtClean="0"/>
              <a:t>but the worst case is much easier. The worst-case behavior of AVL trees is essentially no worse than the behavior of random search trees.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242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Worst-Case AVL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To find the maximum height of an AVL tree with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 nodes, we instead find the minimum number of nodes that an AVL tree of height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 can have.</a:t>
            </a:r>
          </a:p>
          <a:p>
            <a:r>
              <a:rPr lang="en-US" altLang="zh-CN" dirty="0" smtClean="0"/>
              <a:t>Let </a:t>
            </a:r>
            <a:r>
              <a:rPr lang="en-US" altLang="zh-CN" i="1" dirty="0" err="1" smtClean="0"/>
              <a:t>F</a:t>
            </a:r>
            <a:r>
              <a:rPr lang="en-US" altLang="zh-CN" i="1" baseline="-25000" dirty="0" err="1" smtClean="0"/>
              <a:t>h</a:t>
            </a:r>
            <a:r>
              <a:rPr lang="en-US" altLang="zh-CN" dirty="0" smtClean="0"/>
              <a:t> be such a tree, with left and right </a:t>
            </a:r>
            <a:r>
              <a:rPr lang="en-US" altLang="zh-CN" dirty="0" err="1" smtClean="0"/>
              <a:t>subtrees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l</a:t>
            </a:r>
            <a:r>
              <a:rPr lang="en-US" altLang="zh-CN" dirty="0" smtClean="0"/>
              <a:t> and </a:t>
            </a:r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r</a:t>
            </a:r>
            <a:r>
              <a:rPr lang="en-US" altLang="zh-CN" dirty="0" smtClean="0"/>
              <a:t>. Then one of </a:t>
            </a:r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l</a:t>
            </a:r>
            <a:r>
              <a:rPr lang="en-US" altLang="zh-CN" dirty="0" smtClean="0"/>
              <a:t> and </a:t>
            </a:r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r</a:t>
            </a:r>
            <a:r>
              <a:rPr lang="en-US" altLang="zh-CN" i="1" dirty="0" smtClean="0"/>
              <a:t>,</a:t>
            </a:r>
            <a:r>
              <a:rPr lang="en-US" altLang="zh-CN" dirty="0" smtClean="0"/>
              <a:t> say </a:t>
            </a:r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l</a:t>
            </a:r>
            <a:r>
              <a:rPr lang="en-US" altLang="zh-CN" dirty="0" smtClean="0"/>
              <a:t>, has height </a:t>
            </a:r>
            <a:r>
              <a:rPr lang="en-US" altLang="zh-CN" i="1" dirty="0" smtClean="0"/>
              <a:t>h − 1</a:t>
            </a:r>
            <a:r>
              <a:rPr lang="en-US" altLang="zh-CN" dirty="0" smtClean="0"/>
              <a:t> and the minimum number of nodes in such a tree, and </a:t>
            </a:r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r</a:t>
            </a:r>
            <a:r>
              <a:rPr lang="en-US" altLang="zh-CN" dirty="0" smtClean="0"/>
              <a:t> has height </a:t>
            </a:r>
            <a:r>
              <a:rPr lang="en-US" altLang="zh-CN" i="1" dirty="0" smtClean="0"/>
              <a:t>h − 2</a:t>
            </a:r>
            <a:r>
              <a:rPr lang="en-US" altLang="zh-CN" dirty="0" smtClean="0"/>
              <a:t> with the minimum number of nodes.</a:t>
            </a:r>
          </a:p>
        </p:txBody>
      </p:sp>
      <p:sp>
        <p:nvSpPr>
          <p:cNvPr id="4" name="椭圆 3"/>
          <p:cNvSpPr/>
          <p:nvPr/>
        </p:nvSpPr>
        <p:spPr>
          <a:xfrm>
            <a:off x="1920550" y="3306075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993010" y="330966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704978" y="36697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5" idx="3"/>
            <a:endCxn id="6" idx="7"/>
          </p:cNvCxnSpPr>
          <p:nvPr/>
        </p:nvCxnSpPr>
        <p:spPr>
          <a:xfrm flipH="1">
            <a:off x="2827903" y="3432593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4042755" y="330966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754723" y="36697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>
            <a:stCxn id="10" idx="3"/>
            <a:endCxn id="11" idx="7"/>
          </p:cNvCxnSpPr>
          <p:nvPr/>
        </p:nvCxnSpPr>
        <p:spPr>
          <a:xfrm flipH="1">
            <a:off x="3877648" y="3432593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4363526" y="368616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075494" y="40462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stCxn id="13" idx="3"/>
            <a:endCxn id="14" idx="7"/>
          </p:cNvCxnSpPr>
          <p:nvPr/>
        </p:nvCxnSpPr>
        <p:spPr>
          <a:xfrm flipH="1">
            <a:off x="4198419" y="3809089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0" idx="5"/>
            <a:endCxn id="13" idx="1"/>
          </p:cNvCxnSpPr>
          <p:nvPr/>
        </p:nvCxnSpPr>
        <p:spPr>
          <a:xfrm>
            <a:off x="4165680" y="3432593"/>
            <a:ext cx="218937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5365173" y="368311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077141" y="4043153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>
            <a:stCxn id="18" idx="3"/>
            <a:endCxn id="19" idx="7"/>
          </p:cNvCxnSpPr>
          <p:nvPr/>
        </p:nvCxnSpPr>
        <p:spPr>
          <a:xfrm flipH="1">
            <a:off x="5200066" y="3806038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5986437" y="37042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698405" y="406424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>
            <a:stCxn id="21" idx="3"/>
            <a:endCxn id="22" idx="7"/>
          </p:cNvCxnSpPr>
          <p:nvPr/>
        </p:nvCxnSpPr>
        <p:spPr>
          <a:xfrm flipH="1">
            <a:off x="5821330" y="3827129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6307208" y="40807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6019176" y="444074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>
            <a:stCxn id="24" idx="3"/>
            <a:endCxn id="25" idx="7"/>
          </p:cNvCxnSpPr>
          <p:nvPr/>
        </p:nvCxnSpPr>
        <p:spPr>
          <a:xfrm flipH="1">
            <a:off x="6142101" y="4203625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21" idx="5"/>
            <a:endCxn id="24" idx="1"/>
          </p:cNvCxnSpPr>
          <p:nvPr/>
        </p:nvCxnSpPr>
        <p:spPr>
          <a:xfrm>
            <a:off x="6109362" y="3827129"/>
            <a:ext cx="218937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5677314" y="330661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>
            <a:stCxn id="28" idx="3"/>
            <a:endCxn id="18" idx="7"/>
          </p:cNvCxnSpPr>
          <p:nvPr/>
        </p:nvCxnSpPr>
        <p:spPr>
          <a:xfrm flipH="1">
            <a:off x="5488098" y="3429542"/>
            <a:ext cx="210307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8" idx="5"/>
            <a:endCxn id="21" idx="0"/>
          </p:cNvCxnSpPr>
          <p:nvPr/>
        </p:nvCxnSpPr>
        <p:spPr>
          <a:xfrm>
            <a:off x="5800239" y="3429542"/>
            <a:ext cx="258206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7472685" y="368720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7184653" y="404724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/>
          <p:cNvCxnSpPr>
            <a:stCxn id="33" idx="3"/>
            <a:endCxn id="34" idx="7"/>
          </p:cNvCxnSpPr>
          <p:nvPr/>
        </p:nvCxnSpPr>
        <p:spPr>
          <a:xfrm flipH="1">
            <a:off x="7307578" y="3810131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/>
          <p:cNvSpPr/>
          <p:nvPr/>
        </p:nvSpPr>
        <p:spPr>
          <a:xfrm>
            <a:off x="7793456" y="406370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7505424" y="442374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/>
          <p:cNvCxnSpPr>
            <a:stCxn id="36" idx="3"/>
            <a:endCxn id="37" idx="7"/>
          </p:cNvCxnSpPr>
          <p:nvPr/>
        </p:nvCxnSpPr>
        <p:spPr>
          <a:xfrm flipH="1">
            <a:off x="7628349" y="4186627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33" idx="5"/>
            <a:endCxn id="36" idx="1"/>
          </p:cNvCxnSpPr>
          <p:nvPr/>
        </p:nvCxnSpPr>
        <p:spPr>
          <a:xfrm>
            <a:off x="7595610" y="3810131"/>
            <a:ext cx="218937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/>
          <p:cNvSpPr/>
          <p:nvPr/>
        </p:nvSpPr>
        <p:spPr>
          <a:xfrm>
            <a:off x="8432244" y="405906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8144212" y="441910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>
            <a:stCxn id="40" idx="3"/>
            <a:endCxn id="41" idx="7"/>
          </p:cNvCxnSpPr>
          <p:nvPr/>
        </p:nvCxnSpPr>
        <p:spPr>
          <a:xfrm flipH="1">
            <a:off x="8267137" y="4181992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9053508" y="408015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8765476" y="444019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连接符 44"/>
          <p:cNvCxnSpPr>
            <a:stCxn id="43" idx="3"/>
            <a:endCxn id="44" idx="7"/>
          </p:cNvCxnSpPr>
          <p:nvPr/>
        </p:nvCxnSpPr>
        <p:spPr>
          <a:xfrm flipH="1">
            <a:off x="8888401" y="4203083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9374279" y="445665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9086247" y="481669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/>
          <p:cNvCxnSpPr>
            <a:stCxn id="46" idx="3"/>
            <a:endCxn id="47" idx="7"/>
          </p:cNvCxnSpPr>
          <p:nvPr/>
        </p:nvCxnSpPr>
        <p:spPr>
          <a:xfrm flipH="1">
            <a:off x="9209172" y="4579579"/>
            <a:ext cx="186198" cy="258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43" idx="5"/>
            <a:endCxn id="46" idx="1"/>
          </p:cNvCxnSpPr>
          <p:nvPr/>
        </p:nvCxnSpPr>
        <p:spPr>
          <a:xfrm>
            <a:off x="9176433" y="4203083"/>
            <a:ext cx="218937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>
            <a:off x="8744385" y="3682571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>
            <a:stCxn id="50" idx="3"/>
            <a:endCxn id="40" idx="7"/>
          </p:cNvCxnSpPr>
          <p:nvPr/>
        </p:nvCxnSpPr>
        <p:spPr>
          <a:xfrm flipH="1">
            <a:off x="8555169" y="3805496"/>
            <a:ext cx="210307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50" idx="5"/>
            <a:endCxn id="43" idx="0"/>
          </p:cNvCxnSpPr>
          <p:nvPr/>
        </p:nvCxnSpPr>
        <p:spPr>
          <a:xfrm>
            <a:off x="8867310" y="3805496"/>
            <a:ext cx="258206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8061307" y="3306075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>
            <a:stCxn id="53" idx="3"/>
            <a:endCxn id="33" idx="7"/>
          </p:cNvCxnSpPr>
          <p:nvPr/>
        </p:nvCxnSpPr>
        <p:spPr>
          <a:xfrm flipH="1">
            <a:off x="7595610" y="3429000"/>
            <a:ext cx="486788" cy="279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3" idx="5"/>
            <a:endCxn id="50" idx="1"/>
          </p:cNvCxnSpPr>
          <p:nvPr/>
        </p:nvCxnSpPr>
        <p:spPr>
          <a:xfrm>
            <a:off x="8184232" y="3429000"/>
            <a:ext cx="581244" cy="274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1787213" y="5229200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0</a:t>
            </a:r>
            <a:endParaRPr lang="zh-CN" altLang="en-US" dirty="0"/>
          </a:p>
        </p:txBody>
      </p:sp>
      <p:sp>
        <p:nvSpPr>
          <p:cNvPr id="62" name="矩形 61"/>
          <p:cNvSpPr/>
          <p:nvPr/>
        </p:nvSpPr>
        <p:spPr>
          <a:xfrm>
            <a:off x="2717989" y="5229200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1</a:t>
            </a:r>
            <a:endParaRPr lang="zh-CN" altLang="en-US" dirty="0"/>
          </a:p>
        </p:txBody>
      </p:sp>
      <p:sp>
        <p:nvSpPr>
          <p:cNvPr id="63" name="矩形 62"/>
          <p:cNvSpPr/>
          <p:nvPr/>
        </p:nvSpPr>
        <p:spPr>
          <a:xfrm>
            <a:off x="3909418" y="5229200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2</a:t>
            </a:r>
            <a:endParaRPr lang="zh-CN" altLang="en-US" dirty="0"/>
          </a:p>
        </p:txBody>
      </p:sp>
      <p:sp>
        <p:nvSpPr>
          <p:cNvPr id="64" name="矩形 63"/>
          <p:cNvSpPr/>
          <p:nvPr/>
        </p:nvSpPr>
        <p:spPr>
          <a:xfrm>
            <a:off x="5543659" y="5229200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3</a:t>
            </a:r>
            <a:endParaRPr lang="zh-CN" altLang="en-US" dirty="0"/>
          </a:p>
        </p:txBody>
      </p:sp>
      <p:sp>
        <p:nvSpPr>
          <p:cNvPr id="65" name="矩形 64"/>
          <p:cNvSpPr/>
          <p:nvPr/>
        </p:nvSpPr>
        <p:spPr>
          <a:xfrm>
            <a:off x="8093562" y="5229200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/>
              <a:t>F</a:t>
            </a:r>
            <a:r>
              <a:rPr lang="en-US" altLang="zh-CN" i="1" baseline="-25000" dirty="0" smtClean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845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Worst-Case AVL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If we write |</a:t>
            </a:r>
            <a:r>
              <a:rPr lang="en-US" altLang="zh-CN" i="1" dirty="0"/>
              <a:t>T|</a:t>
            </a:r>
            <a:r>
              <a:rPr lang="en-US" altLang="zh-CN" dirty="0"/>
              <a:t> for the number of nodes in a tree </a:t>
            </a:r>
            <a:r>
              <a:rPr lang="en-US" altLang="zh-CN" i="1" dirty="0"/>
              <a:t>T,</a:t>
            </a:r>
            <a:r>
              <a:rPr lang="en-US" altLang="zh-CN" dirty="0"/>
              <a:t> we then have the recurrence relation for Fibonacci trees:</a:t>
            </a:r>
          </a:p>
          <a:p>
            <a:pPr algn="ctr">
              <a:buNone/>
            </a:pPr>
            <a:r>
              <a:rPr lang="en-US" altLang="zh-CN" dirty="0"/>
              <a:t>|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i="1" dirty="0"/>
              <a:t>| = |F</a:t>
            </a:r>
            <a:r>
              <a:rPr lang="en-US" altLang="zh-CN" i="1" baseline="-25000" dirty="0"/>
              <a:t>h−1</a:t>
            </a:r>
            <a:r>
              <a:rPr lang="en-US" altLang="zh-CN" i="1" dirty="0"/>
              <a:t>| + |F</a:t>
            </a:r>
            <a:r>
              <a:rPr lang="en-US" altLang="zh-CN" i="1" baseline="-25000" dirty="0"/>
              <a:t>h−2</a:t>
            </a:r>
            <a:r>
              <a:rPr lang="en-US" altLang="zh-CN" i="1" dirty="0"/>
              <a:t>| + 1</a:t>
            </a:r>
          </a:p>
          <a:p>
            <a:pPr>
              <a:buNone/>
            </a:pPr>
            <a:r>
              <a:rPr lang="en-US" altLang="zh-CN" dirty="0"/>
              <a:t>	where |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0</a:t>
            </a:r>
            <a:r>
              <a:rPr lang="en-US" altLang="zh-CN" i="1" dirty="0"/>
              <a:t>| = 1 and |F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| = 2.</a:t>
            </a:r>
          </a:p>
          <a:p>
            <a:r>
              <a:rPr lang="en-US" altLang="zh-CN" dirty="0"/>
              <a:t>By the evaluation of Fibonacci numbers</a:t>
            </a:r>
          </a:p>
          <a:p>
            <a:pPr algn="ctr">
              <a:buNone/>
            </a:pPr>
            <a:r>
              <a:rPr lang="en-US" altLang="zh-CN" i="1" dirty="0"/>
              <a:t>	h ≈ 1.44 </a:t>
            </a:r>
            <a:r>
              <a:rPr lang="en-US" altLang="zh-CN" i="1" dirty="0" err="1"/>
              <a:t>lg</a:t>
            </a:r>
            <a:r>
              <a:rPr lang="en-US" altLang="zh-CN" i="1" dirty="0"/>
              <a:t> |</a:t>
            </a:r>
            <a:r>
              <a:rPr lang="en-US" altLang="zh-CN" i="1" dirty="0" err="1"/>
              <a:t>F</a:t>
            </a:r>
            <a:r>
              <a:rPr lang="en-US" altLang="zh-CN" i="1" baseline="-25000" dirty="0" err="1"/>
              <a:t>h</a:t>
            </a:r>
            <a:r>
              <a:rPr lang="en-US" altLang="zh-CN" i="1" dirty="0"/>
              <a:t>|</a:t>
            </a:r>
          </a:p>
          <a:p>
            <a:r>
              <a:rPr lang="en-US" altLang="zh-CN" dirty="0"/>
              <a:t>This means that the sparsest (</a:t>
            </a:r>
            <a:r>
              <a:rPr lang="zh-CN" altLang="en-US" dirty="0"/>
              <a:t>最稀疏的</a:t>
            </a:r>
            <a:r>
              <a:rPr lang="en-US" altLang="zh-CN" dirty="0"/>
              <a:t>) possible AVL tree with </a:t>
            </a:r>
            <a:r>
              <a:rPr lang="en-US" altLang="zh-CN" i="1" dirty="0"/>
              <a:t>n</a:t>
            </a:r>
            <a:r>
              <a:rPr lang="en-US" altLang="zh-CN" dirty="0"/>
              <a:t> nodes has height about </a:t>
            </a:r>
            <a:r>
              <a:rPr lang="en-US" altLang="zh-CN" i="1" dirty="0"/>
              <a:t>1.44 </a:t>
            </a:r>
            <a:r>
              <a:rPr lang="en-US" altLang="zh-CN" i="1" dirty="0" err="1"/>
              <a:t>lg</a:t>
            </a:r>
            <a:r>
              <a:rPr lang="en-US" altLang="zh-CN" i="1" dirty="0"/>
              <a:t> n.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2891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Red-Black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red-black tree is a kind of </a:t>
            </a:r>
            <a:r>
              <a:rPr lang="en-US" altLang="zh-CN" dirty="0">
                <a:solidFill>
                  <a:srgbClr val="FF0000"/>
                </a:solidFill>
              </a:rPr>
              <a:t>self-balancing</a:t>
            </a:r>
            <a:r>
              <a:rPr lang="en-US" altLang="zh-CN" dirty="0"/>
              <a:t> binary search tree where each node has an </a:t>
            </a:r>
            <a:r>
              <a:rPr lang="en-US" altLang="zh-CN" dirty="0">
                <a:solidFill>
                  <a:srgbClr val="FF0000"/>
                </a:solidFill>
              </a:rPr>
              <a:t>extra bit</a:t>
            </a:r>
            <a:r>
              <a:rPr lang="en-US" altLang="zh-CN" dirty="0"/>
              <a:t>, and that bit is often interpreted as the </a:t>
            </a:r>
            <a:r>
              <a:rPr lang="en-US" altLang="zh-CN" dirty="0">
                <a:solidFill>
                  <a:srgbClr val="FF0000"/>
                </a:solidFill>
              </a:rPr>
              <a:t>color</a:t>
            </a:r>
            <a:r>
              <a:rPr lang="en-US" altLang="zh-CN" dirty="0"/>
              <a:t> (red or black</a:t>
            </a:r>
            <a:r>
              <a:rPr lang="en-US" altLang="zh-CN" dirty="0" smtClean="0"/>
              <a:t>).</a:t>
            </a:r>
          </a:p>
          <a:p>
            <a:r>
              <a:rPr lang="en-US" altLang="zh-CN" dirty="0" smtClean="0"/>
              <a:t>These </a:t>
            </a:r>
            <a:r>
              <a:rPr lang="en-US" altLang="zh-CN" dirty="0"/>
              <a:t>colors are used to ensure that the tree remains balanced during </a:t>
            </a:r>
            <a:r>
              <a:rPr lang="en-US" altLang="zh-CN" dirty="0">
                <a:solidFill>
                  <a:srgbClr val="FF0000"/>
                </a:solidFill>
              </a:rPr>
              <a:t>insertions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FF0000"/>
                </a:solidFill>
              </a:rPr>
              <a:t>deletions</a:t>
            </a:r>
            <a:r>
              <a:rPr lang="en-US" altLang="zh-CN" dirty="0"/>
              <a:t>. Although the balance of the tree is not perfect, it is good enough to reduce the searching time and maintain it around O(log </a:t>
            </a:r>
            <a:r>
              <a:rPr lang="en-US" altLang="zh-CN" i="1" dirty="0"/>
              <a:t>n</a:t>
            </a:r>
            <a:r>
              <a:rPr lang="en-US" altLang="zh-CN" dirty="0"/>
              <a:t>) time, where </a:t>
            </a:r>
            <a:r>
              <a:rPr lang="en-US" altLang="zh-CN" i="1" dirty="0"/>
              <a:t>n</a:t>
            </a:r>
            <a:r>
              <a:rPr lang="en-US" altLang="zh-CN" dirty="0"/>
              <a:t> is the total number of elements in the </a:t>
            </a:r>
            <a:r>
              <a:rPr lang="en-US" altLang="zh-CN" dirty="0" smtClean="0"/>
              <a:t>tree.</a:t>
            </a:r>
          </a:p>
          <a:p>
            <a:r>
              <a:rPr lang="en-US" altLang="zh-CN" dirty="0" smtClean="0"/>
              <a:t>This </a:t>
            </a:r>
            <a:r>
              <a:rPr lang="en-US" altLang="zh-CN" dirty="0"/>
              <a:t>tree was invented in 1972 by Rudolf Bayer. </a:t>
            </a:r>
            <a:endParaRPr lang="en-US" altLang="zh-CN" dirty="0" smtClean="0"/>
          </a:p>
          <a:p>
            <a:r>
              <a:rPr lang="en-US" altLang="zh-CN" dirty="0"/>
              <a:t>STL </a:t>
            </a:r>
            <a:r>
              <a:rPr lang="en-US" altLang="zh-CN" dirty="0" smtClean="0"/>
              <a:t>“set” and “map” are </a:t>
            </a:r>
            <a:r>
              <a:rPr lang="en-US" altLang="zh-CN" dirty="0"/>
              <a:t>usually implemented as </a:t>
            </a:r>
            <a:r>
              <a:rPr lang="en-US" altLang="zh-CN" dirty="0" smtClean="0"/>
              <a:t>Red-black </a:t>
            </a:r>
            <a:r>
              <a:rPr lang="en-US" altLang="zh-CN" dirty="0"/>
              <a:t>trees.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23236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of a </a:t>
            </a:r>
            <a:r>
              <a:rPr lang="en-US" altLang="zh-CN" dirty="0" smtClean="0"/>
              <a:t>Red-black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</a:pP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 smtClean="0"/>
              <a:t>Every </a:t>
            </a:r>
            <a:r>
              <a:rPr lang="en-US" altLang="zh-CN" dirty="0"/>
              <a:t>node is either </a:t>
            </a:r>
            <a:r>
              <a:rPr lang="en-US" altLang="zh-CN" dirty="0">
                <a:solidFill>
                  <a:srgbClr val="FF0000"/>
                </a:solidFill>
              </a:rPr>
              <a:t>red</a:t>
            </a:r>
            <a:r>
              <a:rPr lang="en-US" altLang="zh-CN" dirty="0"/>
              <a:t> or </a:t>
            </a:r>
            <a:r>
              <a:rPr lang="en-US" altLang="zh-CN" b="1" dirty="0"/>
              <a:t>black</a:t>
            </a:r>
            <a:r>
              <a:rPr lang="en-US" altLang="zh-CN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The root and leaves (NIL) are </a:t>
            </a:r>
            <a:r>
              <a:rPr lang="en-US" altLang="zh-CN" b="1" dirty="0"/>
              <a:t>black</a:t>
            </a:r>
            <a:r>
              <a:rPr lang="en-US" altLang="zh-CN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If a node is </a:t>
            </a:r>
            <a:r>
              <a:rPr lang="en-US" altLang="zh-CN" dirty="0">
                <a:solidFill>
                  <a:srgbClr val="FF0000"/>
                </a:solidFill>
              </a:rPr>
              <a:t>red</a:t>
            </a:r>
            <a:r>
              <a:rPr lang="en-US" altLang="zh-CN" dirty="0"/>
              <a:t>, then its parent is </a:t>
            </a:r>
            <a:r>
              <a:rPr lang="en-US" altLang="zh-CN" b="1" dirty="0"/>
              <a:t>black</a:t>
            </a:r>
            <a:r>
              <a:rPr lang="en-US" altLang="zh-CN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All simple paths from any node x to a descendant leaf have the same number of </a:t>
            </a:r>
            <a:r>
              <a:rPr lang="en-US" altLang="zh-CN" b="1" dirty="0"/>
              <a:t>black</a:t>
            </a:r>
            <a:r>
              <a:rPr lang="en-US" altLang="zh-CN" dirty="0"/>
              <a:t> nodes.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928688"/>
            <a:ext cx="6719814" cy="350842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33289" y="1052736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 smtClean="0"/>
              <a:t>bh</a:t>
            </a:r>
            <a:r>
              <a:rPr lang="en-US" altLang="zh-CN" dirty="0" smtClean="0"/>
              <a:t>: black height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6456040" y="1268760"/>
            <a:ext cx="1080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236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Height of a </a:t>
            </a:r>
            <a:r>
              <a:rPr lang="en-US" altLang="zh-CN" dirty="0" smtClean="0"/>
              <a:t>Red-black Tree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Theorem: 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A </a:t>
            </a:r>
            <a:r>
              <a:rPr lang="en-US" altLang="zh-CN" dirty="0"/>
              <a:t>red-black tree with </a:t>
            </a:r>
            <a:r>
              <a:rPr lang="en-US" altLang="zh-CN" i="1" dirty="0"/>
              <a:t>n</a:t>
            </a:r>
            <a:r>
              <a:rPr lang="en-US" altLang="zh-CN" dirty="0"/>
              <a:t> keys has height </a:t>
            </a:r>
            <a:r>
              <a:rPr lang="en-US" altLang="zh-CN" i="1" dirty="0"/>
              <a:t>h</a:t>
            </a:r>
            <a:r>
              <a:rPr lang="en-US" altLang="zh-CN" dirty="0"/>
              <a:t> </a:t>
            </a:r>
            <a:r>
              <a:rPr lang="en-US" altLang="zh-CN" dirty="0" smtClean="0"/>
              <a:t>&lt;= </a:t>
            </a:r>
            <a:r>
              <a:rPr lang="en-US" altLang="zh-CN" dirty="0"/>
              <a:t>2 </a:t>
            </a:r>
            <a:r>
              <a:rPr lang="en-US" altLang="zh-CN" dirty="0" err="1"/>
              <a:t>lg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 + 1</a:t>
            </a:r>
            <a:r>
              <a:rPr lang="en-US" altLang="zh-CN" dirty="0" smtClean="0"/>
              <a:t>)</a:t>
            </a:r>
          </a:p>
          <a:p>
            <a:r>
              <a:rPr lang="en-US" altLang="zh-CN" dirty="0" smtClean="0"/>
              <a:t>Intuition:</a:t>
            </a:r>
          </a:p>
          <a:p>
            <a:pPr lvl="1"/>
            <a:r>
              <a:rPr lang="en-US" altLang="zh-CN" dirty="0"/>
              <a:t>Merge red nodes into their black parents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/>
              <a:t>We have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’ &gt;=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/2</a:t>
            </a:r>
            <a:r>
              <a:rPr lang="en-US" altLang="zh-CN" dirty="0"/>
              <a:t>, since at most half the leaves on any path are red.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3284985"/>
            <a:ext cx="3816424" cy="31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55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Modifying </a:t>
            </a:r>
            <a:r>
              <a:rPr lang="en-US" altLang="zh-CN" dirty="0" smtClean="0"/>
              <a:t>Operations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operations INSERT and DELETE cause modifications to the red-black </a:t>
            </a:r>
            <a:r>
              <a:rPr lang="en-US" altLang="zh-CN" dirty="0" smtClean="0"/>
              <a:t>tree:</a:t>
            </a:r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operation </a:t>
            </a:r>
            <a:r>
              <a:rPr lang="en-US" altLang="zh-CN" dirty="0" smtClean="0"/>
              <a:t>itself</a:t>
            </a:r>
          </a:p>
          <a:p>
            <a:pPr lvl="1"/>
            <a:r>
              <a:rPr lang="en-US" altLang="zh-CN" dirty="0" smtClean="0"/>
              <a:t>Color changes</a:t>
            </a:r>
          </a:p>
          <a:p>
            <a:pPr lvl="1"/>
            <a:r>
              <a:rPr lang="en-US" altLang="zh-CN" dirty="0" smtClean="0"/>
              <a:t>Restructuring </a:t>
            </a:r>
            <a:r>
              <a:rPr lang="en-US" altLang="zh-CN" dirty="0"/>
              <a:t>the links of the tree: </a:t>
            </a:r>
            <a:r>
              <a:rPr lang="en-US" altLang="zh-CN" dirty="0" smtClean="0"/>
              <a:t>“</a:t>
            </a:r>
            <a:r>
              <a:rPr lang="en-US" altLang="zh-CN" dirty="0" smtClean="0">
                <a:solidFill>
                  <a:srgbClr val="FF0000"/>
                </a:solidFill>
              </a:rPr>
              <a:t>Rotations</a:t>
            </a:r>
            <a:r>
              <a:rPr lang="en-US" altLang="zh-CN" dirty="0"/>
              <a:t>”.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41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 </a:t>
            </a:r>
            <a:r>
              <a:rPr lang="en-US" altLang="zh-CN" dirty="0"/>
              <a:t>queries SEARCH, MIN, MAX, SUCCESSOR, and PREDECESSOR all run in O(</a:t>
            </a:r>
            <a:r>
              <a:rPr lang="en-US" altLang="zh-CN" dirty="0" err="1"/>
              <a:t>lg</a:t>
            </a:r>
            <a:r>
              <a:rPr lang="en-US" altLang="zh-CN" dirty="0"/>
              <a:t> </a:t>
            </a:r>
            <a:r>
              <a:rPr lang="en-US" altLang="zh-CN" i="1" dirty="0"/>
              <a:t>n</a:t>
            </a:r>
            <a:r>
              <a:rPr lang="en-US" altLang="zh-CN" dirty="0"/>
              <a:t>) time on a red-black tree with </a:t>
            </a:r>
            <a:r>
              <a:rPr lang="en-US" altLang="zh-CN" i="1" dirty="0"/>
              <a:t>n</a:t>
            </a:r>
            <a:r>
              <a:rPr lang="en-US" altLang="zh-CN" dirty="0"/>
              <a:t> nodes. </a:t>
            </a:r>
            <a:endParaRPr lang="en-US" altLang="zh-CN" dirty="0" smtClean="0"/>
          </a:p>
          <a:p>
            <a:r>
              <a:rPr lang="en-US" altLang="zh-CN" dirty="0" smtClean="0"/>
              <a:t>INSERT requires </a:t>
            </a:r>
            <a:r>
              <a:rPr lang="pt-BR" altLang="zh-CN" dirty="0"/>
              <a:t>O(lg </a:t>
            </a:r>
            <a:r>
              <a:rPr lang="pt-BR" altLang="zh-CN" i="1" dirty="0"/>
              <a:t>n</a:t>
            </a:r>
            <a:r>
              <a:rPr lang="pt-BR" altLang="zh-CN" dirty="0"/>
              <a:t>) with O(1) rotations.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269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Red-Black Tree Explanation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</a:t>
            </a:r>
            <a:r>
              <a:rPr lang="en-US" altLang="zh-CN" dirty="0" smtClean="0">
                <a:hlinkClick r:id="rId2"/>
              </a:rPr>
              <a:t>www.bilibili.com/video/BV1854y187eo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018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81189" y="1357314"/>
            <a:ext cx="8429625" cy="64293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8563" y="2714625"/>
            <a:ext cx="4868862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7306</TotalTime>
  <Words>1406</Words>
  <Application>Microsoft Office PowerPoint</Application>
  <PresentationFormat>宽屏</PresentationFormat>
  <Paragraphs>314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MS Hei</vt:lpstr>
      <vt:lpstr>仿宋_GB2312</vt:lpstr>
      <vt:lpstr>宋体</vt:lpstr>
      <vt:lpstr>Arial</vt:lpstr>
      <vt:lpstr>Arial Black</vt:lpstr>
      <vt:lpstr>Calibri</vt:lpstr>
      <vt:lpstr>Times New Roman</vt:lpstr>
      <vt:lpstr>Wingdings</vt:lpstr>
      <vt:lpstr>2_Studio</vt:lpstr>
      <vt:lpstr>Lecture 16 Balanced Trees</vt:lpstr>
      <vt:lpstr>Outline</vt:lpstr>
      <vt:lpstr>Balanced Binary Search Trees: AVL Trees</vt:lpstr>
      <vt:lpstr>AVL Tree Examples</vt:lpstr>
      <vt:lpstr>Insertions into an AVL Tree</vt:lpstr>
      <vt:lpstr>RR Type: Left Rotation</vt:lpstr>
      <vt:lpstr>LL Type: Right Rotation</vt:lpstr>
      <vt:lpstr>RL Type: Double Rotation</vt:lpstr>
      <vt:lpstr>LR Type: Double Rotation</vt:lpstr>
      <vt:lpstr>An AVL Example</vt:lpstr>
      <vt:lpstr>An AVL Example</vt:lpstr>
      <vt:lpstr>An AVL Example</vt:lpstr>
      <vt:lpstr>Exercise</vt:lpstr>
      <vt:lpstr>Analysis of AVL Trees</vt:lpstr>
      <vt:lpstr>Worst-Case AVL Trees</vt:lpstr>
      <vt:lpstr>Worst-Case AVL Trees</vt:lpstr>
      <vt:lpstr>Red-Black Trees</vt:lpstr>
      <vt:lpstr>Example of a Red-black Tree</vt:lpstr>
      <vt:lpstr>Height of a Red-black Tree </vt:lpstr>
      <vt:lpstr>Modifying Operations</vt:lpstr>
      <vt:lpstr>Analysis</vt:lpstr>
      <vt:lpstr>Red-Black Tree Explanation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ZZZ</dc:creator>
  <cp:lastModifiedBy>zzz</cp:lastModifiedBy>
  <cp:revision>964</cp:revision>
  <dcterms:created xsi:type="dcterms:W3CDTF">2014-09-15T06:27:30Z</dcterms:created>
  <dcterms:modified xsi:type="dcterms:W3CDTF">2025-11-12T00:17:13Z</dcterms:modified>
</cp:coreProperties>
</file>