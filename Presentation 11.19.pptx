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3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公众号壹课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zizhen@gmail.com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 userDrawn="1"/>
        </p:nvSpPr>
        <p:spPr bwMode="auto">
          <a:xfrm>
            <a:off x="304800" y="381001"/>
            <a:ext cx="11582400" cy="6048375"/>
          </a:xfrm>
          <a:prstGeom prst="roundRect">
            <a:avLst>
              <a:gd name="adj" fmla="val 7912"/>
            </a:avLst>
          </a:prstGeom>
          <a:solidFill>
            <a:schemeClr val="folHlink"/>
          </a:solidFill>
          <a:ln w="9525">
            <a:noFill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white">
          <a:xfrm>
            <a:off x="436034" y="488950"/>
            <a:ext cx="11247967" cy="4768850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9525">
            <a:noFill/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blackWhite">
          <a:xfrm>
            <a:off x="1828800" y="4500563"/>
            <a:ext cx="8534400" cy="13573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chemeClr val="bg2"/>
            </a:solidFill>
            <a:round/>
          </a:ln>
        </p:spPr>
        <p:txBody>
          <a:bodyPr wrap="none" anchor="ctr"/>
          <a:lstStyle/>
          <a:p>
            <a:pPr algn="ctr">
              <a:defRPr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6" name="Picture 11" descr="sysu_logo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0300" y="94901"/>
            <a:ext cx="2373412" cy="670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2095530" y="4500570"/>
            <a:ext cx="8191500" cy="10279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en-US" altLang="zh-CN" sz="1800" b="1" dirty="0" smtClean="0">
                <a:solidFill>
                  <a:srgbClr val="3A7877"/>
                </a:solidFill>
              </a:rPr>
              <a:t>Data Structures and Algorithms</a:t>
            </a:r>
            <a:endParaRPr lang="en-US" altLang="zh-CN" sz="1800" b="1" dirty="0" smtClean="0">
              <a:solidFill>
                <a:srgbClr val="3A7877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Zizhen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Zhang, School of Computer Science and Engineering, Sun </a:t>
            </a:r>
            <a:r>
              <a:rPr kumimoji="0" lang="en-US" altLang="zh-CN" sz="1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Yat-sen</a:t>
            </a: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University</a:t>
            </a:r>
            <a:endParaRPr kumimoji="0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>
                <a:srgbClr val="CCCC99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A7877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  <a:hlinkClick r:id="rId3"/>
              </a:rPr>
              <a:t>zhangzizhen@gmail.com</a:t>
            </a:r>
            <a:endParaRPr kumimoji="0" lang="en-US" altLang="zh-CN" sz="1400" b="1" i="0" u="none" strike="noStrike" kern="1200" cap="none" spc="0" normalizeH="0" baseline="0" noProof="0" dirty="0" smtClean="0">
              <a:ln>
                <a:noFill/>
              </a:ln>
              <a:solidFill>
                <a:srgbClr val="3A7877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14400" y="1519240"/>
            <a:ext cx="10363200" cy="2266950"/>
          </a:xfrm>
        </p:spPr>
        <p:txBody>
          <a:bodyPr anchor="ctr" anchorCtr="1"/>
          <a:lstStyle>
            <a:lvl1pPr algn="ctr">
              <a:defRPr sz="4100" i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/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6251" y="214314"/>
            <a:ext cx="11239500" cy="642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1" y="928688"/>
            <a:ext cx="11239500" cy="5572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 smtClean="0"/>
          </a:p>
        </p:txBody>
      </p:sp>
      <p:pic>
        <p:nvPicPr>
          <p:cNvPr id="1028" name="Picture 15" descr="C:\Documents and Settings\Administrator\桌面\Briefcase\Web程序设计与AJAX 课程\gif图片下载\英文校名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03751" y="6581776"/>
            <a:ext cx="33020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直接连接符 20"/>
          <p:cNvCxnSpPr/>
          <p:nvPr/>
        </p:nvCxnSpPr>
        <p:spPr>
          <a:xfrm>
            <a:off x="476251" y="855664"/>
            <a:ext cx="11239500" cy="1587"/>
          </a:xfrm>
          <a:prstGeom prst="line">
            <a:avLst/>
          </a:prstGeom>
          <a:ln w="38100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26"/>
          <p:cNvSpPr txBox="1">
            <a:spLocks noChangeArrowheads="1"/>
          </p:cNvSpPr>
          <p:nvPr/>
        </p:nvSpPr>
        <p:spPr bwMode="auto">
          <a:xfrm>
            <a:off x="5143501" y="71439"/>
            <a:ext cx="66675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zh-CN" sz="1100" i="1" dirty="0" smtClean="0">
                <a:solidFill>
                  <a:srgbClr val="3A7877"/>
                </a:solidFill>
                <a:latin typeface="Arial" panose="020B0604020202020204" pitchFamily="34" charset="0"/>
              </a:rPr>
              <a:t>Data structures</a:t>
            </a:r>
            <a:r>
              <a:rPr lang="en-US" altLang="zh-CN" sz="1100" i="1" baseline="0" dirty="0" smtClean="0">
                <a:solidFill>
                  <a:srgbClr val="3A7877"/>
                </a:solidFill>
                <a:latin typeface="Arial" panose="020B0604020202020204" pitchFamily="34" charset="0"/>
              </a:rPr>
              <a:t> and algorithms</a:t>
            </a:r>
            <a:endParaRPr lang="zh-CN" altLang="en-US" sz="1100" i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6868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defRPr/>
            </a:pPr>
            <a:fld id="{FED218EC-7653-412D-96B2-7145C570315F}" type="slidenum">
              <a:rPr lang="en-US" altLang="zh-CN" sz="1000" b="1">
                <a:solidFill>
                  <a:srgbClr val="3A7877"/>
                </a:solidFill>
                <a:latin typeface="Arial" panose="020B0604020202020204" pitchFamily="34" charset="0"/>
              </a:rPr>
            </a:fld>
            <a:r>
              <a:rPr lang="en-US" altLang="zh-CN" sz="1000" b="1" dirty="0">
                <a:solidFill>
                  <a:srgbClr val="3A7877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000" b="1" dirty="0" smtClean="0">
                <a:solidFill>
                  <a:srgbClr val="3A7877"/>
                </a:solidFill>
                <a:latin typeface="Arial" panose="020B0604020202020204" pitchFamily="34" charset="0"/>
              </a:rPr>
              <a:t>/</a:t>
            </a:r>
            <a:endParaRPr lang="en-US" altLang="zh-CN" sz="1000" b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952500" y="6615113"/>
            <a:ext cx="2743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defRPr/>
            </a:pPr>
            <a:fld id="{28F2FBAF-9894-4EB8-8AC6-3F534D888B82}" type="datetime4">
              <a:rPr lang="en-US" altLang="zh-CN" sz="1000" b="1">
                <a:solidFill>
                  <a:srgbClr val="3A7877"/>
                </a:solidFill>
                <a:latin typeface="Arial" panose="020B0604020202020204" pitchFamily="34" charset="0"/>
              </a:rPr>
            </a:fld>
            <a:endParaRPr lang="en-US" altLang="zh-CN" sz="1000" b="1" dirty="0">
              <a:solidFill>
                <a:srgbClr val="3A7877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/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 Black" panose="020B0A040201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50000"/>
        <a:buChar char="•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50000"/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15000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23683" y="2729511"/>
            <a:ext cx="97446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Leetcode 968</a:t>
            </a:r>
            <a:br>
              <a:rPr lang="en-US" altLang="zh-CN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监控二叉树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5584002" y="5653788"/>
            <a:ext cx="94361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>
                <a:solidFill>
                  <a:srgbClr val="014723"/>
                </a:solidFill>
                <a:latin typeface="微软雅黑" panose="020B0503020204020204" charset="-122"/>
                <a:ea typeface="微软雅黑" panose="020B0503020204020204" charset="-122"/>
              </a:rPr>
              <a:t>梁玮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charset="-122"/>
                <a:ea typeface="微软雅黑" panose="020B0503020204020204" charset="-122"/>
              </a:rPr>
              <a:t>麟</a:t>
            </a:r>
            <a:endParaRPr lang="zh-CN" altLang="en-US" dirty="0">
              <a:solidFill>
                <a:srgbClr val="0147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题目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" y="1292225"/>
            <a:ext cx="7810500" cy="3495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15" y="4787900"/>
            <a:ext cx="4953000" cy="1809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示例</a:t>
            </a:r>
            <a:endParaRPr lang="en-US" altLang="zh-CN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10" y="1480820"/>
            <a:ext cx="5729605" cy="4890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270" y="1381125"/>
            <a:ext cx="5359400" cy="5089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思路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118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直接对根节点放监控与不放监控讨论。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父节点放了，子节点就不放。否则就在子节点放。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乘号 1"/>
          <p:cNvSpPr/>
          <p:nvPr/>
        </p:nvSpPr>
        <p:spPr>
          <a:xfrm>
            <a:off x="828040" y="2640330"/>
            <a:ext cx="2917190" cy="34798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813175" y="2798445"/>
            <a:ext cx="8079105" cy="35153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并不是隔一个节点放就是最优解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。比如链式的六个节点，最优解只要两个监控。但是按照这种算法需要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个。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从上往下，不同的树形结构（有两个子树或者只有一个子树）会影响当前节点的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放置决策。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正确的思路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118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对于最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普遍的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结构：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418590" y="2502535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75665" y="394081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217420" y="385953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303020" y="2889250"/>
            <a:ext cx="271780" cy="108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845945" y="3044825"/>
            <a:ext cx="711835" cy="123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54600" y="1450975"/>
            <a:ext cx="3466465" cy="187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没有被监控：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有监控：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008120" y="348551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不难发现，如果子节点有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，那么根节点一定要放监控，根节点设置为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77900" y="4281805"/>
            <a:ext cx="242697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FF0000"/>
                </a:solidFill>
              </a:rPr>
              <a:t>有至少一个</a:t>
            </a: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3020" y="2602865"/>
            <a:ext cx="18307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必须是</a:t>
            </a:r>
            <a:r>
              <a:rPr lang="en-US" altLang="zh-CN" sz="2800">
                <a:solidFill>
                  <a:srgbClr val="FF0000"/>
                </a:solidFill>
              </a:rPr>
              <a:t>2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正确的思路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118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对于最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普遍的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结构：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418590" y="2502535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75665" y="394081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217420" y="385953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303020" y="2889250"/>
            <a:ext cx="271780" cy="108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845945" y="3044825"/>
            <a:ext cx="711835" cy="123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54600" y="1450975"/>
            <a:ext cx="3466465" cy="187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没有被监控：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有监控：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008120" y="348551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不难发现，如果子节点有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，那么根节点一定要放监控，根节点设置为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008120" y="428180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如果子节点没有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，而且有至少一个监控，那么根节点为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3875" y="4281805"/>
            <a:ext cx="278511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olidFill>
                  <a:srgbClr val="FF0000"/>
                </a:solidFill>
                <a:sym typeface="+mn-ea"/>
              </a:rPr>
              <a:t>(1,2),(2,1),(2,2)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3020" y="2602865"/>
            <a:ext cx="12541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solidFill>
                  <a:srgbClr val="FF0000"/>
                </a:solidFill>
              </a:rPr>
              <a:t>1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28725" y="4684395"/>
            <a:ext cx="192405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正确的思路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118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对于最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普遍的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结构：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418590" y="2502535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75665" y="394081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217420" y="385953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303020" y="2889250"/>
            <a:ext cx="271780" cy="108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845945" y="3044825"/>
            <a:ext cx="711835" cy="123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54600" y="1450975"/>
            <a:ext cx="3466465" cy="187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没有被监控：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被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有监控：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008120" y="348551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不难发现，如果子节点有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，那么根节点一定要放监控，根节点设置为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008120" y="428180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如果子节点没有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，而且有至少一个监控，那么根节点可以设置为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135120" y="505904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如果子节点没有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，也没有监控，就是说子节点全是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，这个时候根节点设置为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7860" y="4281805"/>
            <a:ext cx="2515870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olidFill>
                  <a:srgbClr val="FF0000"/>
                </a:solidFill>
              </a:rPr>
              <a:t>无</a:t>
            </a:r>
            <a:r>
              <a:rPr lang="en-US" altLang="zh-CN" sz="2800">
                <a:solidFill>
                  <a:srgbClr val="FF0000"/>
                </a:solidFill>
              </a:rPr>
              <a:t>0</a:t>
            </a:r>
            <a:r>
              <a:rPr lang="zh-CN" altLang="en-US" sz="2800">
                <a:solidFill>
                  <a:srgbClr val="FF0000"/>
                </a:solidFill>
              </a:rPr>
              <a:t>无</a:t>
            </a:r>
            <a:r>
              <a:rPr lang="en-US" altLang="zh-CN" sz="2800">
                <a:solidFill>
                  <a:srgbClr val="FF0000"/>
                </a:solidFill>
              </a:rPr>
              <a:t>2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  <a:r>
              <a:rPr lang="en-US" sz="2800">
                <a:solidFill>
                  <a:srgbClr val="FF0000"/>
                </a:solidFill>
              </a:rPr>
              <a:t>(1,1)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58495" y="2602865"/>
            <a:ext cx="218313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0000"/>
                </a:solidFill>
              </a:rPr>
              <a:t>没被任何监控覆盖，</a:t>
            </a: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正确的</a:t>
            </a:r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思路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1189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对于子节点为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418590" y="2502535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75665" y="394081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217420" y="3859530"/>
            <a:ext cx="664845" cy="67818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303020" y="2889250"/>
            <a:ext cx="271780" cy="1085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845945" y="3044825"/>
            <a:ext cx="711835" cy="1235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008120" y="217233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另一个子节点是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，根节点是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3817620" y="4482465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对比有两个节点的情况，空子节点可以看作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83435" y="4115435"/>
            <a:ext cx="988695" cy="422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rgbClr val="FF0000"/>
                </a:solidFill>
              </a:rPr>
              <a:t>nullptr</a:t>
            </a: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5" name="乘号 4"/>
          <p:cNvSpPr/>
          <p:nvPr/>
        </p:nvSpPr>
        <p:spPr>
          <a:xfrm>
            <a:off x="1744345" y="3180715"/>
            <a:ext cx="746760" cy="73279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4008120" y="2799080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另一个子节点是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，根节点是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014470" y="3384550"/>
            <a:ext cx="7840980" cy="87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另一个子节点是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，根节点是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实现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2341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从树的底部开始往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前递推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用全局变量储存监控个数：如果碰到某个节点是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，则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+1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如果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root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最后是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，需要再在结果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+1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（在根节点放一个监控）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int 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类型的返回值，返回当前节点的状态。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70" y="4100195"/>
            <a:ext cx="6877050" cy="60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代码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1436370"/>
            <a:ext cx="4926330" cy="35153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1292225"/>
            <a:ext cx="5360035" cy="5243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学论网-矩形 1"/>
          <p:cNvSpPr/>
          <p:nvPr/>
        </p:nvSpPr>
        <p:spPr>
          <a:xfrm>
            <a:off x="0" y="791846"/>
            <a:ext cx="12192000" cy="500242"/>
          </a:xfrm>
          <a:prstGeom prst="rect">
            <a:avLst/>
          </a:prstGeom>
          <a:solidFill>
            <a:srgbClr val="004321"/>
          </a:solidFill>
          <a:ln w="12700" cap="flat" cmpd="sng" algn="ctr">
            <a:solidFill>
              <a:srgbClr val="004321"/>
            </a:solidFill>
            <a:prstDash val="solid"/>
          </a:ln>
          <a:effectLst/>
        </p:spPr>
        <p:txBody>
          <a:bodyPr rtlCol="0" anchor="ctr"/>
          <a:lstStyle/>
          <a:p>
            <a:pPr lvl="0" algn="ctr"/>
            <a:r>
              <a:rPr lang="zh-CN" altLang="en-US" sz="36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charset="-122"/>
              </a:rPr>
              <a:t>实现</a:t>
            </a:r>
            <a:endParaRPr lang="zh-CN" altLang="en-US" sz="36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10" y="-274792"/>
            <a:ext cx="2508327" cy="1146352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730250" y="1450975"/>
            <a:ext cx="10928350" cy="2341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后序遍历（载体）</a:t>
            </a:r>
            <a:r>
              <a:rPr lang="en-US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实现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从下往上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传递状态；</a:t>
            </a:r>
            <a:endParaRPr lang="zh-CN" altLang="en-US" sz="3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状态建模（核心）</a:t>
            </a:r>
            <a:r>
              <a:rPr lang="en-US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传递什么信息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0/1/2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状态）；</a:t>
            </a:r>
            <a:endParaRPr lang="zh-CN" altLang="en-US" sz="35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贪心算法（决策）</a:t>
            </a:r>
            <a:r>
              <a:rPr lang="en-US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如何用子节点状态做最优决策</a:t>
            </a:r>
            <a:r>
              <a:rPr lang="en-US" altLang="zh-CN" sz="35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3500" dirty="0">
                <a:latin typeface="宋体" panose="02010600030101010101" pitchFamily="2" charset="-122"/>
                <a:ea typeface="宋体" panose="02010600030101010101" pitchFamily="2" charset="-122"/>
              </a:rPr>
              <a:t>（装或不装摄像头）。</a:t>
            </a:r>
            <a:endParaRPr lang="zh-CN" altLang="en-US" sz="3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161452" y="2867904"/>
            <a:ext cx="1886392" cy="101566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2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Studio">
      <a:majorFont>
        <a:latin typeface="Arial Black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tudio 1">
        <a:dk1>
          <a:srgbClr val="000000"/>
        </a:dk1>
        <a:lt1>
          <a:srgbClr val="FFFFFF"/>
        </a:lt1>
        <a:dk2>
          <a:srgbClr val="336666"/>
        </a:dk2>
        <a:lt2>
          <a:srgbClr val="CCCC99"/>
        </a:lt2>
        <a:accent1>
          <a:srgbClr val="97CDCC"/>
        </a:accent1>
        <a:accent2>
          <a:srgbClr val="D6E0E0"/>
        </a:accent2>
        <a:accent3>
          <a:srgbClr val="FFFFFF"/>
        </a:accent3>
        <a:accent4>
          <a:srgbClr val="000000"/>
        </a:accent4>
        <a:accent5>
          <a:srgbClr val="C9E3E2"/>
        </a:accent5>
        <a:accent6>
          <a:srgbClr val="C2CBCB"/>
        </a:accent6>
        <a:hlink>
          <a:srgbClr val="99CC00"/>
        </a:hlink>
        <a:folHlink>
          <a:srgbClr val="33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2">
        <a:dk1>
          <a:srgbClr val="000000"/>
        </a:dk1>
        <a:lt1>
          <a:srgbClr val="FFFFFF"/>
        </a:lt1>
        <a:dk2>
          <a:srgbClr val="3732A0"/>
        </a:dk2>
        <a:lt2>
          <a:srgbClr val="666699"/>
        </a:lt2>
        <a:accent1>
          <a:srgbClr val="CCCCFF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8A8A"/>
        </a:accent6>
        <a:hlink>
          <a:srgbClr val="3366CC"/>
        </a:hlink>
        <a:folHlink>
          <a:srgbClr val="9094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3">
        <a:dk1>
          <a:srgbClr val="000000"/>
        </a:dk1>
        <a:lt1>
          <a:srgbClr val="FFFFFF"/>
        </a:lt1>
        <a:dk2>
          <a:srgbClr val="CD0505"/>
        </a:dk2>
        <a:lt2>
          <a:srgbClr val="5F5F5F"/>
        </a:lt2>
        <a:accent1>
          <a:srgbClr val="D2D5DE"/>
        </a:accent1>
        <a:accent2>
          <a:srgbClr val="D55757"/>
        </a:accent2>
        <a:accent3>
          <a:srgbClr val="FFFFFF"/>
        </a:accent3>
        <a:accent4>
          <a:srgbClr val="000000"/>
        </a:accent4>
        <a:accent5>
          <a:srgbClr val="E5E7EC"/>
        </a:accent5>
        <a:accent6>
          <a:srgbClr val="C14E4E"/>
        </a:accent6>
        <a:hlink>
          <a:srgbClr val="F42D1E"/>
        </a:hlink>
        <a:folHlink>
          <a:srgbClr val="7C84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4">
        <a:dk1>
          <a:srgbClr val="000000"/>
        </a:dk1>
        <a:lt1>
          <a:srgbClr val="FFFFFF"/>
        </a:lt1>
        <a:dk2>
          <a:srgbClr val="551A07"/>
        </a:dk2>
        <a:lt2>
          <a:srgbClr val="CC3300"/>
        </a:lt2>
        <a:accent1>
          <a:srgbClr val="F4B400"/>
        </a:accent1>
        <a:accent2>
          <a:srgbClr val="993300"/>
        </a:accent2>
        <a:accent3>
          <a:srgbClr val="FFFFFF"/>
        </a:accent3>
        <a:accent4>
          <a:srgbClr val="000000"/>
        </a:accent4>
        <a:accent5>
          <a:srgbClr val="F8D6AA"/>
        </a:accent5>
        <a:accent6>
          <a:srgbClr val="8A2D00"/>
        </a:accent6>
        <a:hlink>
          <a:srgbClr val="FF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5">
        <a:dk1>
          <a:srgbClr val="000000"/>
        </a:dk1>
        <a:lt1>
          <a:srgbClr val="FFFFFF"/>
        </a:lt1>
        <a:dk2>
          <a:srgbClr val="FF0000"/>
        </a:dk2>
        <a:lt2>
          <a:srgbClr val="FFCC00"/>
        </a:lt2>
        <a:accent1>
          <a:srgbClr val="66CC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008A00"/>
        </a:accent6>
        <a:hlink>
          <a:srgbClr val="FF33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io 6">
        <a:dk1>
          <a:srgbClr val="666633"/>
        </a:dk1>
        <a:lt1>
          <a:srgbClr val="FFFFFF"/>
        </a:lt1>
        <a:dk2>
          <a:srgbClr val="000000"/>
        </a:dk2>
        <a:lt2>
          <a:srgbClr val="CC3300"/>
        </a:lt2>
        <a:accent1>
          <a:srgbClr val="8080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C0C0AA"/>
        </a:accent5>
        <a:accent6>
          <a:srgbClr val="E78A00"/>
        </a:accent6>
        <a:hlink>
          <a:srgbClr val="CC6600"/>
        </a:hlink>
        <a:folHlink>
          <a:srgbClr val="434B1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7">
        <a:dk1>
          <a:srgbClr val="766997"/>
        </a:dk1>
        <a:lt1>
          <a:srgbClr val="FFFFFF"/>
        </a:lt1>
        <a:dk2>
          <a:srgbClr val="530901"/>
        </a:dk2>
        <a:lt2>
          <a:srgbClr val="FFFFFF"/>
        </a:lt2>
        <a:accent1>
          <a:srgbClr val="FF3300"/>
        </a:accent1>
        <a:accent2>
          <a:srgbClr val="CC6600"/>
        </a:accent2>
        <a:accent3>
          <a:srgbClr val="B3AAAA"/>
        </a:accent3>
        <a:accent4>
          <a:srgbClr val="DADADA"/>
        </a:accent4>
        <a:accent5>
          <a:srgbClr val="FFADAA"/>
        </a:accent5>
        <a:accent6>
          <a:srgbClr val="B95C00"/>
        </a:accent6>
        <a:hlink>
          <a:srgbClr val="FF9900"/>
        </a:hlink>
        <a:folHlink>
          <a:srgbClr val="99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8">
        <a:dk1>
          <a:srgbClr val="666699"/>
        </a:dk1>
        <a:lt1>
          <a:srgbClr val="FFFFFF"/>
        </a:lt1>
        <a:dk2>
          <a:srgbClr val="4C004C"/>
        </a:dk2>
        <a:lt2>
          <a:srgbClr val="FFFFFF"/>
        </a:lt2>
        <a:accent1>
          <a:srgbClr val="0099CC"/>
        </a:accent1>
        <a:accent2>
          <a:srgbClr val="993366"/>
        </a:accent2>
        <a:accent3>
          <a:srgbClr val="B2AAB2"/>
        </a:accent3>
        <a:accent4>
          <a:srgbClr val="DADADA"/>
        </a:accent4>
        <a:accent5>
          <a:srgbClr val="AACAE2"/>
        </a:accent5>
        <a:accent6>
          <a:srgbClr val="8A2D5C"/>
        </a:accent6>
        <a:hlink>
          <a:srgbClr val="99CC00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9">
        <a:dk1>
          <a:srgbClr val="565682"/>
        </a:dk1>
        <a:lt1>
          <a:srgbClr val="FFFFFF"/>
        </a:lt1>
        <a:dk2>
          <a:srgbClr val="1E1551"/>
        </a:dk2>
        <a:lt2>
          <a:srgbClr val="CCFFFF"/>
        </a:lt2>
        <a:accent1>
          <a:srgbClr val="33CCCC"/>
        </a:accent1>
        <a:accent2>
          <a:srgbClr val="009999"/>
        </a:accent2>
        <a:accent3>
          <a:srgbClr val="ABAAB3"/>
        </a:accent3>
        <a:accent4>
          <a:srgbClr val="DADADA"/>
        </a:accent4>
        <a:accent5>
          <a:srgbClr val="ADE2E2"/>
        </a:accent5>
        <a:accent6>
          <a:srgbClr val="008A8A"/>
        </a:accent6>
        <a:hlink>
          <a:srgbClr val="FF9900"/>
        </a:hlink>
        <a:folHlink>
          <a:srgbClr val="00598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io 10">
        <a:dk1>
          <a:srgbClr val="CCCC99"/>
        </a:dk1>
        <a:lt1>
          <a:srgbClr val="FFFFFF"/>
        </a:lt1>
        <a:dk2>
          <a:srgbClr val="2E5D5C"/>
        </a:dk2>
        <a:lt2>
          <a:srgbClr val="FFFFFF"/>
        </a:lt2>
        <a:accent1>
          <a:srgbClr val="0099CC"/>
        </a:accent1>
        <a:accent2>
          <a:srgbClr val="D6E0E0"/>
        </a:accent2>
        <a:accent3>
          <a:srgbClr val="ADB6B5"/>
        </a:accent3>
        <a:accent4>
          <a:srgbClr val="DADADA"/>
        </a:accent4>
        <a:accent5>
          <a:srgbClr val="AACAE2"/>
        </a:accent5>
        <a:accent6>
          <a:srgbClr val="C2CBCB"/>
        </a:accent6>
        <a:hlink>
          <a:srgbClr val="CCCC99"/>
        </a:hlink>
        <a:folHlink>
          <a:srgbClr val="428A8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WPS 演示</Application>
  <PresentationFormat>宽屏</PresentationFormat>
  <Paragraphs>103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 Black</vt:lpstr>
      <vt:lpstr>Times New Roman</vt:lpstr>
      <vt:lpstr>Arial</vt:lpstr>
      <vt:lpstr>微软雅黑</vt:lpstr>
      <vt:lpstr>Arial Unicode MS</vt:lpstr>
      <vt:lpstr>Calibri</vt:lpstr>
      <vt:lpstr>2_Studio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L.</dc:creator>
  <cp:lastModifiedBy>梁玮麟</cp:lastModifiedBy>
  <cp:revision>4</cp:revision>
  <dcterms:created xsi:type="dcterms:W3CDTF">2023-08-09T12:44:00Z</dcterms:created>
  <dcterms:modified xsi:type="dcterms:W3CDTF">2025-11-17T13:57:36Z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2052-12.1.0.21541</vt:lpwstr>
  </property>
</Properties>
</file>