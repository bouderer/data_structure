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3"/>
  </p:notesMasterIdLst>
  <p:handoutMasterIdLst>
    <p:handoutMasterId r:id="rId24"/>
  </p:handoutMasterIdLst>
  <p:sldIdLst>
    <p:sldId id="256" r:id="rId2"/>
    <p:sldId id="291" r:id="rId3"/>
    <p:sldId id="274" r:id="rId4"/>
    <p:sldId id="283" r:id="rId5"/>
    <p:sldId id="284" r:id="rId6"/>
    <p:sldId id="286" r:id="rId7"/>
    <p:sldId id="285" r:id="rId8"/>
    <p:sldId id="287" r:id="rId9"/>
    <p:sldId id="292" r:id="rId10"/>
    <p:sldId id="293" r:id="rId11"/>
    <p:sldId id="294" r:id="rId12"/>
    <p:sldId id="295" r:id="rId13"/>
    <p:sldId id="306" r:id="rId14"/>
    <p:sldId id="298" r:id="rId15"/>
    <p:sldId id="299" r:id="rId16"/>
    <p:sldId id="300" r:id="rId17"/>
    <p:sldId id="301" r:id="rId18"/>
    <p:sldId id="302" r:id="rId19"/>
    <p:sldId id="307" r:id="rId20"/>
    <p:sldId id="308" r:id="rId21"/>
    <p:sldId id="26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99" autoAdjust="0"/>
  </p:normalViewPr>
  <p:slideViewPr>
    <p:cSldViewPr>
      <p:cViewPr varScale="1">
        <p:scale>
          <a:sx n="133" d="100"/>
          <a:sy n="133" d="100"/>
        </p:scale>
        <p:origin x="1338" y="96"/>
      </p:cViewPr>
      <p:guideLst>
        <p:guide orient="horz" pos="2160"/>
        <p:guide pos="3840"/>
      </p:guideLst>
    </p:cSldViewPr>
  </p:slideViewPr>
  <p:notesTextViewPr>
    <p:cViewPr>
      <p:scale>
        <a:sx n="100" d="100"/>
        <a:sy n="100" d="100"/>
      </p:scale>
      <p:origin x="0" y="0"/>
    </p:cViewPr>
  </p:notesTextViewPr>
  <p:notesViewPr>
    <p:cSldViewPr>
      <p:cViewPr varScale="1">
        <p:scale>
          <a:sx n="54" d="100"/>
          <a:sy n="54" d="100"/>
        </p:scale>
        <p:origin x="-29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41D4C8-AD22-4880-9484-3393AAEA21B4}" type="datetimeFigureOut">
              <a:rPr lang="zh-CN" altLang="en-US" smtClean="0"/>
              <a:pPr/>
              <a:t>2025/11/07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85F2AC-91B5-4045-8919-6468876986A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BEC3C-C740-4938-B957-964D0E0312A7}" type="datetimeFigureOut">
              <a:rPr lang="zh-CN" altLang="en-US" smtClean="0"/>
              <a:pPr/>
              <a:t>2025/11/07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F86499-B8C4-4393-BB2B-FE4804D7EC6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381000" y="685800"/>
            <a:ext cx="6096000" cy="3429000"/>
          </a:xfrm>
          <a:ln/>
        </p:spPr>
      </p:sp>
      <p:sp>
        <p:nvSpPr>
          <p:cNvPr id="19459" name="备注占位符 2"/>
          <p:cNvSpPr>
            <a:spLocks noGrp="1"/>
          </p:cNvSpPr>
          <p:nvPr>
            <p:ph type="body" idx="1"/>
          </p:nvPr>
        </p:nvSpPr>
        <p:spPr>
          <a:noFill/>
          <a:ln/>
        </p:spPr>
        <p:txBody>
          <a:bodyPr/>
          <a:lstStyle/>
          <a:p>
            <a:endParaRPr kumimoji="0" lang="zh-CN" altLang="en-US" smtClean="0"/>
          </a:p>
        </p:txBody>
      </p:sp>
      <p:sp>
        <p:nvSpPr>
          <p:cNvPr id="19460" name="灯片编号占位符 3"/>
          <p:cNvSpPr>
            <a:spLocks noGrp="1"/>
          </p:cNvSpPr>
          <p:nvPr>
            <p:ph type="sldNum" sz="quarter" idx="5"/>
          </p:nvPr>
        </p:nvSpPr>
        <p:spPr>
          <a:noFill/>
        </p:spPr>
        <p:txBody>
          <a:bodyPr/>
          <a:lstStyle/>
          <a:p>
            <a:fld id="{81CA728A-43F0-49BF-8B8D-B1697E3B1699}" type="slidenum">
              <a:rPr lang="en-US" altLang="zh-CN" smtClean="0">
                <a:latin typeface="Arial" charset="0"/>
              </a:rPr>
              <a:pPr/>
              <a:t>1</a:t>
            </a:fld>
            <a:endParaRPr lang="en-US" altLang="zh-CN" smtClean="0">
              <a:latin typeface="Arial" charset="0"/>
            </a:endParaRPr>
          </a:p>
        </p:txBody>
      </p:sp>
      <p:sp>
        <p:nvSpPr>
          <p:cNvPr id="5" name="页脚占位符 4"/>
          <p:cNvSpPr>
            <a:spLocks noGrp="1"/>
          </p:cNvSpPr>
          <p:nvPr>
            <p:ph type="ftr" sz="quarter" idx="10"/>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mailto:zhangzizhen@gmail.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 name="AutoShape 2"/>
          <p:cNvSpPr>
            <a:spLocks noChangeArrowheads="1"/>
          </p:cNvSpPr>
          <p:nvPr userDrawn="1"/>
        </p:nvSpPr>
        <p:spPr bwMode="auto">
          <a:xfrm>
            <a:off x="304800" y="381001"/>
            <a:ext cx="11582400" cy="6048375"/>
          </a:xfrm>
          <a:prstGeom prst="roundRect">
            <a:avLst>
              <a:gd name="adj" fmla="val 7912"/>
            </a:avLst>
          </a:prstGeom>
          <a:solidFill>
            <a:schemeClr val="folHlink"/>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4" name="AutoShape 3"/>
          <p:cNvSpPr>
            <a:spLocks noChangeArrowheads="1"/>
          </p:cNvSpPr>
          <p:nvPr/>
        </p:nvSpPr>
        <p:spPr bwMode="white">
          <a:xfrm>
            <a:off x="436034" y="488950"/>
            <a:ext cx="11247967" cy="4768850"/>
          </a:xfrm>
          <a:prstGeom prst="roundRect">
            <a:avLst>
              <a:gd name="adj" fmla="val 7310"/>
            </a:avLst>
          </a:prstGeom>
          <a:solidFill>
            <a:schemeClr val="bg1"/>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5" name="AutoShape 4"/>
          <p:cNvSpPr>
            <a:spLocks noChangeArrowheads="1"/>
          </p:cNvSpPr>
          <p:nvPr/>
        </p:nvSpPr>
        <p:spPr bwMode="blackWhite">
          <a:xfrm>
            <a:off x="1828800" y="4500563"/>
            <a:ext cx="8534400" cy="1357312"/>
          </a:xfrm>
          <a:prstGeom prst="roundRect">
            <a:avLst>
              <a:gd name="adj" fmla="val 16667"/>
            </a:avLst>
          </a:prstGeom>
          <a:solidFill>
            <a:schemeClr val="bg1"/>
          </a:solidFill>
          <a:ln w="50800">
            <a:solidFill>
              <a:schemeClr val="bg2"/>
            </a:solidFill>
            <a:round/>
            <a:headEnd/>
            <a:tailEnd/>
          </a:ln>
        </p:spPr>
        <p:txBody>
          <a:bodyPr wrap="none" anchor="ctr"/>
          <a:lstStyle/>
          <a:p>
            <a:pPr algn="ctr">
              <a:defRPr/>
            </a:pPr>
            <a:endParaRPr lang="zh-CN" altLang="en-US" sz="1800">
              <a:latin typeface="Arial" pitchFamily="34" charset="0"/>
            </a:endParaRPr>
          </a:p>
        </p:txBody>
      </p:sp>
      <p:pic>
        <p:nvPicPr>
          <p:cNvPr id="6" name="Picture 11" descr="sysu_logo2"/>
          <p:cNvPicPr>
            <a:picLocks noChangeAspect="1" noChangeArrowheads="1"/>
          </p:cNvPicPr>
          <p:nvPr userDrawn="1"/>
        </p:nvPicPr>
        <p:blipFill>
          <a:blip r:embed="rId2" cstate="print"/>
          <a:srcRect/>
          <a:stretch>
            <a:fillRect/>
          </a:stretch>
        </p:blipFill>
        <p:spPr bwMode="auto">
          <a:xfrm>
            <a:off x="1130300" y="94901"/>
            <a:ext cx="2373412" cy="670274"/>
          </a:xfrm>
          <a:prstGeom prst="rect">
            <a:avLst/>
          </a:prstGeom>
          <a:noFill/>
          <a:ln w="9525">
            <a:noFill/>
            <a:miter lim="800000"/>
            <a:headEnd/>
            <a:tailEnd/>
          </a:ln>
        </p:spPr>
      </p:pic>
      <p:sp>
        <p:nvSpPr>
          <p:cNvPr id="7" name="TextBox 6"/>
          <p:cNvSpPr txBox="1">
            <a:spLocks noChangeArrowheads="1"/>
          </p:cNvSpPr>
          <p:nvPr userDrawn="1"/>
        </p:nvSpPr>
        <p:spPr bwMode="auto">
          <a:xfrm>
            <a:off x="2095530" y="4500570"/>
            <a:ext cx="8191500" cy="1027974"/>
          </a:xfrm>
          <a:prstGeom prst="rect">
            <a:avLst/>
          </a:prstGeom>
          <a:noFill/>
          <a:ln>
            <a:noFill/>
          </a:ln>
          <a:extLst>
            <a:ext uri="{909E8E84-426E-40dd-AFC4-6F175D3DCCD1}"/>
            <a:ext uri="{91240B29-F687-4f45-9708-019B960494DF}"/>
          </a:extLst>
        </p:spPr>
        <p:txBody>
          <a:bodyPr wrap="squar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20000"/>
              </a:spcBef>
              <a:buClr>
                <a:schemeClr val="bg2"/>
              </a:buClr>
              <a:buSzPct val="70000"/>
              <a:buFont typeface="Wingdings" pitchFamily="48" charset="2"/>
              <a:buNone/>
              <a:defRPr/>
            </a:pPr>
            <a:r>
              <a:rPr lang="en-US" altLang="zh-CN" sz="1800" b="1" dirty="0" smtClean="0">
                <a:solidFill>
                  <a:srgbClr val="3A7877"/>
                </a:solidFill>
              </a:rPr>
              <a:t>Data Structures and Algorithms</a:t>
            </a: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Zizhen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Zhang, School of Computer Science and Engineering, Sun </a:t>
            </a: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Yat-sen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University</a:t>
            </a:r>
            <a:endParaRPr kumimoji="0" lang="en-US" altLang="zh-CN" sz="1800" b="1" i="0" u="none" strike="noStrike" kern="1200" cap="none" spc="0" normalizeH="0" baseline="0" noProof="0" dirty="0" smtClean="0">
              <a:ln>
                <a:noFill/>
              </a:ln>
              <a:solidFill>
                <a:srgbClr val="3A7877"/>
              </a:solidFill>
              <a:effectLst/>
              <a:uLnTx/>
              <a:uFillTx/>
              <a:latin typeface="Arial"/>
              <a:ea typeface="宋体"/>
              <a:cs typeface="+mn-cs"/>
            </a:endParaRP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hlinkClick r:id="rId3"/>
              </a:rPr>
              <a:t>zhangzizhen@gmail.com</a:t>
            </a:r>
            <a:endPar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endParaRPr>
          </a:p>
        </p:txBody>
      </p:sp>
      <p:sp>
        <p:nvSpPr>
          <p:cNvPr id="95237" name="Rectangle 5"/>
          <p:cNvSpPr>
            <a:spLocks noGrp="1" noChangeArrowheads="1"/>
          </p:cNvSpPr>
          <p:nvPr>
            <p:ph type="ctrTitle"/>
          </p:nvPr>
        </p:nvSpPr>
        <p:spPr>
          <a:xfrm>
            <a:off x="914400" y="1519240"/>
            <a:ext cx="10363200" cy="2266950"/>
          </a:xfrm>
        </p:spPr>
        <p:txBody>
          <a:bodyPr anchor="ctr" anchorCtr="1"/>
          <a:lstStyle>
            <a:lvl1pPr algn="ctr">
              <a:defRPr sz="4100" i="1"/>
            </a:lvl1pPr>
          </a:lstStyle>
          <a:p>
            <a:r>
              <a:rPr lang="zh-CN" altLang="en-US"/>
              <a:t>单击此处编辑母版标题样式</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51" y="214314"/>
            <a:ext cx="11239500" cy="6429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76251" y="928688"/>
            <a:ext cx="11239500" cy="557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pic>
        <p:nvPicPr>
          <p:cNvPr id="1028" name="Picture 15" descr="C:\Documents and Settings\Administrator\桌面\Briefcase\Web程序设计与AJAX 课程\gif图片下载\英文校名.gif"/>
          <p:cNvPicPr>
            <a:picLocks noChangeAspect="1" noChangeArrowheads="1"/>
          </p:cNvPicPr>
          <p:nvPr/>
        </p:nvPicPr>
        <p:blipFill>
          <a:blip r:embed="rId4" cstate="print"/>
          <a:srcRect/>
          <a:stretch>
            <a:fillRect/>
          </a:stretch>
        </p:blipFill>
        <p:spPr bwMode="auto">
          <a:xfrm>
            <a:off x="4603751" y="6581776"/>
            <a:ext cx="3302000" cy="276225"/>
          </a:xfrm>
          <a:prstGeom prst="rect">
            <a:avLst/>
          </a:prstGeom>
          <a:noFill/>
          <a:ln w="9525">
            <a:noFill/>
            <a:miter lim="800000"/>
            <a:headEnd/>
            <a:tailEnd/>
          </a:ln>
        </p:spPr>
      </p:pic>
      <p:cxnSp>
        <p:nvCxnSpPr>
          <p:cNvPr id="21" name="直接连接符 20"/>
          <p:cNvCxnSpPr/>
          <p:nvPr/>
        </p:nvCxnSpPr>
        <p:spPr>
          <a:xfrm>
            <a:off x="476251" y="855664"/>
            <a:ext cx="11239500" cy="1587"/>
          </a:xfrm>
          <a:prstGeom prst="line">
            <a:avLst/>
          </a:prstGeom>
          <a:ln w="38100">
            <a:solidFill>
              <a:srgbClr val="009900"/>
            </a:solidFill>
          </a:ln>
        </p:spPr>
        <p:style>
          <a:lnRef idx="1">
            <a:schemeClr val="accent1"/>
          </a:lnRef>
          <a:fillRef idx="0">
            <a:schemeClr val="accent1"/>
          </a:fillRef>
          <a:effectRef idx="0">
            <a:schemeClr val="accent1"/>
          </a:effectRef>
          <a:fontRef idx="minor">
            <a:schemeClr val="tx1"/>
          </a:fontRef>
        </p:style>
      </p:cxnSp>
      <p:sp>
        <p:nvSpPr>
          <p:cNvPr id="1030" name="TextBox 26"/>
          <p:cNvSpPr txBox="1">
            <a:spLocks noChangeArrowheads="1"/>
          </p:cNvSpPr>
          <p:nvPr/>
        </p:nvSpPr>
        <p:spPr bwMode="auto">
          <a:xfrm>
            <a:off x="5143501" y="71439"/>
            <a:ext cx="6667500" cy="261937"/>
          </a:xfrm>
          <a:prstGeom prst="rect">
            <a:avLst/>
          </a:prstGeom>
          <a:noFill/>
          <a:ln>
            <a:noFill/>
          </a:ln>
          <a:extLst>
            <a:ext uri="{909E8E84-426E-40dd-AFC4-6F175D3DCCD1}"/>
            <a:ext uri="{91240B29-F687-4f45-9708-019B960494DF}"/>
          </a:extLst>
        </p:spPr>
        <p:txBody>
          <a:bodyPr>
            <a:spAutoFit/>
          </a:bodyPr>
          <a:lstStyle/>
          <a:p>
            <a:pPr algn="r">
              <a:defRPr/>
            </a:pPr>
            <a:r>
              <a:rPr lang="en-US" altLang="zh-CN" sz="1100" i="1" dirty="0" smtClean="0">
                <a:solidFill>
                  <a:srgbClr val="3A7877"/>
                </a:solidFill>
                <a:latin typeface="Arial" pitchFamily="34" charset="0"/>
              </a:rPr>
              <a:t>Data structures</a:t>
            </a:r>
            <a:r>
              <a:rPr lang="en-US" altLang="zh-CN" sz="1100" i="1" baseline="0" dirty="0" smtClean="0">
                <a:solidFill>
                  <a:srgbClr val="3A7877"/>
                </a:solidFill>
                <a:latin typeface="Arial" pitchFamily="34" charset="0"/>
              </a:rPr>
              <a:t> and algorithms</a:t>
            </a:r>
            <a:endParaRPr lang="zh-CN" altLang="en-US" sz="1100" i="1" dirty="0">
              <a:solidFill>
                <a:srgbClr val="3A7877"/>
              </a:solidFill>
              <a:latin typeface="Arial" pitchFamily="34" charset="0"/>
            </a:endParaRPr>
          </a:p>
        </p:txBody>
      </p:sp>
      <p:sp>
        <p:nvSpPr>
          <p:cNvPr id="9" name="Rectangle 4"/>
          <p:cNvSpPr txBox="1">
            <a:spLocks noChangeArrowheads="1"/>
          </p:cNvSpPr>
          <p:nvPr userDrawn="1"/>
        </p:nvSpPr>
        <p:spPr bwMode="auto">
          <a:xfrm>
            <a:off x="8686800" y="6615113"/>
            <a:ext cx="2743200" cy="457200"/>
          </a:xfrm>
          <a:prstGeom prst="rect">
            <a:avLst/>
          </a:prstGeom>
          <a:noFill/>
          <a:ln w="9525">
            <a:noFill/>
            <a:miter lim="800000"/>
            <a:headEnd/>
            <a:tailEnd/>
          </a:ln>
          <a:effectLst/>
        </p:spPr>
        <p:txBody>
          <a:bodyPr/>
          <a:lstStyle/>
          <a:p>
            <a:pPr algn="ctr">
              <a:defRPr/>
            </a:pPr>
            <a:fld id="{FED218EC-7653-412D-96B2-7145C570315F}" type="slidenum">
              <a:rPr lang="en-US" altLang="zh-CN" sz="1000" b="1">
                <a:solidFill>
                  <a:srgbClr val="3A7877"/>
                </a:solidFill>
                <a:latin typeface="Arial" pitchFamily="34" charset="0"/>
              </a:rPr>
              <a:pPr algn="ctr">
                <a:defRPr/>
              </a:pPr>
              <a:t>‹#›</a:t>
            </a:fld>
            <a:r>
              <a:rPr lang="en-US" altLang="zh-CN" sz="1000" b="1" dirty="0">
                <a:solidFill>
                  <a:srgbClr val="3A7877"/>
                </a:solidFill>
                <a:latin typeface="Arial" pitchFamily="34" charset="0"/>
              </a:rPr>
              <a:t> </a:t>
            </a:r>
            <a:r>
              <a:rPr lang="en-US" altLang="zh-CN" sz="1000" b="1" dirty="0" smtClean="0">
                <a:solidFill>
                  <a:srgbClr val="3A7877"/>
                </a:solidFill>
                <a:latin typeface="Arial" pitchFamily="34" charset="0"/>
              </a:rPr>
              <a:t>/</a:t>
            </a:r>
            <a:endParaRPr lang="en-US" altLang="zh-CN" sz="1000" b="1" dirty="0">
              <a:solidFill>
                <a:srgbClr val="3A7877"/>
              </a:solidFill>
              <a:latin typeface="Arial" pitchFamily="34" charset="0"/>
            </a:endParaRPr>
          </a:p>
        </p:txBody>
      </p:sp>
      <p:sp>
        <p:nvSpPr>
          <p:cNvPr id="11" name="Rectangle 4"/>
          <p:cNvSpPr txBox="1">
            <a:spLocks noChangeArrowheads="1"/>
          </p:cNvSpPr>
          <p:nvPr/>
        </p:nvSpPr>
        <p:spPr bwMode="auto">
          <a:xfrm>
            <a:off x="952500" y="6615113"/>
            <a:ext cx="2743200" cy="457200"/>
          </a:xfrm>
          <a:prstGeom prst="rect">
            <a:avLst/>
          </a:prstGeom>
          <a:noFill/>
          <a:ln w="9525">
            <a:noFill/>
            <a:miter lim="800000"/>
            <a:headEnd/>
            <a:tailEnd/>
          </a:ln>
          <a:effectLst/>
        </p:spPr>
        <p:txBody>
          <a:bodyPr/>
          <a:lstStyle/>
          <a:p>
            <a:pPr algn="ctr">
              <a:defRPr/>
            </a:pPr>
            <a:fld id="{28F2FBAF-9894-4EB8-8AC6-3F534D888B82}" type="datetime4">
              <a:rPr lang="en-US" altLang="zh-CN" sz="1000" b="1">
                <a:solidFill>
                  <a:srgbClr val="3A7877"/>
                </a:solidFill>
                <a:latin typeface="Arial" pitchFamily="34" charset="0"/>
              </a:rPr>
              <a:pPr algn="ctr">
                <a:defRPr/>
              </a:pPr>
              <a:t>November 7, 2025</a:t>
            </a:fld>
            <a:endParaRPr lang="en-US" altLang="zh-CN" sz="1000" b="1" dirty="0">
              <a:solidFill>
                <a:srgbClr val="3A7877"/>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transition spd="slow"/>
  <p:timing>
    <p:tnLst>
      <p:par>
        <p:cTn id="1" dur="indefinite" restart="never" nodeType="tmRoot"/>
      </p:par>
    </p:tnLst>
  </p:timing>
  <p:hf hdr="0"/>
  <p:txStyles>
    <p:titleStyle>
      <a:lvl1pPr algn="l" rtl="0" eaLnBrk="0" fontAlgn="base" hangingPunct="0">
        <a:spcBef>
          <a:spcPct val="0"/>
        </a:spcBef>
        <a:spcAft>
          <a:spcPct val="0"/>
        </a:spcAft>
        <a:defRPr kumimoji="1" sz="3300">
          <a:solidFill>
            <a:schemeClr val="tx2"/>
          </a:solidFill>
          <a:latin typeface="+mj-lt"/>
          <a:ea typeface="+mj-ea"/>
          <a:cs typeface="宋体" charset="0"/>
        </a:defRPr>
      </a:lvl1pPr>
      <a:lvl2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2pPr>
      <a:lvl3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3pPr>
      <a:lvl4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4pPr>
      <a:lvl5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5pPr>
      <a:lvl6pPr marL="457200" algn="l" rtl="0" fontAlgn="base">
        <a:spcBef>
          <a:spcPct val="0"/>
        </a:spcBef>
        <a:spcAft>
          <a:spcPct val="0"/>
        </a:spcAft>
        <a:defRPr sz="3300">
          <a:solidFill>
            <a:schemeClr val="tx2"/>
          </a:solidFill>
          <a:latin typeface="Arial Black" pitchFamily="34" charset="0"/>
          <a:ea typeface="宋体" pitchFamily="2" charset="-122"/>
        </a:defRPr>
      </a:lvl6pPr>
      <a:lvl7pPr marL="914400" algn="l" rtl="0" fontAlgn="base">
        <a:spcBef>
          <a:spcPct val="0"/>
        </a:spcBef>
        <a:spcAft>
          <a:spcPct val="0"/>
        </a:spcAft>
        <a:defRPr sz="3300">
          <a:solidFill>
            <a:schemeClr val="tx2"/>
          </a:solidFill>
          <a:latin typeface="Arial Black" pitchFamily="34" charset="0"/>
          <a:ea typeface="宋体" pitchFamily="2" charset="-122"/>
        </a:defRPr>
      </a:lvl7pPr>
      <a:lvl8pPr marL="1371600" algn="l" rtl="0" fontAlgn="base">
        <a:spcBef>
          <a:spcPct val="0"/>
        </a:spcBef>
        <a:spcAft>
          <a:spcPct val="0"/>
        </a:spcAft>
        <a:defRPr sz="3300">
          <a:solidFill>
            <a:schemeClr val="tx2"/>
          </a:solidFill>
          <a:latin typeface="Arial Black" pitchFamily="34" charset="0"/>
          <a:ea typeface="宋体" pitchFamily="2" charset="-122"/>
        </a:defRPr>
      </a:lvl8pPr>
      <a:lvl9pPr marL="1828800" algn="l" rtl="0" fontAlgn="base">
        <a:spcBef>
          <a:spcPct val="0"/>
        </a:spcBef>
        <a:spcAft>
          <a:spcPct val="0"/>
        </a:spcAft>
        <a:defRPr sz="3300">
          <a:solidFill>
            <a:schemeClr val="tx2"/>
          </a:solidFill>
          <a:latin typeface="Arial Black"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kumimoji="1" sz="2400">
          <a:solidFill>
            <a:schemeClr val="tx1"/>
          </a:solidFill>
          <a:latin typeface="+mn-lt"/>
          <a:ea typeface="+mn-ea"/>
          <a:cs typeface="宋体" charset="0"/>
        </a:defRPr>
      </a:lvl1pPr>
      <a:lvl2pPr marL="742950" indent="-285750" algn="l" rtl="0" eaLnBrk="0" fontAlgn="base" hangingPunct="0">
        <a:spcBef>
          <a:spcPct val="20000"/>
        </a:spcBef>
        <a:spcAft>
          <a:spcPct val="0"/>
        </a:spcAft>
        <a:buClr>
          <a:schemeClr val="accent1"/>
        </a:buClr>
        <a:buSzPct val="150000"/>
        <a:buChar char="•"/>
        <a:defRPr kumimoji="1" sz="20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kumimoji="1" sz="16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kumimoji="1" sz="16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3"/>
          <p:cNvSpPr>
            <a:spLocks noGrp="1"/>
          </p:cNvSpPr>
          <p:nvPr>
            <p:ph type="ctrTitle"/>
          </p:nvPr>
        </p:nvSpPr>
        <p:spPr/>
        <p:txBody>
          <a:bodyPr/>
          <a:lstStyle/>
          <a:p>
            <a:r>
              <a:rPr kumimoji="0" lang="en-US" altLang="zh-CN" i="0" smtClean="0"/>
              <a:t>Lecture 15</a:t>
            </a:r>
            <a:r>
              <a:rPr kumimoji="0" lang="en-US" altLang="zh-CN" i="0" dirty="0" smtClean="0"/>
              <a:t/>
            </a:r>
            <a:br>
              <a:rPr kumimoji="0" lang="en-US" altLang="zh-CN" i="0" dirty="0" smtClean="0"/>
            </a:br>
            <a:r>
              <a:rPr kumimoji="0" lang="en-US" altLang="zh-CN" i="0" dirty="0" smtClean="0"/>
              <a:t>Binary Search Trees</a:t>
            </a:r>
            <a:endParaRPr kumimoji="0" lang="zh-CN" altLang="en-US" i="0" dirty="0" smtClean="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lstStyle/>
          <a:p>
            <a:r>
              <a:rPr lang="en-US" altLang="zh-CN" dirty="0" smtClean="0"/>
              <a:t>Binary Search Trees</a:t>
            </a:r>
          </a:p>
          <a:p>
            <a:pPr lvl="1"/>
            <a:r>
              <a:rPr lang="en-US" altLang="zh-CN" dirty="0" smtClean="0"/>
              <a:t>Definition</a:t>
            </a:r>
          </a:p>
          <a:p>
            <a:pPr lvl="1"/>
            <a:r>
              <a:rPr lang="en-US" altLang="zh-CN" dirty="0" smtClean="0"/>
              <a:t>Tree search</a:t>
            </a:r>
          </a:p>
          <a:p>
            <a:pPr lvl="1"/>
            <a:r>
              <a:rPr lang="en-US" altLang="zh-CN" dirty="0" smtClean="0"/>
              <a:t>Insertion</a:t>
            </a:r>
            <a:endParaRPr lang="en-US" altLang="zh-CN" dirty="0" smtClean="0"/>
          </a:p>
          <a:p>
            <a:pPr lvl="1"/>
            <a:r>
              <a:rPr lang="en-US" altLang="zh-CN" dirty="0" smtClean="0"/>
              <a:t>Removal</a:t>
            </a:r>
          </a:p>
          <a:p>
            <a:pPr lvl="1"/>
            <a:r>
              <a:rPr lang="en-US" altLang="zh-CN" dirty="0"/>
              <a:t>Tree sort</a:t>
            </a:r>
          </a:p>
          <a:p>
            <a:pPr lvl="1"/>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Binary Search Trees</a:t>
            </a:r>
            <a:endParaRPr lang="zh-CN" altLang="en-US" dirty="0"/>
          </a:p>
        </p:txBody>
      </p:sp>
      <p:sp>
        <p:nvSpPr>
          <p:cNvPr id="3" name="内容占位符 2"/>
          <p:cNvSpPr>
            <a:spLocks noGrp="1"/>
          </p:cNvSpPr>
          <p:nvPr>
            <p:ph idx="1"/>
          </p:nvPr>
        </p:nvSpPr>
        <p:spPr/>
        <p:txBody>
          <a:bodyPr/>
          <a:lstStyle/>
          <a:p>
            <a:r>
              <a:rPr lang="en-US" altLang="zh-CN" dirty="0" smtClean="0"/>
              <a:t>How to search in a list with frequent insertions and deletions?</a:t>
            </a:r>
          </a:p>
          <a:p>
            <a:pPr lvl="1"/>
            <a:r>
              <a:rPr lang="en-US" altLang="zh-CN" dirty="0" smtClean="0"/>
              <a:t>Linked lists: sequential search is inefficient, though insertions and deletions are easy.</a:t>
            </a:r>
          </a:p>
          <a:p>
            <a:pPr lvl="1"/>
            <a:r>
              <a:rPr lang="en-US" altLang="zh-CN" dirty="0" smtClean="0"/>
              <a:t>Ordered contiguous lists: binary search is efficient, but insertions and deletions are not.</a:t>
            </a:r>
          </a:p>
          <a:p>
            <a:pPr lvl="1"/>
            <a:r>
              <a:rPr lang="en-US" altLang="zh-CN" dirty="0" smtClean="0"/>
              <a:t>Can we somehow keep the advantage s of linked storage and obtain the speed of binary search?</a:t>
            </a:r>
          </a:p>
          <a:p>
            <a:r>
              <a:rPr lang="en-US" altLang="zh-CN" dirty="0" smtClean="0"/>
              <a:t>The answer is </a:t>
            </a:r>
            <a:r>
              <a:rPr lang="en-US" altLang="zh-CN" dirty="0" smtClean="0">
                <a:solidFill>
                  <a:srgbClr val="FF0000"/>
                </a:solidFill>
              </a:rPr>
              <a:t>YES</a:t>
            </a:r>
            <a:r>
              <a:rPr lang="en-US" altLang="zh-CN" dirty="0" smtClean="0"/>
              <a:t>: Store the list of nodes as a binary tree with the structure of the comparison tree of binary search.</a:t>
            </a: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Binary Search Trees</a:t>
            </a:r>
            <a:endParaRPr lang="zh-CN" altLang="en-US" dirty="0"/>
          </a:p>
        </p:txBody>
      </p:sp>
      <p:pic>
        <p:nvPicPr>
          <p:cNvPr id="73731" name="Picture 3"/>
          <p:cNvPicPr>
            <a:picLocks noChangeAspect="1" noChangeArrowheads="1"/>
          </p:cNvPicPr>
          <p:nvPr/>
        </p:nvPicPr>
        <p:blipFill>
          <a:blip r:embed="rId2" cstate="print"/>
          <a:srcRect/>
          <a:stretch>
            <a:fillRect/>
          </a:stretch>
        </p:blipFill>
        <p:spPr bwMode="auto">
          <a:xfrm>
            <a:off x="2047876" y="4581128"/>
            <a:ext cx="8096250" cy="1152525"/>
          </a:xfrm>
          <a:prstGeom prst="rect">
            <a:avLst/>
          </a:prstGeom>
          <a:noFill/>
          <a:ln w="9525">
            <a:noFill/>
            <a:miter lim="800000"/>
            <a:headEnd/>
            <a:tailEnd/>
          </a:ln>
          <a:effectLst/>
        </p:spPr>
      </p:pic>
      <p:pic>
        <p:nvPicPr>
          <p:cNvPr id="5" name="图片 4"/>
          <p:cNvPicPr>
            <a:picLocks noChangeAspect="1"/>
          </p:cNvPicPr>
          <p:nvPr/>
        </p:nvPicPr>
        <p:blipFill>
          <a:blip r:embed="rId3"/>
          <a:stretch>
            <a:fillRect/>
          </a:stretch>
        </p:blipFill>
        <p:spPr>
          <a:xfrm>
            <a:off x="695400" y="1052736"/>
            <a:ext cx="10798164" cy="33123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Binary Search Trees</a:t>
            </a:r>
            <a:endParaRPr lang="zh-CN" altLang="en-US" dirty="0"/>
          </a:p>
        </p:txBody>
      </p:sp>
      <p:pic>
        <p:nvPicPr>
          <p:cNvPr id="73730" name="Picture 2"/>
          <p:cNvPicPr>
            <a:picLocks noChangeAspect="1" noChangeArrowheads="1"/>
          </p:cNvPicPr>
          <p:nvPr/>
        </p:nvPicPr>
        <p:blipFill>
          <a:blip r:embed="rId2" cstate="print"/>
          <a:srcRect/>
          <a:stretch>
            <a:fillRect/>
          </a:stretch>
        </p:blipFill>
        <p:spPr bwMode="auto">
          <a:xfrm>
            <a:off x="2095473" y="3943370"/>
            <a:ext cx="8086725" cy="2343150"/>
          </a:xfrm>
          <a:prstGeom prst="rect">
            <a:avLst/>
          </a:prstGeom>
          <a:noFill/>
          <a:ln w="9525">
            <a:noFill/>
            <a:miter lim="800000"/>
            <a:headEnd/>
            <a:tailEnd/>
          </a:ln>
          <a:effectLst/>
        </p:spPr>
      </p:pic>
      <p:pic>
        <p:nvPicPr>
          <p:cNvPr id="73731" name="Picture 3"/>
          <p:cNvPicPr>
            <a:picLocks noChangeAspect="1" noChangeArrowheads="1"/>
          </p:cNvPicPr>
          <p:nvPr/>
        </p:nvPicPr>
        <p:blipFill>
          <a:blip r:embed="rId3" cstate="print"/>
          <a:srcRect/>
          <a:stretch>
            <a:fillRect/>
          </a:stretch>
        </p:blipFill>
        <p:spPr bwMode="auto">
          <a:xfrm>
            <a:off x="2114954" y="928671"/>
            <a:ext cx="8053012" cy="2857521"/>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Binary Search Trees</a:t>
            </a:r>
            <a:endParaRPr lang="zh-CN" altLang="en-US" dirty="0"/>
          </a:p>
        </p:txBody>
      </p:sp>
      <p:sp>
        <p:nvSpPr>
          <p:cNvPr id="3" name="内容占位符 2"/>
          <p:cNvSpPr>
            <a:spLocks noGrp="1"/>
          </p:cNvSpPr>
          <p:nvPr>
            <p:ph idx="1"/>
          </p:nvPr>
        </p:nvSpPr>
        <p:spPr/>
        <p:txBody>
          <a:bodyPr/>
          <a:lstStyle/>
          <a:p>
            <a:r>
              <a:rPr lang="en-US" altLang="zh-CN" dirty="0" smtClean="0"/>
              <a:t>This method will often be called with a parameter target that contains only a key value. The method will fill target with the complete data belonging to any corresponding Record in the tree.</a:t>
            </a:r>
          </a:p>
          <a:p>
            <a:r>
              <a:rPr lang="en-US" altLang="zh-CN" dirty="0" smtClean="0"/>
              <a:t>To search for the target, we first compare it with the entry at the root of the tree. If their keys match, then we are finished. Otherwise, we go to the left </a:t>
            </a:r>
            <a:r>
              <a:rPr lang="en-US" altLang="zh-CN" dirty="0" err="1" smtClean="0"/>
              <a:t>subtree</a:t>
            </a:r>
            <a:r>
              <a:rPr lang="en-US" altLang="zh-CN" dirty="0" smtClean="0"/>
              <a:t> or right </a:t>
            </a:r>
            <a:r>
              <a:rPr lang="en-US" altLang="zh-CN" dirty="0" err="1" smtClean="0"/>
              <a:t>subtree</a:t>
            </a:r>
            <a:r>
              <a:rPr lang="en-US" altLang="zh-CN" dirty="0" smtClean="0"/>
              <a:t> as appropriate and repeat the search in that </a:t>
            </a:r>
            <a:r>
              <a:rPr lang="en-US" altLang="zh-CN" dirty="0" err="1" smtClean="0"/>
              <a:t>subtree</a:t>
            </a:r>
            <a:r>
              <a:rPr lang="en-US" altLang="zh-CN" dirty="0" smtClean="0"/>
              <a:t>.</a:t>
            </a:r>
          </a:p>
          <a:p>
            <a:r>
              <a:rPr lang="en-US" altLang="zh-CN" dirty="0" smtClean="0"/>
              <a:t>We program this process by calling an </a:t>
            </a:r>
            <a:r>
              <a:rPr lang="en-US" altLang="zh-CN" dirty="0" smtClean="0">
                <a:solidFill>
                  <a:srgbClr val="FF0000"/>
                </a:solidFill>
              </a:rPr>
              <a:t>auxiliary recursive function</a:t>
            </a:r>
            <a:r>
              <a:rPr lang="en-US" altLang="zh-CN" dirty="0" smtClean="0"/>
              <a:t>.</a:t>
            </a:r>
          </a:p>
          <a:p>
            <a:r>
              <a:rPr lang="en-US" altLang="zh-CN" dirty="0" smtClean="0"/>
              <a:t>The process terminates when it either finds the target or hits an empty </a:t>
            </a:r>
            <a:r>
              <a:rPr lang="en-US" altLang="zh-CN" dirty="0" err="1" smtClean="0"/>
              <a:t>subtree</a:t>
            </a:r>
            <a:r>
              <a:rPr lang="en-US" altLang="zh-CN" dirty="0" smtClean="0"/>
              <a:t>.</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dirty="0"/>
              <a:t>Recursive and </a:t>
            </a:r>
            <a:r>
              <a:rPr lang="en-US" altLang="zh-CN" sz="2400" b="1" dirty="0" err="1"/>
              <a:t>Nonrecursive</a:t>
            </a:r>
            <a:r>
              <a:rPr lang="en-US" altLang="zh-CN" sz="2400" b="1" dirty="0"/>
              <a:t> Auxiliary Functions</a:t>
            </a:r>
            <a:endParaRPr lang="zh-CN" altLang="en-US" sz="2400" dirty="0"/>
          </a:p>
        </p:txBody>
      </p:sp>
      <p:pic>
        <p:nvPicPr>
          <p:cNvPr id="74754" name="Picture 2"/>
          <p:cNvPicPr>
            <a:picLocks noChangeAspect="1" noChangeArrowheads="1"/>
          </p:cNvPicPr>
          <p:nvPr/>
        </p:nvPicPr>
        <p:blipFill>
          <a:blip r:embed="rId2" cstate="print"/>
          <a:srcRect/>
          <a:stretch>
            <a:fillRect/>
          </a:stretch>
        </p:blipFill>
        <p:spPr bwMode="auto">
          <a:xfrm>
            <a:off x="2238348" y="928670"/>
            <a:ext cx="6728918" cy="2928958"/>
          </a:xfrm>
          <a:prstGeom prst="rect">
            <a:avLst/>
          </a:prstGeom>
          <a:noFill/>
          <a:ln w="9525">
            <a:noFill/>
            <a:miter lim="800000"/>
            <a:headEnd/>
            <a:tailEnd/>
          </a:ln>
          <a:effectLst/>
        </p:spPr>
      </p:pic>
      <p:pic>
        <p:nvPicPr>
          <p:cNvPr id="74755" name="Picture 3"/>
          <p:cNvPicPr>
            <a:picLocks noChangeAspect="1" noChangeArrowheads="1"/>
          </p:cNvPicPr>
          <p:nvPr/>
        </p:nvPicPr>
        <p:blipFill>
          <a:blip r:embed="rId3" cstate="print"/>
          <a:srcRect/>
          <a:stretch>
            <a:fillRect/>
          </a:stretch>
        </p:blipFill>
        <p:spPr bwMode="auto">
          <a:xfrm>
            <a:off x="2238348" y="3951298"/>
            <a:ext cx="6715173" cy="2620974"/>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dirty="0"/>
              <a:t>Several Binary Search Trees with the Same Keys</a:t>
            </a:r>
            <a:endParaRPr lang="zh-CN" altLang="en-US" sz="2400" dirty="0"/>
          </a:p>
        </p:txBody>
      </p:sp>
      <p:pic>
        <p:nvPicPr>
          <p:cNvPr id="75778" name="Picture 2"/>
          <p:cNvPicPr>
            <a:picLocks noChangeAspect="1" noChangeArrowheads="1"/>
          </p:cNvPicPr>
          <p:nvPr/>
        </p:nvPicPr>
        <p:blipFill>
          <a:blip r:embed="rId2" cstate="print"/>
          <a:srcRect/>
          <a:stretch>
            <a:fillRect/>
          </a:stretch>
        </p:blipFill>
        <p:spPr bwMode="auto">
          <a:xfrm>
            <a:off x="2381254" y="923922"/>
            <a:ext cx="5572134" cy="2005012"/>
          </a:xfrm>
          <a:prstGeom prst="rect">
            <a:avLst/>
          </a:prstGeom>
          <a:noFill/>
          <a:ln w="9525">
            <a:noFill/>
            <a:miter lim="800000"/>
            <a:headEnd/>
            <a:tailEnd/>
          </a:ln>
          <a:effectLst/>
        </p:spPr>
      </p:pic>
      <p:pic>
        <p:nvPicPr>
          <p:cNvPr id="75779" name="Picture 3"/>
          <p:cNvPicPr>
            <a:picLocks noChangeAspect="1" noChangeArrowheads="1"/>
          </p:cNvPicPr>
          <p:nvPr/>
        </p:nvPicPr>
        <p:blipFill>
          <a:blip r:embed="rId3" cstate="print"/>
          <a:srcRect/>
          <a:stretch>
            <a:fillRect/>
          </a:stretch>
        </p:blipFill>
        <p:spPr bwMode="auto">
          <a:xfrm>
            <a:off x="2309786" y="2928935"/>
            <a:ext cx="6500858" cy="370522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Tree Search</a:t>
            </a:r>
            <a:endParaRPr lang="zh-CN" altLang="en-US" dirty="0"/>
          </a:p>
        </p:txBody>
      </p:sp>
      <p:sp>
        <p:nvSpPr>
          <p:cNvPr id="3" name="内容占位符 2"/>
          <p:cNvSpPr>
            <a:spLocks noGrp="1"/>
          </p:cNvSpPr>
          <p:nvPr>
            <p:ph idx="1"/>
          </p:nvPr>
        </p:nvSpPr>
        <p:spPr/>
        <p:txBody>
          <a:bodyPr/>
          <a:lstStyle/>
          <a:p>
            <a:r>
              <a:rPr lang="en-US" altLang="zh-CN" dirty="0" smtClean="0"/>
              <a:t>To search for the target, we first compare it with the entry at the root of the tree. If their keys match, then we are finished. Otherwise, we go to the left </a:t>
            </a:r>
            <a:r>
              <a:rPr lang="en-US" altLang="zh-CN" dirty="0" err="1" smtClean="0"/>
              <a:t>subtree</a:t>
            </a:r>
            <a:r>
              <a:rPr lang="en-US" altLang="zh-CN" dirty="0" smtClean="0"/>
              <a:t> or right </a:t>
            </a:r>
            <a:r>
              <a:rPr lang="en-US" altLang="zh-CN" dirty="0" err="1" smtClean="0"/>
              <a:t>subtree</a:t>
            </a:r>
            <a:r>
              <a:rPr lang="en-US" altLang="zh-CN" dirty="0" smtClean="0"/>
              <a:t> as appropriate and repeat the search in that </a:t>
            </a:r>
            <a:r>
              <a:rPr lang="en-US" altLang="zh-CN" dirty="0" err="1" smtClean="0"/>
              <a:t>subtree</a:t>
            </a:r>
            <a:r>
              <a:rPr lang="en-US" altLang="zh-CN" dirty="0" smtClean="0"/>
              <a:t>.</a:t>
            </a:r>
          </a:p>
          <a:p>
            <a:r>
              <a:rPr lang="en-US" altLang="zh-CN" dirty="0" smtClean="0"/>
              <a:t>We program this process by calling an auxiliary recursive function.</a:t>
            </a:r>
          </a:p>
          <a:p>
            <a:r>
              <a:rPr lang="en-US" altLang="zh-CN" dirty="0" smtClean="0"/>
              <a:t>The process terminates when it either finds the target or hits an empty </a:t>
            </a:r>
            <a:r>
              <a:rPr lang="en-US" altLang="zh-CN" dirty="0" err="1" smtClean="0"/>
              <a:t>subtree</a:t>
            </a:r>
            <a:r>
              <a:rPr lang="en-US" altLang="zh-CN" dirty="0" smtClean="0"/>
              <a:t>.</a:t>
            </a:r>
            <a:endParaRPr lang="zh-CN" altLang="en-US" dirty="0"/>
          </a:p>
        </p:txBody>
      </p:sp>
      <p:pic>
        <p:nvPicPr>
          <p:cNvPr id="4" name="Picture 2"/>
          <p:cNvPicPr>
            <a:picLocks noChangeAspect="1" noChangeArrowheads="1"/>
          </p:cNvPicPr>
          <p:nvPr/>
        </p:nvPicPr>
        <p:blipFill>
          <a:blip r:embed="rId2" cstate="print"/>
          <a:srcRect/>
          <a:stretch>
            <a:fillRect/>
          </a:stretch>
        </p:blipFill>
        <p:spPr bwMode="auto">
          <a:xfrm>
            <a:off x="2279576" y="3212976"/>
            <a:ext cx="6728918" cy="2928958"/>
          </a:xfrm>
          <a:prstGeom prst="rect">
            <a:avLst/>
          </a:prstGeom>
          <a:noFill/>
          <a:ln w="9525">
            <a:noFill/>
            <a:miter lim="800000"/>
            <a:headEnd/>
            <a:tailEnd/>
          </a:ln>
          <a:effectLst/>
        </p:spPr>
      </p:pic>
    </p:spTree>
    <p:extLst>
      <p:ext uri="{BB962C8B-B14F-4D97-AF65-F5344CB8AC3E}">
        <p14:creationId xmlns:p14="http://schemas.microsoft.com/office/powerpoint/2010/main" val="576441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Analysis of Tree Search</a:t>
            </a:r>
            <a:endParaRPr lang="zh-CN" altLang="en-US" dirty="0"/>
          </a:p>
        </p:txBody>
      </p:sp>
      <p:sp>
        <p:nvSpPr>
          <p:cNvPr id="3" name="内容占位符 2"/>
          <p:cNvSpPr>
            <a:spLocks noGrp="1"/>
          </p:cNvSpPr>
          <p:nvPr>
            <p:ph idx="1"/>
          </p:nvPr>
        </p:nvSpPr>
        <p:spPr/>
        <p:txBody>
          <a:bodyPr>
            <a:normAutofit/>
          </a:bodyPr>
          <a:lstStyle/>
          <a:p>
            <a:r>
              <a:rPr lang="en-US" altLang="zh-CN" dirty="0" smtClean="0"/>
              <a:t>The same keys may be built into binary search trees of many different shapes.</a:t>
            </a:r>
          </a:p>
          <a:p>
            <a:r>
              <a:rPr lang="en-US" altLang="zh-CN" dirty="0" smtClean="0"/>
              <a:t>If a binary search tree is nearly </a:t>
            </a:r>
            <a:r>
              <a:rPr lang="en-US" altLang="zh-CN" dirty="0" smtClean="0">
                <a:solidFill>
                  <a:srgbClr val="FF0000"/>
                </a:solidFill>
              </a:rPr>
              <a:t>completely balanced</a:t>
            </a:r>
            <a:r>
              <a:rPr lang="en-US" altLang="zh-CN" dirty="0" smtClean="0"/>
              <a:t>, then tree search on a tree with </a:t>
            </a:r>
            <a:r>
              <a:rPr lang="en-US" altLang="zh-CN" i="1" dirty="0" smtClean="0"/>
              <a:t>n</a:t>
            </a:r>
            <a:r>
              <a:rPr lang="en-US" altLang="zh-CN" dirty="0" smtClean="0"/>
              <a:t> vertices will also do </a:t>
            </a:r>
            <a:r>
              <a:rPr lang="en-US" altLang="zh-CN" i="1" dirty="0" smtClean="0"/>
              <a:t>O(log n) </a:t>
            </a:r>
            <a:r>
              <a:rPr lang="en-US" altLang="zh-CN" dirty="0" smtClean="0"/>
              <a:t>comparisons of keys.</a:t>
            </a:r>
          </a:p>
          <a:p>
            <a:r>
              <a:rPr lang="en-US" altLang="zh-CN" dirty="0" smtClean="0"/>
              <a:t>If the tree </a:t>
            </a:r>
            <a:r>
              <a:rPr lang="en-US" altLang="zh-CN" dirty="0" smtClean="0">
                <a:solidFill>
                  <a:srgbClr val="FF0000"/>
                </a:solidFill>
              </a:rPr>
              <a:t>degenerates</a:t>
            </a:r>
            <a:r>
              <a:rPr lang="en-US" altLang="zh-CN" dirty="0" smtClean="0"/>
              <a:t> into a long chain, then tree search becomes the same as sequential search, doing </a:t>
            </a:r>
            <a:r>
              <a:rPr lang="en-US" altLang="zh-CN" i="1" dirty="0" smtClean="0"/>
              <a:t>O(n) </a:t>
            </a:r>
            <a:r>
              <a:rPr lang="en-US" altLang="zh-CN" dirty="0" smtClean="0"/>
              <a:t>comparisons on </a:t>
            </a:r>
            <a:r>
              <a:rPr lang="en-US" altLang="zh-CN" i="1" dirty="0" smtClean="0"/>
              <a:t>n</a:t>
            </a:r>
            <a:r>
              <a:rPr lang="en-US" altLang="zh-CN" dirty="0" smtClean="0"/>
              <a:t> vertices. This is the </a:t>
            </a:r>
            <a:r>
              <a:rPr lang="en-US" altLang="zh-CN" dirty="0" smtClean="0">
                <a:solidFill>
                  <a:srgbClr val="FF0000"/>
                </a:solidFill>
              </a:rPr>
              <a:t>worst case</a:t>
            </a:r>
            <a:r>
              <a:rPr lang="en-US" altLang="zh-CN" dirty="0" smtClean="0"/>
              <a:t> for tree search.</a:t>
            </a:r>
          </a:p>
          <a:p>
            <a:r>
              <a:rPr lang="en-US" altLang="zh-CN" dirty="0" smtClean="0"/>
              <a:t>The number of vertices between the root and the target, inclusive, is the number of comparisons that must be done to find the target.</a:t>
            </a:r>
          </a:p>
          <a:p>
            <a:r>
              <a:rPr lang="en-US" altLang="zh-CN" dirty="0" smtClean="0"/>
              <a:t>In practice, if the keys are built into a binary search tree in random order, tree search usually performs almost as well as binary search.</a:t>
            </a:r>
            <a:endParaRPr lang="zh-CN" altLang="en-US" dirty="0"/>
          </a:p>
        </p:txBody>
      </p:sp>
    </p:spTree>
    <p:extLst>
      <p:ext uri="{BB962C8B-B14F-4D97-AF65-F5344CB8AC3E}">
        <p14:creationId xmlns:p14="http://schemas.microsoft.com/office/powerpoint/2010/main" val="3293948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Insertion into a Binary Search Tree</a:t>
            </a:r>
            <a:endParaRPr lang="zh-CN" altLang="en-US" dirty="0"/>
          </a:p>
        </p:txBody>
      </p:sp>
      <p:pic>
        <p:nvPicPr>
          <p:cNvPr id="77826" name="Picture 2"/>
          <p:cNvPicPr>
            <a:picLocks noChangeAspect="1" noChangeArrowheads="1"/>
          </p:cNvPicPr>
          <p:nvPr/>
        </p:nvPicPr>
        <p:blipFill>
          <a:blip r:embed="rId2" cstate="print"/>
          <a:srcRect/>
          <a:stretch>
            <a:fillRect/>
          </a:stretch>
        </p:blipFill>
        <p:spPr bwMode="auto">
          <a:xfrm>
            <a:off x="2738414" y="1000109"/>
            <a:ext cx="6500858" cy="5534441"/>
          </a:xfrm>
          <a:prstGeom prst="rect">
            <a:avLst/>
          </a:prstGeom>
          <a:noFill/>
          <a:ln w="9525">
            <a:noFill/>
            <a:miter lim="800000"/>
            <a:headEnd/>
            <a:tailEnd/>
          </a:ln>
          <a:effectLst/>
        </p:spPr>
      </p:pic>
    </p:spTree>
    <p:extLst>
      <p:ext uri="{BB962C8B-B14F-4D97-AF65-F5344CB8AC3E}">
        <p14:creationId xmlns:p14="http://schemas.microsoft.com/office/powerpoint/2010/main" val="231433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Method for Insertion</a:t>
            </a:r>
            <a:endParaRPr lang="zh-CN" altLang="en-US" dirty="0"/>
          </a:p>
        </p:txBody>
      </p:sp>
      <p:pic>
        <p:nvPicPr>
          <p:cNvPr id="76802" name="Picture 2"/>
          <p:cNvPicPr>
            <a:picLocks noChangeAspect="1" noChangeArrowheads="1"/>
          </p:cNvPicPr>
          <p:nvPr/>
        </p:nvPicPr>
        <p:blipFill>
          <a:blip r:embed="rId2" cstate="print"/>
          <a:srcRect/>
          <a:stretch>
            <a:fillRect/>
          </a:stretch>
        </p:blipFill>
        <p:spPr bwMode="auto">
          <a:xfrm>
            <a:off x="2524100" y="891215"/>
            <a:ext cx="7000924" cy="5652338"/>
          </a:xfrm>
          <a:prstGeom prst="rect">
            <a:avLst/>
          </a:prstGeom>
          <a:noFill/>
          <a:ln w="9525">
            <a:noFill/>
            <a:miter lim="800000"/>
            <a:headEnd/>
            <a:tailEnd/>
          </a:ln>
          <a:effectLst/>
        </p:spPr>
      </p:pic>
    </p:spTree>
    <p:extLst>
      <p:ext uri="{BB962C8B-B14F-4D97-AF65-F5344CB8AC3E}">
        <p14:creationId xmlns:p14="http://schemas.microsoft.com/office/powerpoint/2010/main" val="2660708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dirty="0"/>
              <a:t>Performance of Random Binary Search Trees</a:t>
            </a:r>
            <a:endParaRPr lang="zh-CN" altLang="en-US" sz="2400" dirty="0"/>
          </a:p>
        </p:txBody>
      </p:sp>
      <p:sp>
        <p:nvSpPr>
          <p:cNvPr id="3" name="内容占位符 2"/>
          <p:cNvSpPr>
            <a:spLocks noGrp="1"/>
          </p:cNvSpPr>
          <p:nvPr>
            <p:ph idx="1"/>
          </p:nvPr>
        </p:nvSpPr>
        <p:spPr/>
        <p:txBody>
          <a:bodyPr/>
          <a:lstStyle/>
          <a:p>
            <a:r>
              <a:rPr lang="en-US" altLang="zh-CN" dirty="0" smtClean="0"/>
              <a:t>Problem: If we assume that the keys have been inserted into a binary search tree in random order, then, on average, how many comparisons are needed?</a:t>
            </a:r>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2309787" y="2276872"/>
            <a:ext cx="7572428" cy="3322741"/>
          </a:xfrm>
          <a:prstGeom prst="rect">
            <a:avLst/>
          </a:prstGeom>
          <a:noFill/>
          <a:ln w="9525">
            <a:noFill/>
            <a:miter lim="800000"/>
            <a:headEnd/>
            <a:tailEnd/>
          </a:ln>
          <a:effectLst/>
        </p:spPr>
      </p:pic>
    </p:spTree>
    <p:extLst>
      <p:ext uri="{BB962C8B-B14F-4D97-AF65-F5344CB8AC3E}">
        <p14:creationId xmlns:p14="http://schemas.microsoft.com/office/powerpoint/2010/main" val="36446613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Removal from a Binary Search Tree</a:t>
            </a:r>
            <a:endParaRPr lang="zh-CN" altLang="en-US" dirty="0"/>
          </a:p>
        </p:txBody>
      </p:sp>
      <p:pic>
        <p:nvPicPr>
          <p:cNvPr id="2050" name="Picture 2"/>
          <p:cNvPicPr>
            <a:picLocks noChangeAspect="1" noChangeArrowheads="1"/>
          </p:cNvPicPr>
          <p:nvPr/>
        </p:nvPicPr>
        <p:blipFill>
          <a:blip r:embed="rId2" cstate="print"/>
          <a:srcRect/>
          <a:stretch>
            <a:fillRect/>
          </a:stretch>
        </p:blipFill>
        <p:spPr bwMode="auto">
          <a:xfrm>
            <a:off x="1991544" y="1340768"/>
            <a:ext cx="7825236" cy="3477128"/>
          </a:xfrm>
          <a:prstGeom prst="rect">
            <a:avLst/>
          </a:prstGeom>
          <a:noFill/>
          <a:ln w="9525">
            <a:noFill/>
            <a:miter lim="800000"/>
            <a:headEnd/>
            <a:tailEnd/>
          </a:ln>
          <a:effectLst/>
        </p:spPr>
      </p:pic>
    </p:spTree>
    <p:extLst>
      <p:ext uri="{BB962C8B-B14F-4D97-AF65-F5344CB8AC3E}">
        <p14:creationId xmlns:p14="http://schemas.microsoft.com/office/powerpoint/2010/main" val="15355875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Removal from a Binary Search Tree</a:t>
            </a:r>
            <a:endParaRPr lang="zh-CN" altLang="en-US" dirty="0"/>
          </a:p>
        </p:txBody>
      </p:sp>
      <p:pic>
        <p:nvPicPr>
          <p:cNvPr id="4" name="Picture 3"/>
          <p:cNvPicPr>
            <a:picLocks noChangeAspect="1" noChangeArrowheads="1"/>
          </p:cNvPicPr>
          <p:nvPr/>
        </p:nvPicPr>
        <p:blipFill>
          <a:blip r:embed="rId2" cstate="print"/>
          <a:srcRect/>
          <a:stretch>
            <a:fillRect/>
          </a:stretch>
        </p:blipFill>
        <p:spPr bwMode="auto">
          <a:xfrm>
            <a:off x="1858508" y="1071546"/>
            <a:ext cx="8452335" cy="3500462"/>
          </a:xfrm>
          <a:prstGeom prst="rect">
            <a:avLst/>
          </a:prstGeom>
          <a:noFill/>
          <a:ln w="9525">
            <a:noFill/>
            <a:miter lim="800000"/>
            <a:headEnd/>
            <a:tailEnd/>
          </a:ln>
          <a:effectLst/>
        </p:spPr>
      </p:pic>
      <p:sp>
        <p:nvSpPr>
          <p:cNvPr id="5" name="矩形标注 4"/>
          <p:cNvSpPr/>
          <p:nvPr/>
        </p:nvSpPr>
        <p:spPr>
          <a:xfrm>
            <a:off x="2666976" y="5286388"/>
            <a:ext cx="4429156" cy="785818"/>
          </a:xfrm>
          <a:prstGeom prst="wedgeRectCallout">
            <a:avLst>
              <a:gd name="adj1" fmla="val -43912"/>
              <a:gd name="adj2" fmla="val -18102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rPr>
              <a:t>A node's in-order predecessor is the right-most child of its left sub-tree</a:t>
            </a:r>
            <a:endParaRPr lang="zh-CN" altLang="en-US" sz="2000" dirty="0">
              <a:solidFill>
                <a:srgbClr val="FF0000"/>
              </a:solidFill>
            </a:endParaRPr>
          </a:p>
        </p:txBody>
      </p:sp>
    </p:spTree>
    <p:extLst>
      <p:ext uri="{BB962C8B-B14F-4D97-AF65-F5344CB8AC3E}">
        <p14:creationId xmlns:p14="http://schemas.microsoft.com/office/powerpoint/2010/main" val="40943432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Removal Method</a:t>
            </a:r>
            <a:endParaRPr lang="zh-CN" altLang="en-US" dirty="0"/>
          </a:p>
        </p:txBody>
      </p:sp>
      <p:pic>
        <p:nvPicPr>
          <p:cNvPr id="3074" name="Picture 2"/>
          <p:cNvPicPr>
            <a:picLocks noChangeAspect="1" noChangeArrowheads="1"/>
          </p:cNvPicPr>
          <p:nvPr/>
        </p:nvPicPr>
        <p:blipFill>
          <a:blip r:embed="rId2" cstate="print"/>
          <a:srcRect/>
          <a:stretch>
            <a:fillRect/>
          </a:stretch>
        </p:blipFill>
        <p:spPr bwMode="auto">
          <a:xfrm>
            <a:off x="2166910" y="928670"/>
            <a:ext cx="6572296" cy="19431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2166910" y="3071811"/>
            <a:ext cx="6429420" cy="3495675"/>
          </a:xfrm>
          <a:prstGeom prst="rect">
            <a:avLst/>
          </a:prstGeom>
          <a:noFill/>
          <a:ln w="9525">
            <a:noFill/>
            <a:miter lim="800000"/>
            <a:headEnd/>
            <a:tailEnd/>
          </a:ln>
          <a:effectLst/>
        </p:spPr>
      </p:pic>
    </p:spTree>
    <p:extLst>
      <p:ext uri="{BB962C8B-B14F-4D97-AF65-F5344CB8AC3E}">
        <p14:creationId xmlns:p14="http://schemas.microsoft.com/office/powerpoint/2010/main" val="33049123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dirty="0"/>
              <a:t>Auxiliary Function to Remove One Node</a:t>
            </a:r>
            <a:endParaRPr lang="zh-CN" altLang="en-US" sz="2800" dirty="0"/>
          </a:p>
        </p:txBody>
      </p:sp>
      <p:pic>
        <p:nvPicPr>
          <p:cNvPr id="4098" name="Picture 2"/>
          <p:cNvPicPr>
            <a:picLocks noChangeAspect="1" noChangeArrowheads="1"/>
          </p:cNvPicPr>
          <p:nvPr/>
        </p:nvPicPr>
        <p:blipFill>
          <a:blip r:embed="rId2" cstate="print"/>
          <a:srcRect/>
          <a:stretch>
            <a:fillRect/>
          </a:stretch>
        </p:blipFill>
        <p:spPr bwMode="auto">
          <a:xfrm>
            <a:off x="1271464" y="908720"/>
            <a:ext cx="6233346" cy="5715040"/>
          </a:xfrm>
          <a:prstGeom prst="rect">
            <a:avLst/>
          </a:prstGeom>
          <a:noFill/>
          <a:ln w="9525">
            <a:noFill/>
            <a:miter lim="800000"/>
            <a:headEnd/>
            <a:tailEnd/>
          </a:ln>
          <a:effectLst/>
        </p:spPr>
      </p:pic>
      <p:sp>
        <p:nvSpPr>
          <p:cNvPr id="4" name="文本框 3"/>
          <p:cNvSpPr txBox="1"/>
          <p:nvPr/>
        </p:nvSpPr>
        <p:spPr>
          <a:xfrm>
            <a:off x="7896200" y="3212976"/>
            <a:ext cx="3744416" cy="3293209"/>
          </a:xfrm>
          <a:prstGeom prst="rect">
            <a:avLst/>
          </a:prstGeom>
          <a:noFill/>
        </p:spPr>
        <p:txBody>
          <a:bodyPr wrap="square" rtlCol="0">
            <a:spAutoFit/>
          </a:bodyPr>
          <a:lstStyle/>
          <a:p>
            <a:r>
              <a:rPr lang="en-US" altLang="zh-CN" sz="1600" b="1" dirty="0" smtClean="0"/>
              <a:t>Note</a:t>
            </a:r>
            <a:r>
              <a:rPr lang="en-US" altLang="zh-CN" sz="1600" dirty="0" smtClean="0"/>
              <a:t>: You </a:t>
            </a:r>
            <a:r>
              <a:rPr lang="en-US" altLang="zh-CN" sz="1600" dirty="0"/>
              <a:t>should trace through this function to check that all pointers are updated </a:t>
            </a:r>
            <a:r>
              <a:rPr lang="en-US" altLang="zh-CN" sz="1600" dirty="0" smtClean="0"/>
              <a:t>properly, especially </a:t>
            </a:r>
            <a:r>
              <a:rPr lang="en-US" altLang="zh-CN" sz="1600" dirty="0"/>
              <a:t>in the cases when </a:t>
            </a:r>
            <a:r>
              <a:rPr lang="en-US" altLang="zh-CN" sz="1600" dirty="0">
                <a:solidFill>
                  <a:srgbClr val="FF0000"/>
                </a:solidFill>
              </a:rPr>
              <a:t>neither</a:t>
            </a:r>
            <a:r>
              <a:rPr lang="en-US" altLang="zh-CN" sz="1600" dirty="0"/>
              <a:t> subtree is </a:t>
            </a:r>
            <a:r>
              <a:rPr lang="en-US" altLang="zh-CN" sz="1600" dirty="0">
                <a:solidFill>
                  <a:srgbClr val="FF0000"/>
                </a:solidFill>
              </a:rPr>
              <a:t>empty</a:t>
            </a:r>
            <a:r>
              <a:rPr lang="en-US" altLang="zh-CN" sz="1600" dirty="0"/>
              <a:t>. We must </a:t>
            </a:r>
            <a:r>
              <a:rPr lang="en-US" altLang="zh-CN" sz="1600" dirty="0" smtClean="0"/>
              <a:t>carefully distinguish </a:t>
            </a:r>
            <a:r>
              <a:rPr lang="en-US" altLang="zh-CN" sz="1600" dirty="0"/>
              <a:t>between the case where the </a:t>
            </a:r>
            <a:r>
              <a:rPr lang="en-US" altLang="zh-CN" sz="1600" dirty="0">
                <a:solidFill>
                  <a:srgbClr val="FF0000"/>
                </a:solidFill>
              </a:rPr>
              <a:t>left child of the root </a:t>
            </a:r>
            <a:r>
              <a:rPr lang="en-US" altLang="zh-CN" sz="1600" dirty="0"/>
              <a:t>is its </a:t>
            </a:r>
            <a:r>
              <a:rPr lang="en-US" altLang="zh-CN" sz="1600" dirty="0">
                <a:solidFill>
                  <a:srgbClr val="FF0000"/>
                </a:solidFill>
              </a:rPr>
              <a:t>predecessor</a:t>
            </a:r>
            <a:r>
              <a:rPr lang="en-US" altLang="zh-CN" sz="1600" dirty="0"/>
              <a:t> </a:t>
            </a:r>
            <a:r>
              <a:rPr lang="en-US" altLang="zh-CN" sz="1600" dirty="0" smtClean="0"/>
              <a:t>and the </a:t>
            </a:r>
            <a:r>
              <a:rPr lang="en-US" altLang="zh-CN" sz="1600" dirty="0"/>
              <a:t>case where it is necessary to </a:t>
            </a:r>
            <a:r>
              <a:rPr lang="en-US" altLang="zh-CN" sz="1600" dirty="0">
                <a:solidFill>
                  <a:srgbClr val="FF0000"/>
                </a:solidFill>
              </a:rPr>
              <a:t>move right </a:t>
            </a:r>
            <a:r>
              <a:rPr lang="en-US" altLang="zh-CN" sz="1600" dirty="0"/>
              <a:t>to find the predecessor. Note the </a:t>
            </a:r>
            <a:r>
              <a:rPr lang="en-US" altLang="zh-CN" sz="1600" dirty="0" smtClean="0"/>
              <a:t>steps needed </a:t>
            </a:r>
            <a:r>
              <a:rPr lang="en-US" altLang="zh-CN" sz="1600" dirty="0"/>
              <a:t>in this final case to make the loop stop at a node with </a:t>
            </a:r>
            <a:r>
              <a:rPr lang="en-US" altLang="zh-CN" sz="1600" dirty="0">
                <a:solidFill>
                  <a:srgbClr val="FF0000"/>
                </a:solidFill>
              </a:rPr>
              <a:t>an empty right subtree</a:t>
            </a:r>
            <a:r>
              <a:rPr lang="en-US" altLang="zh-CN" sz="1600" dirty="0"/>
              <a:t>,</a:t>
            </a:r>
          </a:p>
          <a:p>
            <a:r>
              <a:rPr lang="en-US" altLang="zh-CN" sz="1600" dirty="0"/>
              <a:t>but not to end at the empty subtree itself.</a:t>
            </a:r>
            <a:endParaRPr lang="zh-CN" altLang="en-US" sz="1600" dirty="0"/>
          </a:p>
        </p:txBody>
      </p:sp>
      <p:cxnSp>
        <p:nvCxnSpPr>
          <p:cNvPr id="6" name="直接箭头连接符 5"/>
          <p:cNvCxnSpPr/>
          <p:nvPr/>
        </p:nvCxnSpPr>
        <p:spPr>
          <a:xfrm flipH="1">
            <a:off x="6960096" y="4859580"/>
            <a:ext cx="864096" cy="153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9478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Exercise</a:t>
            </a:r>
            <a:endParaRPr lang="zh-CN" altLang="en-US" dirty="0"/>
          </a:p>
        </p:txBody>
      </p:sp>
      <p:sp>
        <p:nvSpPr>
          <p:cNvPr id="3" name="内容占位符 2"/>
          <p:cNvSpPr>
            <a:spLocks noGrp="1"/>
          </p:cNvSpPr>
          <p:nvPr>
            <p:ph idx="1"/>
          </p:nvPr>
        </p:nvSpPr>
        <p:spPr/>
        <p:txBody>
          <a:bodyPr/>
          <a:lstStyle/>
          <a:p>
            <a:r>
              <a:rPr lang="en-US" altLang="zh-CN" dirty="0" smtClean="0"/>
              <a:t>Draw the binary search tree according to the following operations.</a:t>
            </a:r>
          </a:p>
          <a:p>
            <a:pPr>
              <a:buNone/>
            </a:pPr>
            <a:r>
              <a:rPr lang="en-US" altLang="zh-CN" dirty="0" smtClean="0"/>
              <a:t>	Insert 3</a:t>
            </a:r>
          </a:p>
          <a:p>
            <a:pPr>
              <a:buNone/>
            </a:pPr>
            <a:r>
              <a:rPr lang="en-US" altLang="zh-CN" dirty="0" smtClean="0"/>
              <a:t>	Insert 6</a:t>
            </a:r>
          </a:p>
          <a:p>
            <a:pPr>
              <a:buNone/>
            </a:pPr>
            <a:r>
              <a:rPr lang="en-US" altLang="zh-CN" dirty="0" smtClean="0"/>
              <a:t>	Insert 7</a:t>
            </a:r>
          </a:p>
          <a:p>
            <a:pPr>
              <a:buNone/>
            </a:pPr>
            <a:r>
              <a:rPr lang="en-US" altLang="zh-CN" dirty="0" smtClean="0"/>
              <a:t>	Insert 2</a:t>
            </a:r>
          </a:p>
          <a:p>
            <a:pPr>
              <a:buNone/>
            </a:pPr>
            <a:r>
              <a:rPr lang="en-US" altLang="zh-CN" dirty="0" smtClean="0"/>
              <a:t>	Insert 4</a:t>
            </a:r>
          </a:p>
          <a:p>
            <a:pPr>
              <a:buNone/>
            </a:pPr>
            <a:r>
              <a:rPr lang="en-US" altLang="zh-CN" dirty="0" smtClean="0"/>
              <a:t>	Insert 5</a:t>
            </a:r>
          </a:p>
          <a:p>
            <a:pPr>
              <a:buNone/>
            </a:pPr>
            <a:r>
              <a:rPr lang="en-US" altLang="zh-CN" dirty="0" smtClean="0"/>
              <a:t>	Delete 6</a:t>
            </a:r>
          </a:p>
          <a:p>
            <a:pPr>
              <a:buNone/>
            </a:pPr>
            <a:r>
              <a:rPr lang="en-US" altLang="zh-CN" dirty="0" smtClean="0"/>
              <a:t>	Delete 3</a:t>
            </a:r>
          </a:p>
          <a:p>
            <a:pPr>
              <a:buNone/>
            </a:pPr>
            <a:endParaRPr lang="zh-CN" altLang="en-US" dirty="0"/>
          </a:p>
        </p:txBody>
      </p:sp>
    </p:spTree>
    <p:extLst>
      <p:ext uri="{BB962C8B-B14F-4D97-AF65-F5344CB8AC3E}">
        <p14:creationId xmlns:p14="http://schemas.microsoft.com/office/powerpoint/2010/main" val="13387045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smtClean="0"/>
              <a:t>Treesort</a:t>
            </a:r>
            <a:endParaRPr lang="zh-CN" altLang="en-US" dirty="0"/>
          </a:p>
        </p:txBody>
      </p:sp>
      <p:sp>
        <p:nvSpPr>
          <p:cNvPr id="3" name="内容占位符 2"/>
          <p:cNvSpPr>
            <a:spLocks noGrp="1"/>
          </p:cNvSpPr>
          <p:nvPr>
            <p:ph idx="1"/>
          </p:nvPr>
        </p:nvSpPr>
        <p:spPr/>
        <p:txBody>
          <a:bodyPr/>
          <a:lstStyle/>
          <a:p>
            <a:r>
              <a:rPr lang="en-US" altLang="zh-CN" dirty="0" smtClean="0"/>
              <a:t>When a binary search tree is traversed in </a:t>
            </a:r>
            <a:r>
              <a:rPr lang="en-US" altLang="zh-CN" dirty="0" err="1" smtClean="0">
                <a:solidFill>
                  <a:srgbClr val="FF0000"/>
                </a:solidFill>
              </a:rPr>
              <a:t>inorder</a:t>
            </a:r>
            <a:r>
              <a:rPr lang="en-US" altLang="zh-CN" dirty="0" smtClean="0"/>
              <a:t>, the keys will come out in sorted order.</a:t>
            </a:r>
          </a:p>
          <a:p>
            <a:r>
              <a:rPr lang="en-US" altLang="zh-CN" dirty="0" smtClean="0"/>
              <a:t>This is the basis for a sorting method, called </a:t>
            </a:r>
            <a:r>
              <a:rPr lang="en-US" altLang="zh-CN" i="1" dirty="0" err="1" smtClean="0">
                <a:solidFill>
                  <a:srgbClr val="FF0000"/>
                </a:solidFill>
              </a:rPr>
              <a:t>treesort</a:t>
            </a:r>
            <a:r>
              <a:rPr lang="en-US" altLang="zh-CN" i="1" dirty="0" smtClean="0"/>
              <a:t>: </a:t>
            </a:r>
            <a:r>
              <a:rPr lang="en-US" altLang="zh-CN" dirty="0" smtClean="0"/>
              <a:t>Take the entries to be sorted, use the method insert to build them into a binary search tree, and then use </a:t>
            </a:r>
            <a:r>
              <a:rPr lang="en-US" altLang="zh-CN" dirty="0" err="1" smtClean="0">
                <a:solidFill>
                  <a:srgbClr val="FF0000"/>
                </a:solidFill>
              </a:rPr>
              <a:t>inorder</a:t>
            </a:r>
            <a:r>
              <a:rPr lang="en-US" altLang="zh-CN" dirty="0" smtClean="0"/>
              <a:t> traversal to put them out in order.</a:t>
            </a:r>
          </a:p>
          <a:p>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2081242" y="3600460"/>
            <a:ext cx="8086725" cy="1257300"/>
          </a:xfrm>
          <a:prstGeom prst="rect">
            <a:avLst/>
          </a:prstGeom>
          <a:noFill/>
          <a:ln w="9525">
            <a:noFill/>
            <a:miter lim="800000"/>
            <a:headEnd/>
            <a:tailEnd/>
          </a:ln>
          <a:effectLst/>
        </p:spPr>
      </p:pic>
    </p:spTree>
    <p:extLst>
      <p:ext uri="{BB962C8B-B14F-4D97-AF65-F5344CB8AC3E}">
        <p14:creationId xmlns:p14="http://schemas.microsoft.com/office/powerpoint/2010/main" val="39936218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smtClean="0"/>
              <a:t>Treesort</a:t>
            </a:r>
            <a:endParaRPr lang="zh-CN" altLang="en-US" dirty="0"/>
          </a:p>
        </p:txBody>
      </p:sp>
      <p:sp>
        <p:nvSpPr>
          <p:cNvPr id="3" name="内容占位符 2"/>
          <p:cNvSpPr>
            <a:spLocks noGrp="1"/>
          </p:cNvSpPr>
          <p:nvPr>
            <p:ph idx="1"/>
          </p:nvPr>
        </p:nvSpPr>
        <p:spPr/>
        <p:txBody>
          <a:bodyPr/>
          <a:lstStyle/>
          <a:p>
            <a:endParaRPr lang="en-US" altLang="zh-CN" sz="2200" dirty="0"/>
          </a:p>
          <a:p>
            <a:endParaRPr lang="en-US" altLang="zh-CN" sz="2200" dirty="0"/>
          </a:p>
          <a:p>
            <a:endParaRPr lang="en-US" altLang="zh-CN" sz="2200" dirty="0"/>
          </a:p>
          <a:p>
            <a:endParaRPr lang="en-US" altLang="zh-CN" sz="2200" dirty="0"/>
          </a:p>
          <a:p>
            <a:endParaRPr lang="en-US" altLang="zh-CN" sz="1800" dirty="0"/>
          </a:p>
          <a:p>
            <a:endParaRPr lang="en-US" altLang="zh-CN" sz="2200" dirty="0"/>
          </a:p>
          <a:p>
            <a:r>
              <a:rPr lang="en-US" altLang="zh-CN" sz="2200" dirty="0"/>
              <a:t>First advantage of </a:t>
            </a:r>
            <a:r>
              <a:rPr lang="en-US" altLang="zh-CN" sz="2200" dirty="0" err="1">
                <a:solidFill>
                  <a:srgbClr val="FF0000"/>
                </a:solidFill>
              </a:rPr>
              <a:t>treesort</a:t>
            </a:r>
            <a:r>
              <a:rPr lang="en-US" altLang="zh-CN" sz="2200" dirty="0"/>
              <a:t> over </a:t>
            </a:r>
            <a:r>
              <a:rPr lang="en-US" altLang="zh-CN" sz="2200" dirty="0" err="1">
                <a:solidFill>
                  <a:srgbClr val="FF0000"/>
                </a:solidFill>
              </a:rPr>
              <a:t>quicksort</a:t>
            </a:r>
            <a:r>
              <a:rPr lang="en-US" altLang="zh-CN" sz="2200" dirty="0"/>
              <a:t>: The nodes need not all be available at the start of the process, but are built into the tree one by one as they become available.</a:t>
            </a:r>
          </a:p>
          <a:p>
            <a:r>
              <a:rPr lang="en-US" altLang="zh-CN" sz="2200" dirty="0"/>
              <a:t>Second advantage: The search tree remains available for later insertions and removals.</a:t>
            </a:r>
          </a:p>
          <a:p>
            <a:r>
              <a:rPr lang="en-US" altLang="zh-CN" sz="2200" dirty="0"/>
              <a:t>Drawback: If the keys are already sorted, then </a:t>
            </a:r>
            <a:r>
              <a:rPr lang="en-US" altLang="zh-CN" sz="2200" dirty="0" err="1"/>
              <a:t>treesort</a:t>
            </a:r>
            <a:r>
              <a:rPr lang="en-US" altLang="zh-CN" sz="2200" dirty="0"/>
              <a:t> will be a disaster -- the search tree it builds will reduce to a chain. </a:t>
            </a:r>
            <a:r>
              <a:rPr lang="en-US" altLang="zh-CN" sz="2200" dirty="0" err="1"/>
              <a:t>Treesort</a:t>
            </a:r>
            <a:r>
              <a:rPr lang="en-US" altLang="zh-CN" sz="2200" dirty="0"/>
              <a:t> should never be used if the keys are already sorted, or are nearly so.</a:t>
            </a:r>
            <a:endParaRPr lang="zh-CN" altLang="en-US" sz="2200" dirty="0"/>
          </a:p>
        </p:txBody>
      </p:sp>
      <p:pic>
        <p:nvPicPr>
          <p:cNvPr id="4" name="Picture 3"/>
          <p:cNvPicPr>
            <a:picLocks noChangeAspect="1" noChangeArrowheads="1"/>
          </p:cNvPicPr>
          <p:nvPr/>
        </p:nvPicPr>
        <p:blipFill>
          <a:blip r:embed="rId2" cstate="print"/>
          <a:srcRect/>
          <a:stretch>
            <a:fillRect/>
          </a:stretch>
        </p:blipFill>
        <p:spPr bwMode="auto">
          <a:xfrm>
            <a:off x="2095473" y="966786"/>
            <a:ext cx="8105775" cy="2247900"/>
          </a:xfrm>
          <a:prstGeom prst="rect">
            <a:avLst/>
          </a:prstGeom>
          <a:noFill/>
          <a:ln w="9525">
            <a:noFill/>
            <a:miter lim="800000"/>
            <a:headEnd/>
            <a:tailEnd/>
          </a:ln>
          <a:effectLst/>
        </p:spPr>
      </p:pic>
    </p:spTree>
    <p:extLst>
      <p:ext uri="{BB962C8B-B14F-4D97-AF65-F5344CB8AC3E}">
        <p14:creationId xmlns:p14="http://schemas.microsoft.com/office/powerpoint/2010/main" val="33642361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881189" y="1357314"/>
            <a:ext cx="8429625" cy="642937"/>
          </a:xfrm>
          <a:prstGeom prst="rect">
            <a:avLst/>
          </a:prstGeom>
        </p:spPr>
        <p:txBody>
          <a:bodyPr/>
          <a:lstStyle/>
          <a:p>
            <a:pPr algn="ctr">
              <a:defRPr/>
            </a:pPr>
            <a:r>
              <a:rPr lang="en-US" altLang="zh-CN" sz="4400" kern="0" dirty="0">
                <a:solidFill>
                  <a:schemeClr val="tx2"/>
                </a:solidFill>
                <a:latin typeface="+mj-lt"/>
                <a:ea typeface="+mj-ea"/>
                <a:cs typeface="+mj-cs"/>
              </a:rPr>
              <a:t>Thank you!</a:t>
            </a:r>
          </a:p>
        </p:txBody>
      </p:sp>
      <p:pic>
        <p:nvPicPr>
          <p:cNvPr id="5" name="Picture 4"/>
          <p:cNvPicPr>
            <a:picLocks noChangeAspect="1" noChangeArrowheads="1"/>
          </p:cNvPicPr>
          <p:nvPr/>
        </p:nvPicPr>
        <p:blipFill>
          <a:blip r:embed="rId2" cstate="print"/>
          <a:srcRect/>
          <a:stretch>
            <a:fillRect/>
          </a:stretch>
        </p:blipFill>
        <p:spPr bwMode="auto">
          <a:xfrm>
            <a:off x="3738563" y="2714625"/>
            <a:ext cx="4868862"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2_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7080</TotalTime>
  <Words>825</Words>
  <Application>Microsoft Office PowerPoint</Application>
  <PresentationFormat>宽屏</PresentationFormat>
  <Paragraphs>69</Paragraphs>
  <Slides>21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宋体</vt:lpstr>
      <vt:lpstr>Arial</vt:lpstr>
      <vt:lpstr>Arial Black</vt:lpstr>
      <vt:lpstr>Calibri</vt:lpstr>
      <vt:lpstr>Times New Roman</vt:lpstr>
      <vt:lpstr>Wingdings</vt:lpstr>
      <vt:lpstr>2_Studio</vt:lpstr>
      <vt:lpstr>Lecture 15 Binary Search Trees</vt:lpstr>
      <vt:lpstr>Outline</vt:lpstr>
      <vt:lpstr>Binary Search Trees</vt:lpstr>
      <vt:lpstr>Binary Search Trees</vt:lpstr>
      <vt:lpstr>Binary Search Trees</vt:lpstr>
      <vt:lpstr>Binary Search Trees</vt:lpstr>
      <vt:lpstr>Recursive and Nonrecursive Auxiliary Functions</vt:lpstr>
      <vt:lpstr>Several Binary Search Trees with the Same Keys</vt:lpstr>
      <vt:lpstr>Tree Search</vt:lpstr>
      <vt:lpstr>Analysis of Tree Search</vt:lpstr>
      <vt:lpstr>Insertion into a Binary Search Tree</vt:lpstr>
      <vt:lpstr>Method for Insertion</vt:lpstr>
      <vt:lpstr>Performance of Random Binary Search Trees</vt:lpstr>
      <vt:lpstr>Removal from a Binary Search Tree</vt:lpstr>
      <vt:lpstr>Removal from a Binary Search Tree</vt:lpstr>
      <vt:lpstr>Removal Method</vt:lpstr>
      <vt:lpstr>Auxiliary Function to Remove One Node</vt:lpstr>
      <vt:lpstr>Exercise</vt:lpstr>
      <vt:lpstr>Treesort</vt:lpstr>
      <vt:lpstr>Treesort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ZZZ</dc:creator>
  <cp:lastModifiedBy>zzz</cp:lastModifiedBy>
  <cp:revision>950</cp:revision>
  <dcterms:created xsi:type="dcterms:W3CDTF">2014-09-15T06:27:30Z</dcterms:created>
  <dcterms:modified xsi:type="dcterms:W3CDTF">2025-11-07T05:38:12Z</dcterms:modified>
</cp:coreProperties>
</file>