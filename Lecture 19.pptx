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1"/>
  </p:notesMasterIdLst>
  <p:handoutMasterIdLst>
    <p:handoutMasterId r:id="rId32"/>
  </p:handoutMasterIdLst>
  <p:sldIdLst>
    <p:sldId id="256" r:id="rId2"/>
    <p:sldId id="264" r:id="rId3"/>
    <p:sldId id="266" r:id="rId4"/>
    <p:sldId id="265" r:id="rId5"/>
    <p:sldId id="267" r:id="rId6"/>
    <p:sldId id="268" r:id="rId7"/>
    <p:sldId id="269" r:id="rId8"/>
    <p:sldId id="270" r:id="rId9"/>
    <p:sldId id="271" r:id="rId10"/>
    <p:sldId id="272" r:id="rId11"/>
    <p:sldId id="273" r:id="rId12"/>
    <p:sldId id="274" r:id="rId13"/>
    <p:sldId id="275" r:id="rId14"/>
    <p:sldId id="276"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63"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699" autoAdjust="0"/>
  </p:normalViewPr>
  <p:slideViewPr>
    <p:cSldViewPr>
      <p:cViewPr varScale="1">
        <p:scale>
          <a:sx n="133" d="100"/>
          <a:sy n="133" d="100"/>
        </p:scale>
        <p:origin x="1338" y="96"/>
      </p:cViewPr>
      <p:guideLst>
        <p:guide orient="horz" pos="2160"/>
        <p:guide pos="3840"/>
      </p:guideLst>
    </p:cSldViewPr>
  </p:slideViewPr>
  <p:notesTextViewPr>
    <p:cViewPr>
      <p:scale>
        <a:sx n="100" d="100"/>
        <a:sy n="100" d="100"/>
      </p:scale>
      <p:origin x="0" y="0"/>
    </p:cViewPr>
  </p:notesTextViewPr>
  <p:notesViewPr>
    <p:cSldViewPr>
      <p:cViewPr varScale="1">
        <p:scale>
          <a:sx n="54" d="100"/>
          <a:sy n="54" d="100"/>
        </p:scale>
        <p:origin x="-292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D41D4C8-AD22-4880-9484-3393AAEA21B4}" type="datetimeFigureOut">
              <a:rPr lang="zh-CN" altLang="en-US" smtClean="0"/>
              <a:pPr/>
              <a:t>2025/12/02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85F2AC-91B5-4045-8919-6468876986A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BBEC3C-C740-4938-B957-964D0E0312A7}" type="datetimeFigureOut">
              <a:rPr lang="zh-CN" altLang="en-US" smtClean="0"/>
              <a:pPr/>
              <a:t>2025/12/02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F86499-B8C4-4393-BB2B-FE4804D7EC61}"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xfrm>
            <a:off x="381000" y="685800"/>
            <a:ext cx="6096000" cy="3429000"/>
          </a:xfrm>
          <a:ln/>
        </p:spPr>
      </p:sp>
      <p:sp>
        <p:nvSpPr>
          <p:cNvPr id="19459" name="备注占位符 2"/>
          <p:cNvSpPr>
            <a:spLocks noGrp="1"/>
          </p:cNvSpPr>
          <p:nvPr>
            <p:ph type="body" idx="1"/>
          </p:nvPr>
        </p:nvSpPr>
        <p:spPr>
          <a:noFill/>
          <a:ln/>
        </p:spPr>
        <p:txBody>
          <a:bodyPr/>
          <a:lstStyle/>
          <a:p>
            <a:endParaRPr kumimoji="0" lang="zh-CN" altLang="en-US" smtClean="0"/>
          </a:p>
        </p:txBody>
      </p:sp>
      <p:sp>
        <p:nvSpPr>
          <p:cNvPr id="19460" name="灯片编号占位符 3"/>
          <p:cNvSpPr>
            <a:spLocks noGrp="1"/>
          </p:cNvSpPr>
          <p:nvPr>
            <p:ph type="sldNum" sz="quarter" idx="5"/>
          </p:nvPr>
        </p:nvSpPr>
        <p:spPr>
          <a:noFill/>
        </p:spPr>
        <p:txBody>
          <a:bodyPr/>
          <a:lstStyle/>
          <a:p>
            <a:fld id="{81CA728A-43F0-49BF-8B8D-B1697E3B1699}" type="slidenum">
              <a:rPr lang="en-US" altLang="zh-CN" smtClean="0">
                <a:latin typeface="Arial" charset="0"/>
              </a:rPr>
              <a:pPr/>
              <a:t>1</a:t>
            </a:fld>
            <a:endParaRPr lang="en-US" altLang="zh-CN" smtClean="0">
              <a:latin typeface="Arial" charset="0"/>
            </a:endParaRPr>
          </a:p>
        </p:txBody>
      </p:sp>
      <p:sp>
        <p:nvSpPr>
          <p:cNvPr id="5" name="页脚占位符 4"/>
          <p:cNvSpPr>
            <a:spLocks noGrp="1"/>
          </p:cNvSpPr>
          <p:nvPr>
            <p:ph type="ftr" sz="quarter" idx="10"/>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https://www.programmerall.com/article/9379500565/</a:t>
            </a:r>
          </a:p>
          <a:p>
            <a:endParaRPr lang="zh-CN" altLang="en-US" dirty="0" smtClean="0"/>
          </a:p>
          <a:p>
            <a:endParaRPr lang="zh-CN" altLang="en-US" dirty="0"/>
          </a:p>
        </p:txBody>
      </p:sp>
      <p:sp>
        <p:nvSpPr>
          <p:cNvPr id="4" name="页脚占位符 3"/>
          <p:cNvSpPr>
            <a:spLocks noGrp="1"/>
          </p:cNvSpPr>
          <p:nvPr>
            <p:ph type="ftr" sz="quarter" idx="10"/>
          </p:nvPr>
        </p:nvSpPr>
        <p:spPr/>
        <p:txBody>
          <a:bodyPr/>
          <a:lstStyle/>
          <a:p>
            <a:endParaRPr lang="zh-CN" altLang="en-US"/>
          </a:p>
        </p:txBody>
      </p:sp>
      <p:sp>
        <p:nvSpPr>
          <p:cNvPr id="5" name="灯片编号占位符 4"/>
          <p:cNvSpPr>
            <a:spLocks noGrp="1"/>
          </p:cNvSpPr>
          <p:nvPr>
            <p:ph type="sldNum" sz="quarter" idx="11"/>
          </p:nvPr>
        </p:nvSpPr>
        <p:spPr/>
        <p:txBody>
          <a:bodyPr/>
          <a:lstStyle/>
          <a:p>
            <a:fld id="{72F86499-B8C4-4393-BB2B-FE4804D7EC61}" type="slidenum">
              <a:rPr lang="zh-CN" altLang="en-US" smtClean="0"/>
              <a:pPr/>
              <a:t>9</a:t>
            </a:fld>
            <a:endParaRPr lang="zh-CN" altLang="en-US"/>
          </a:p>
        </p:txBody>
      </p:sp>
    </p:spTree>
    <p:extLst>
      <p:ext uri="{BB962C8B-B14F-4D97-AF65-F5344CB8AC3E}">
        <p14:creationId xmlns:p14="http://schemas.microsoft.com/office/powerpoint/2010/main" val="40128326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mailto:zhangzizhen@gmail.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3" name="AutoShape 2"/>
          <p:cNvSpPr>
            <a:spLocks noChangeArrowheads="1"/>
          </p:cNvSpPr>
          <p:nvPr userDrawn="1"/>
        </p:nvSpPr>
        <p:spPr bwMode="auto">
          <a:xfrm>
            <a:off x="304800" y="381001"/>
            <a:ext cx="11582400" cy="6048375"/>
          </a:xfrm>
          <a:prstGeom prst="roundRect">
            <a:avLst>
              <a:gd name="adj" fmla="val 7912"/>
            </a:avLst>
          </a:prstGeom>
          <a:solidFill>
            <a:schemeClr val="folHlink"/>
          </a:solidFill>
          <a:ln w="9525">
            <a:noFill/>
            <a:round/>
            <a:headEnd/>
            <a:tailEnd/>
          </a:ln>
        </p:spPr>
        <p:txBody>
          <a:bodyPr wrap="none" anchor="ctr"/>
          <a:lstStyle/>
          <a:p>
            <a:pPr algn="ctr">
              <a:defRPr/>
            </a:pPr>
            <a:endParaRPr lang="zh-CN" altLang="en-US" sz="2400">
              <a:latin typeface="Times New Roman" pitchFamily="18" charset="0"/>
            </a:endParaRPr>
          </a:p>
        </p:txBody>
      </p:sp>
      <p:sp>
        <p:nvSpPr>
          <p:cNvPr id="4" name="AutoShape 3"/>
          <p:cNvSpPr>
            <a:spLocks noChangeArrowheads="1"/>
          </p:cNvSpPr>
          <p:nvPr/>
        </p:nvSpPr>
        <p:spPr bwMode="white">
          <a:xfrm>
            <a:off x="436034" y="488950"/>
            <a:ext cx="11247967" cy="4768850"/>
          </a:xfrm>
          <a:prstGeom prst="roundRect">
            <a:avLst>
              <a:gd name="adj" fmla="val 7310"/>
            </a:avLst>
          </a:prstGeom>
          <a:solidFill>
            <a:schemeClr val="bg1"/>
          </a:solidFill>
          <a:ln w="9525">
            <a:noFill/>
            <a:round/>
            <a:headEnd/>
            <a:tailEnd/>
          </a:ln>
        </p:spPr>
        <p:txBody>
          <a:bodyPr wrap="none" anchor="ctr"/>
          <a:lstStyle/>
          <a:p>
            <a:pPr algn="ctr">
              <a:defRPr/>
            </a:pPr>
            <a:endParaRPr lang="zh-CN" altLang="en-US" sz="2400">
              <a:latin typeface="Times New Roman" pitchFamily="18" charset="0"/>
            </a:endParaRPr>
          </a:p>
        </p:txBody>
      </p:sp>
      <p:sp>
        <p:nvSpPr>
          <p:cNvPr id="5" name="AutoShape 4"/>
          <p:cNvSpPr>
            <a:spLocks noChangeArrowheads="1"/>
          </p:cNvSpPr>
          <p:nvPr/>
        </p:nvSpPr>
        <p:spPr bwMode="blackWhite">
          <a:xfrm>
            <a:off x="1828800" y="4500563"/>
            <a:ext cx="8534400" cy="1357312"/>
          </a:xfrm>
          <a:prstGeom prst="roundRect">
            <a:avLst>
              <a:gd name="adj" fmla="val 16667"/>
            </a:avLst>
          </a:prstGeom>
          <a:solidFill>
            <a:schemeClr val="bg1"/>
          </a:solidFill>
          <a:ln w="50800">
            <a:solidFill>
              <a:schemeClr val="bg2"/>
            </a:solidFill>
            <a:round/>
            <a:headEnd/>
            <a:tailEnd/>
          </a:ln>
        </p:spPr>
        <p:txBody>
          <a:bodyPr wrap="none" anchor="ctr"/>
          <a:lstStyle/>
          <a:p>
            <a:pPr algn="ctr">
              <a:defRPr/>
            </a:pPr>
            <a:endParaRPr lang="zh-CN" altLang="en-US" sz="1800">
              <a:latin typeface="Arial" pitchFamily="34" charset="0"/>
            </a:endParaRPr>
          </a:p>
        </p:txBody>
      </p:sp>
      <p:pic>
        <p:nvPicPr>
          <p:cNvPr id="6" name="Picture 11" descr="sysu_logo2"/>
          <p:cNvPicPr>
            <a:picLocks noChangeAspect="1" noChangeArrowheads="1"/>
          </p:cNvPicPr>
          <p:nvPr userDrawn="1"/>
        </p:nvPicPr>
        <p:blipFill>
          <a:blip r:embed="rId2" cstate="print"/>
          <a:srcRect/>
          <a:stretch>
            <a:fillRect/>
          </a:stretch>
        </p:blipFill>
        <p:spPr bwMode="auto">
          <a:xfrm>
            <a:off x="1130300" y="76261"/>
            <a:ext cx="2445420" cy="688914"/>
          </a:xfrm>
          <a:prstGeom prst="rect">
            <a:avLst/>
          </a:prstGeom>
          <a:noFill/>
          <a:ln w="9525">
            <a:noFill/>
            <a:miter lim="800000"/>
            <a:headEnd/>
            <a:tailEnd/>
          </a:ln>
        </p:spPr>
      </p:pic>
      <p:sp>
        <p:nvSpPr>
          <p:cNvPr id="7" name="TextBox 6"/>
          <p:cNvSpPr txBox="1">
            <a:spLocks noChangeArrowheads="1"/>
          </p:cNvSpPr>
          <p:nvPr userDrawn="1"/>
        </p:nvSpPr>
        <p:spPr bwMode="auto">
          <a:xfrm>
            <a:off x="2095530" y="4500570"/>
            <a:ext cx="8191500" cy="1027974"/>
          </a:xfrm>
          <a:prstGeom prst="rect">
            <a:avLst/>
          </a:prstGeom>
          <a:noFill/>
          <a:ln>
            <a:noFill/>
          </a:ln>
          <a:extLst>
            <a:ext uri="{909E8E84-426E-40dd-AFC4-6F175D3DCCD1}"/>
            <a:ext uri="{91240B29-F687-4f45-9708-019B960494DF}"/>
          </a:extLst>
        </p:spPr>
        <p:txBody>
          <a:bodyPr wrap="squar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20000"/>
              </a:spcBef>
              <a:buClr>
                <a:schemeClr val="bg2"/>
              </a:buClr>
              <a:buSzPct val="70000"/>
              <a:buFont typeface="Wingdings" pitchFamily="48" charset="2"/>
              <a:buNone/>
              <a:defRPr/>
            </a:pPr>
            <a:r>
              <a:rPr lang="en-US" altLang="zh-CN" sz="1800" b="1" dirty="0" smtClean="0">
                <a:solidFill>
                  <a:srgbClr val="3A7877"/>
                </a:solidFill>
              </a:rPr>
              <a:t>Data Structures and Algorithms</a:t>
            </a:r>
          </a:p>
          <a:p>
            <a:pPr marL="0" marR="0" lvl="0" indent="0" algn="l" defTabSz="914400" rtl="0" eaLnBrk="1" fontAlgn="auto" latinLnBrk="0" hangingPunct="1">
              <a:lnSpc>
                <a:spcPct val="120000"/>
              </a:lnSpc>
              <a:spcBef>
                <a:spcPct val="20000"/>
              </a:spcBef>
              <a:spcAft>
                <a:spcPts val="0"/>
              </a:spcAft>
              <a:buClr>
                <a:srgbClr val="CCCC99"/>
              </a:buClr>
              <a:buSzPct val="70000"/>
              <a:buFont typeface="Wingdings" pitchFamily="48" charset="2"/>
              <a:buNone/>
              <a:tabLst/>
              <a:defRPr/>
            </a:pPr>
            <a:r>
              <a:rPr kumimoji="0" lang="en-US" altLang="zh-CN" sz="1400" b="1" i="0" u="none" strike="noStrike" kern="1200" cap="none" spc="0" normalizeH="0" baseline="0" noProof="0" dirty="0" err="1" smtClean="0">
                <a:ln>
                  <a:noFill/>
                </a:ln>
                <a:solidFill>
                  <a:srgbClr val="3A7877"/>
                </a:solidFill>
                <a:effectLst/>
                <a:uLnTx/>
                <a:uFillTx/>
                <a:latin typeface="Arial"/>
                <a:ea typeface="宋体"/>
                <a:cs typeface="+mn-cs"/>
              </a:rPr>
              <a:t>Zizhen</a:t>
            </a: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rPr>
              <a:t> Zhang, School of Computer Science and Engineering, Sun </a:t>
            </a:r>
            <a:r>
              <a:rPr kumimoji="0" lang="en-US" altLang="zh-CN" sz="1400" b="1" i="0" u="none" strike="noStrike" kern="1200" cap="none" spc="0" normalizeH="0" baseline="0" noProof="0" dirty="0" err="1" smtClean="0">
                <a:ln>
                  <a:noFill/>
                </a:ln>
                <a:solidFill>
                  <a:srgbClr val="3A7877"/>
                </a:solidFill>
                <a:effectLst/>
                <a:uLnTx/>
                <a:uFillTx/>
                <a:latin typeface="Arial"/>
                <a:ea typeface="宋体"/>
                <a:cs typeface="+mn-cs"/>
              </a:rPr>
              <a:t>Yat-sen</a:t>
            </a: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rPr>
              <a:t> University</a:t>
            </a:r>
            <a:endParaRPr kumimoji="0" lang="en-US" altLang="zh-CN" sz="1800" b="1" i="0" u="none" strike="noStrike" kern="1200" cap="none" spc="0" normalizeH="0" baseline="0" noProof="0" dirty="0" smtClean="0">
              <a:ln>
                <a:noFill/>
              </a:ln>
              <a:solidFill>
                <a:srgbClr val="3A7877"/>
              </a:solidFill>
              <a:effectLst/>
              <a:uLnTx/>
              <a:uFillTx/>
              <a:latin typeface="Arial"/>
              <a:ea typeface="宋体"/>
              <a:cs typeface="+mn-cs"/>
            </a:endParaRPr>
          </a:p>
          <a:p>
            <a:pPr marL="0" marR="0" lvl="0" indent="0" algn="l" defTabSz="914400" rtl="0" eaLnBrk="1" fontAlgn="auto" latinLnBrk="0" hangingPunct="1">
              <a:lnSpc>
                <a:spcPct val="120000"/>
              </a:lnSpc>
              <a:spcBef>
                <a:spcPct val="20000"/>
              </a:spcBef>
              <a:spcAft>
                <a:spcPts val="0"/>
              </a:spcAft>
              <a:buClr>
                <a:srgbClr val="CCCC99"/>
              </a:buClr>
              <a:buSzPct val="70000"/>
              <a:buFont typeface="Wingdings" pitchFamily="48" charset="2"/>
              <a:buNone/>
              <a:tabLst/>
              <a:defRPr/>
            </a:pPr>
            <a:r>
              <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hlinkClick r:id="rId3"/>
              </a:rPr>
              <a:t>zhangzizhen@gmail.com</a:t>
            </a:r>
            <a:endParaRPr kumimoji="0" lang="en-US" altLang="zh-CN" sz="1400" b="1" i="0" u="none" strike="noStrike" kern="1200" cap="none" spc="0" normalizeH="0" baseline="0" noProof="0" dirty="0" smtClean="0">
              <a:ln>
                <a:noFill/>
              </a:ln>
              <a:solidFill>
                <a:srgbClr val="3A7877"/>
              </a:solidFill>
              <a:effectLst/>
              <a:uLnTx/>
              <a:uFillTx/>
              <a:latin typeface="Arial"/>
              <a:ea typeface="宋体"/>
              <a:cs typeface="+mn-cs"/>
            </a:endParaRPr>
          </a:p>
        </p:txBody>
      </p:sp>
      <p:sp>
        <p:nvSpPr>
          <p:cNvPr id="95237" name="Rectangle 5"/>
          <p:cNvSpPr>
            <a:spLocks noGrp="1" noChangeArrowheads="1"/>
          </p:cNvSpPr>
          <p:nvPr>
            <p:ph type="ctrTitle"/>
          </p:nvPr>
        </p:nvSpPr>
        <p:spPr>
          <a:xfrm>
            <a:off x="914400" y="1519240"/>
            <a:ext cx="10363200" cy="2266950"/>
          </a:xfrm>
        </p:spPr>
        <p:txBody>
          <a:bodyPr anchor="ctr" anchorCtr="1"/>
          <a:lstStyle>
            <a:lvl1pPr algn="ctr">
              <a:defRPr sz="4100" i="1"/>
            </a:lvl1pPr>
          </a:lstStyle>
          <a:p>
            <a:r>
              <a:rPr lang="zh-CN" altLang="en-US"/>
              <a:t>单击此处编辑母版标题样式</a:t>
            </a: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hf hdr="0" ftr="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76251" y="214314"/>
            <a:ext cx="11239500" cy="6429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76251" y="928688"/>
            <a:ext cx="11239500" cy="55721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pic>
        <p:nvPicPr>
          <p:cNvPr id="1028" name="Picture 15" descr="C:\Documents and Settings\Administrator\桌面\Briefcase\Web程序设计与AJAX 课程\gif图片下载\英文校名.gif"/>
          <p:cNvPicPr>
            <a:picLocks noChangeAspect="1" noChangeArrowheads="1"/>
          </p:cNvPicPr>
          <p:nvPr/>
        </p:nvPicPr>
        <p:blipFill>
          <a:blip r:embed="rId4" cstate="print"/>
          <a:srcRect/>
          <a:stretch>
            <a:fillRect/>
          </a:stretch>
        </p:blipFill>
        <p:spPr bwMode="auto">
          <a:xfrm>
            <a:off x="4603751" y="6581776"/>
            <a:ext cx="3302000" cy="276225"/>
          </a:xfrm>
          <a:prstGeom prst="rect">
            <a:avLst/>
          </a:prstGeom>
          <a:noFill/>
          <a:ln w="9525">
            <a:noFill/>
            <a:miter lim="800000"/>
            <a:headEnd/>
            <a:tailEnd/>
          </a:ln>
        </p:spPr>
      </p:pic>
      <p:cxnSp>
        <p:nvCxnSpPr>
          <p:cNvPr id="21" name="直接连接符 20"/>
          <p:cNvCxnSpPr/>
          <p:nvPr/>
        </p:nvCxnSpPr>
        <p:spPr>
          <a:xfrm>
            <a:off x="476251" y="855664"/>
            <a:ext cx="11239500" cy="1587"/>
          </a:xfrm>
          <a:prstGeom prst="line">
            <a:avLst/>
          </a:prstGeom>
          <a:ln w="38100">
            <a:solidFill>
              <a:srgbClr val="009900"/>
            </a:solidFill>
          </a:ln>
        </p:spPr>
        <p:style>
          <a:lnRef idx="1">
            <a:schemeClr val="accent1"/>
          </a:lnRef>
          <a:fillRef idx="0">
            <a:schemeClr val="accent1"/>
          </a:fillRef>
          <a:effectRef idx="0">
            <a:schemeClr val="accent1"/>
          </a:effectRef>
          <a:fontRef idx="minor">
            <a:schemeClr val="tx1"/>
          </a:fontRef>
        </p:style>
      </p:cxnSp>
      <p:sp>
        <p:nvSpPr>
          <p:cNvPr id="1030" name="TextBox 26"/>
          <p:cNvSpPr txBox="1">
            <a:spLocks noChangeArrowheads="1"/>
          </p:cNvSpPr>
          <p:nvPr/>
        </p:nvSpPr>
        <p:spPr bwMode="auto">
          <a:xfrm>
            <a:off x="5143501" y="71439"/>
            <a:ext cx="6667500" cy="261937"/>
          </a:xfrm>
          <a:prstGeom prst="rect">
            <a:avLst/>
          </a:prstGeom>
          <a:noFill/>
          <a:ln>
            <a:noFill/>
          </a:ln>
          <a:extLst>
            <a:ext uri="{909E8E84-426E-40dd-AFC4-6F175D3DCCD1}"/>
            <a:ext uri="{91240B29-F687-4f45-9708-019B960494DF}"/>
          </a:extLst>
        </p:spPr>
        <p:txBody>
          <a:bodyPr>
            <a:spAutoFit/>
          </a:bodyPr>
          <a:lstStyle/>
          <a:p>
            <a:pPr algn="r">
              <a:defRPr/>
            </a:pPr>
            <a:r>
              <a:rPr lang="en-US" altLang="zh-CN" sz="1100" i="1" dirty="0" smtClean="0">
                <a:solidFill>
                  <a:srgbClr val="3A7877"/>
                </a:solidFill>
                <a:latin typeface="Arial" pitchFamily="34" charset="0"/>
              </a:rPr>
              <a:t>Data structures</a:t>
            </a:r>
            <a:r>
              <a:rPr lang="en-US" altLang="zh-CN" sz="1100" i="1" baseline="0" dirty="0" smtClean="0">
                <a:solidFill>
                  <a:srgbClr val="3A7877"/>
                </a:solidFill>
                <a:latin typeface="Arial" pitchFamily="34" charset="0"/>
              </a:rPr>
              <a:t> and algorithms</a:t>
            </a:r>
            <a:endParaRPr lang="zh-CN" altLang="en-US" sz="1100" i="1" dirty="0">
              <a:solidFill>
                <a:srgbClr val="3A7877"/>
              </a:solidFill>
              <a:latin typeface="Arial" pitchFamily="34" charset="0"/>
            </a:endParaRPr>
          </a:p>
        </p:txBody>
      </p:sp>
      <p:sp>
        <p:nvSpPr>
          <p:cNvPr id="9" name="Rectangle 4"/>
          <p:cNvSpPr txBox="1">
            <a:spLocks noChangeArrowheads="1"/>
          </p:cNvSpPr>
          <p:nvPr userDrawn="1"/>
        </p:nvSpPr>
        <p:spPr bwMode="auto">
          <a:xfrm>
            <a:off x="8686800" y="6615113"/>
            <a:ext cx="2743200" cy="457200"/>
          </a:xfrm>
          <a:prstGeom prst="rect">
            <a:avLst/>
          </a:prstGeom>
          <a:noFill/>
          <a:ln w="9525">
            <a:noFill/>
            <a:miter lim="800000"/>
            <a:headEnd/>
            <a:tailEnd/>
          </a:ln>
          <a:effectLst/>
        </p:spPr>
        <p:txBody>
          <a:bodyPr/>
          <a:lstStyle/>
          <a:p>
            <a:pPr algn="ctr">
              <a:defRPr/>
            </a:pPr>
            <a:fld id="{FED218EC-7653-412D-96B2-7145C570315F}" type="slidenum">
              <a:rPr lang="en-US" altLang="zh-CN" sz="1000" b="1">
                <a:solidFill>
                  <a:srgbClr val="3A7877"/>
                </a:solidFill>
                <a:latin typeface="Arial" pitchFamily="34" charset="0"/>
              </a:rPr>
              <a:pPr algn="ctr">
                <a:defRPr/>
              </a:pPr>
              <a:t>‹#›</a:t>
            </a:fld>
            <a:r>
              <a:rPr lang="en-US" altLang="zh-CN" sz="1000" b="1" dirty="0">
                <a:solidFill>
                  <a:srgbClr val="3A7877"/>
                </a:solidFill>
                <a:latin typeface="Arial" pitchFamily="34" charset="0"/>
              </a:rPr>
              <a:t> </a:t>
            </a:r>
            <a:r>
              <a:rPr lang="en-US" altLang="zh-CN" sz="1000" b="1" dirty="0" smtClean="0">
                <a:solidFill>
                  <a:srgbClr val="3A7877"/>
                </a:solidFill>
                <a:latin typeface="Arial" pitchFamily="34" charset="0"/>
              </a:rPr>
              <a:t>/</a:t>
            </a:r>
            <a:endParaRPr lang="en-US" altLang="zh-CN" sz="1000" b="1" dirty="0">
              <a:solidFill>
                <a:srgbClr val="3A7877"/>
              </a:solidFill>
              <a:latin typeface="Arial" pitchFamily="34" charset="0"/>
            </a:endParaRPr>
          </a:p>
        </p:txBody>
      </p:sp>
      <p:sp>
        <p:nvSpPr>
          <p:cNvPr id="11" name="Rectangle 4"/>
          <p:cNvSpPr txBox="1">
            <a:spLocks noChangeArrowheads="1"/>
          </p:cNvSpPr>
          <p:nvPr/>
        </p:nvSpPr>
        <p:spPr bwMode="auto">
          <a:xfrm>
            <a:off x="952500" y="6615113"/>
            <a:ext cx="2743200" cy="457200"/>
          </a:xfrm>
          <a:prstGeom prst="rect">
            <a:avLst/>
          </a:prstGeom>
          <a:noFill/>
          <a:ln w="9525">
            <a:noFill/>
            <a:miter lim="800000"/>
            <a:headEnd/>
            <a:tailEnd/>
          </a:ln>
          <a:effectLst/>
        </p:spPr>
        <p:txBody>
          <a:bodyPr/>
          <a:lstStyle/>
          <a:p>
            <a:pPr algn="ctr">
              <a:defRPr/>
            </a:pPr>
            <a:fld id="{28F2FBAF-9894-4EB8-8AC6-3F534D888B82}" type="datetime4">
              <a:rPr lang="en-US" altLang="zh-CN" sz="1000" b="1">
                <a:solidFill>
                  <a:srgbClr val="3A7877"/>
                </a:solidFill>
                <a:latin typeface="Arial" pitchFamily="34" charset="0"/>
              </a:rPr>
              <a:pPr algn="ctr">
                <a:defRPr/>
              </a:pPr>
              <a:t>December 2, 2025</a:t>
            </a:fld>
            <a:endParaRPr lang="en-US" altLang="zh-CN" sz="1000" b="1" dirty="0">
              <a:solidFill>
                <a:srgbClr val="3A7877"/>
              </a:solidFill>
              <a:latin typeface="Arial" pitchFamily="34" charset="0"/>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Lst>
  <p:transition spd="slow"/>
  <p:timing>
    <p:tnLst>
      <p:par>
        <p:cTn id="1" dur="indefinite" restart="never" nodeType="tmRoot"/>
      </p:par>
    </p:tnLst>
  </p:timing>
  <p:hf hdr="0"/>
  <p:txStyles>
    <p:titleStyle>
      <a:lvl1pPr algn="l" rtl="0" eaLnBrk="0" fontAlgn="base" hangingPunct="0">
        <a:spcBef>
          <a:spcPct val="0"/>
        </a:spcBef>
        <a:spcAft>
          <a:spcPct val="0"/>
        </a:spcAft>
        <a:defRPr kumimoji="1" sz="3300">
          <a:solidFill>
            <a:schemeClr val="tx2"/>
          </a:solidFill>
          <a:latin typeface="+mj-lt"/>
          <a:ea typeface="+mj-ea"/>
          <a:cs typeface="宋体" charset="0"/>
        </a:defRPr>
      </a:lvl1pPr>
      <a:lvl2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2pPr>
      <a:lvl3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3pPr>
      <a:lvl4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4pPr>
      <a:lvl5pPr algn="l" rtl="0" eaLnBrk="0" fontAlgn="base" hangingPunct="0">
        <a:spcBef>
          <a:spcPct val="0"/>
        </a:spcBef>
        <a:spcAft>
          <a:spcPct val="0"/>
        </a:spcAft>
        <a:defRPr kumimoji="1" sz="3300">
          <a:solidFill>
            <a:schemeClr val="tx2"/>
          </a:solidFill>
          <a:latin typeface="Arial Black" pitchFamily="34" charset="0"/>
          <a:ea typeface="宋体" pitchFamily="2" charset="-122"/>
          <a:cs typeface="宋体" charset="0"/>
        </a:defRPr>
      </a:lvl5pPr>
      <a:lvl6pPr marL="457200" algn="l" rtl="0" fontAlgn="base">
        <a:spcBef>
          <a:spcPct val="0"/>
        </a:spcBef>
        <a:spcAft>
          <a:spcPct val="0"/>
        </a:spcAft>
        <a:defRPr sz="3300">
          <a:solidFill>
            <a:schemeClr val="tx2"/>
          </a:solidFill>
          <a:latin typeface="Arial Black" pitchFamily="34" charset="0"/>
          <a:ea typeface="宋体" pitchFamily="2" charset="-122"/>
        </a:defRPr>
      </a:lvl6pPr>
      <a:lvl7pPr marL="914400" algn="l" rtl="0" fontAlgn="base">
        <a:spcBef>
          <a:spcPct val="0"/>
        </a:spcBef>
        <a:spcAft>
          <a:spcPct val="0"/>
        </a:spcAft>
        <a:defRPr sz="3300">
          <a:solidFill>
            <a:schemeClr val="tx2"/>
          </a:solidFill>
          <a:latin typeface="Arial Black" pitchFamily="34" charset="0"/>
          <a:ea typeface="宋体" pitchFamily="2" charset="-122"/>
        </a:defRPr>
      </a:lvl7pPr>
      <a:lvl8pPr marL="1371600" algn="l" rtl="0" fontAlgn="base">
        <a:spcBef>
          <a:spcPct val="0"/>
        </a:spcBef>
        <a:spcAft>
          <a:spcPct val="0"/>
        </a:spcAft>
        <a:defRPr sz="3300">
          <a:solidFill>
            <a:schemeClr val="tx2"/>
          </a:solidFill>
          <a:latin typeface="Arial Black" pitchFamily="34" charset="0"/>
          <a:ea typeface="宋体" pitchFamily="2" charset="-122"/>
        </a:defRPr>
      </a:lvl8pPr>
      <a:lvl9pPr marL="1828800" algn="l" rtl="0" fontAlgn="base">
        <a:spcBef>
          <a:spcPct val="0"/>
        </a:spcBef>
        <a:spcAft>
          <a:spcPct val="0"/>
        </a:spcAft>
        <a:defRPr sz="3300">
          <a:solidFill>
            <a:schemeClr val="tx2"/>
          </a:solidFill>
          <a:latin typeface="Arial Black" pitchFamily="34"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0000"/>
        <a:buFont typeface="Wingdings" pitchFamily="2" charset="2"/>
        <a:buChar char="l"/>
        <a:defRPr kumimoji="1" sz="2400">
          <a:solidFill>
            <a:schemeClr val="tx1"/>
          </a:solidFill>
          <a:latin typeface="+mn-lt"/>
          <a:ea typeface="+mn-ea"/>
          <a:cs typeface="宋体" charset="0"/>
        </a:defRPr>
      </a:lvl1pPr>
      <a:lvl2pPr marL="742950" indent="-285750" algn="l" rtl="0" eaLnBrk="0" fontAlgn="base" hangingPunct="0">
        <a:spcBef>
          <a:spcPct val="20000"/>
        </a:spcBef>
        <a:spcAft>
          <a:spcPct val="0"/>
        </a:spcAft>
        <a:buClr>
          <a:schemeClr val="accent1"/>
        </a:buClr>
        <a:buSzPct val="150000"/>
        <a:buChar char="•"/>
        <a:defRPr kumimoji="1" sz="2000">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150000"/>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150000"/>
        <a:buChar char="•"/>
        <a:defRPr kumimoji="1" sz="16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kumimoji="1" sz="1600">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4.png"/><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3"/>
          <p:cNvSpPr>
            <a:spLocks noGrp="1"/>
          </p:cNvSpPr>
          <p:nvPr>
            <p:ph type="ctrTitle"/>
          </p:nvPr>
        </p:nvSpPr>
        <p:spPr/>
        <p:txBody>
          <a:bodyPr/>
          <a:lstStyle/>
          <a:p>
            <a:r>
              <a:rPr kumimoji="0" lang="en-US" altLang="zh-CN" i="0" dirty="0" smtClean="0"/>
              <a:t>Lecture </a:t>
            </a:r>
            <a:r>
              <a:rPr kumimoji="0" lang="en-US" altLang="zh-CN" i="0" dirty="0" smtClean="0"/>
              <a:t>19</a:t>
            </a:r>
            <a:r>
              <a:rPr kumimoji="0" lang="en-US" altLang="zh-CN" i="0" dirty="0" smtClean="0"/>
              <a:t/>
            </a:r>
            <a:br>
              <a:rPr kumimoji="0" lang="en-US" altLang="zh-CN" i="0" dirty="0" smtClean="0"/>
            </a:br>
            <a:r>
              <a:rPr kumimoji="0" lang="en-US" altLang="zh-CN" i="0" dirty="0" smtClean="0"/>
              <a:t>Graphs (I)</a:t>
            </a:r>
            <a:endParaRPr kumimoji="0" lang="zh-CN" altLang="en-US" i="0" dirty="0" smtClean="0"/>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Graphs: Definitions</a:t>
            </a:r>
            <a:endParaRPr lang="zh-CN" altLang="en-US" dirty="0"/>
          </a:p>
        </p:txBody>
      </p:sp>
      <p:sp>
        <p:nvSpPr>
          <p:cNvPr id="3" name="内容占位符 2"/>
          <p:cNvSpPr>
            <a:spLocks noGrp="1"/>
          </p:cNvSpPr>
          <p:nvPr>
            <p:ph idx="1"/>
          </p:nvPr>
        </p:nvSpPr>
        <p:spPr/>
        <p:txBody>
          <a:bodyPr/>
          <a:lstStyle/>
          <a:p>
            <a:r>
              <a:rPr lang="en-US" altLang="zh-CN" dirty="0" smtClean="0"/>
              <a:t>A </a:t>
            </a:r>
            <a:r>
              <a:rPr lang="en-US" altLang="zh-CN" dirty="0" smtClean="0">
                <a:solidFill>
                  <a:srgbClr val="FF0000"/>
                </a:solidFill>
              </a:rPr>
              <a:t>graph</a:t>
            </a:r>
            <a:r>
              <a:rPr lang="en-US" altLang="zh-CN" dirty="0" smtClean="0"/>
              <a:t> </a:t>
            </a:r>
            <a:r>
              <a:rPr lang="en-US" altLang="zh-CN" i="1" dirty="0" smtClean="0"/>
              <a:t>G</a:t>
            </a:r>
            <a:r>
              <a:rPr lang="en-US" altLang="zh-CN" dirty="0" smtClean="0"/>
              <a:t> consists of a set </a:t>
            </a:r>
            <a:r>
              <a:rPr lang="en-US" altLang="zh-CN" i="1" dirty="0" smtClean="0"/>
              <a:t>V</a:t>
            </a:r>
            <a:r>
              <a:rPr lang="en-US" altLang="zh-CN" dirty="0" smtClean="0"/>
              <a:t>, whose members are called the </a:t>
            </a:r>
            <a:r>
              <a:rPr lang="en-US" altLang="zh-CN" dirty="0" smtClean="0">
                <a:solidFill>
                  <a:srgbClr val="FF0000"/>
                </a:solidFill>
              </a:rPr>
              <a:t>vertices</a:t>
            </a:r>
            <a:r>
              <a:rPr lang="en-US" altLang="zh-CN" dirty="0" smtClean="0"/>
              <a:t> of </a:t>
            </a:r>
            <a:r>
              <a:rPr lang="en-US" altLang="zh-CN" i="1" dirty="0" smtClean="0"/>
              <a:t>G</a:t>
            </a:r>
            <a:r>
              <a:rPr lang="en-US" altLang="zh-CN" dirty="0" smtClean="0"/>
              <a:t>, together with a set </a:t>
            </a:r>
            <a:r>
              <a:rPr lang="en-US" altLang="zh-CN" i="1" dirty="0" smtClean="0"/>
              <a:t>E</a:t>
            </a:r>
            <a:r>
              <a:rPr lang="en-US" altLang="zh-CN" dirty="0" smtClean="0"/>
              <a:t> of pairs of distinct vertices from </a:t>
            </a:r>
            <a:r>
              <a:rPr lang="en-US" altLang="zh-CN" i="1" dirty="0" smtClean="0"/>
              <a:t>V</a:t>
            </a:r>
            <a:r>
              <a:rPr lang="en-US" altLang="zh-CN" dirty="0" smtClean="0"/>
              <a:t> .</a:t>
            </a:r>
          </a:p>
          <a:p>
            <a:r>
              <a:rPr lang="en-US" altLang="zh-CN" dirty="0" smtClean="0"/>
              <a:t>The pairs in </a:t>
            </a:r>
            <a:r>
              <a:rPr lang="en-US" altLang="zh-CN" i="1" dirty="0" smtClean="0"/>
              <a:t>E</a:t>
            </a:r>
            <a:r>
              <a:rPr lang="en-US" altLang="zh-CN" dirty="0" smtClean="0"/>
              <a:t> are called the </a:t>
            </a:r>
            <a:r>
              <a:rPr lang="en-US" altLang="zh-CN" dirty="0" smtClean="0">
                <a:solidFill>
                  <a:srgbClr val="FF0000"/>
                </a:solidFill>
              </a:rPr>
              <a:t>edges</a:t>
            </a:r>
            <a:r>
              <a:rPr lang="en-US" altLang="zh-CN" dirty="0" smtClean="0"/>
              <a:t> of </a:t>
            </a:r>
            <a:r>
              <a:rPr lang="en-US" altLang="zh-CN" i="1" dirty="0" smtClean="0"/>
              <a:t>G</a:t>
            </a:r>
            <a:r>
              <a:rPr lang="en-US" altLang="zh-CN" dirty="0" smtClean="0"/>
              <a:t>.</a:t>
            </a:r>
          </a:p>
          <a:p>
            <a:r>
              <a:rPr lang="en-US" altLang="zh-CN" dirty="0" smtClean="0"/>
              <a:t>If </a:t>
            </a:r>
            <a:r>
              <a:rPr lang="en-US" altLang="zh-CN" i="1" dirty="0" smtClean="0"/>
              <a:t>e </a:t>
            </a:r>
            <a:r>
              <a:rPr lang="en-US" altLang="zh-CN" dirty="0" smtClean="0"/>
              <a:t>= (</a:t>
            </a:r>
            <a:r>
              <a:rPr lang="en-US" altLang="zh-CN" i="1" dirty="0" smtClean="0"/>
              <a:t>v</a:t>
            </a:r>
            <a:r>
              <a:rPr lang="en-US" altLang="zh-CN" dirty="0" smtClean="0"/>
              <a:t>, </a:t>
            </a:r>
            <a:r>
              <a:rPr lang="en-US" altLang="zh-CN" i="1" dirty="0" smtClean="0"/>
              <a:t>w</a:t>
            </a:r>
            <a:r>
              <a:rPr lang="en-US" altLang="zh-CN" dirty="0" smtClean="0"/>
              <a:t>) is an edge with vertices </a:t>
            </a:r>
            <a:r>
              <a:rPr lang="en-US" altLang="zh-CN" i="1" dirty="0" smtClean="0"/>
              <a:t>v</a:t>
            </a:r>
            <a:r>
              <a:rPr lang="en-US" altLang="zh-CN" dirty="0" smtClean="0"/>
              <a:t> and </a:t>
            </a:r>
            <a:r>
              <a:rPr lang="en-US" altLang="zh-CN" i="1" dirty="0" smtClean="0"/>
              <a:t>w</a:t>
            </a:r>
            <a:r>
              <a:rPr lang="en-US" altLang="zh-CN" dirty="0" smtClean="0"/>
              <a:t>, then </a:t>
            </a:r>
            <a:r>
              <a:rPr lang="en-US" altLang="zh-CN" i="1" dirty="0" smtClean="0"/>
              <a:t>v</a:t>
            </a:r>
            <a:r>
              <a:rPr lang="en-US" altLang="zh-CN" dirty="0" smtClean="0"/>
              <a:t> and </a:t>
            </a:r>
            <a:r>
              <a:rPr lang="en-US" altLang="zh-CN" i="1" dirty="0" smtClean="0"/>
              <a:t>w</a:t>
            </a:r>
            <a:r>
              <a:rPr lang="en-US" altLang="zh-CN" dirty="0" smtClean="0"/>
              <a:t> are said to lie on </a:t>
            </a:r>
            <a:r>
              <a:rPr lang="en-US" altLang="zh-CN" i="1" dirty="0" smtClean="0"/>
              <a:t>e</a:t>
            </a:r>
            <a:r>
              <a:rPr lang="en-US" altLang="zh-CN" dirty="0" smtClean="0"/>
              <a:t>, and </a:t>
            </a:r>
            <a:r>
              <a:rPr lang="en-US" altLang="zh-CN" i="1" dirty="0" smtClean="0"/>
              <a:t>e</a:t>
            </a:r>
            <a:r>
              <a:rPr lang="en-US" altLang="zh-CN" dirty="0" smtClean="0"/>
              <a:t> is said to be </a:t>
            </a:r>
            <a:r>
              <a:rPr lang="en-US" altLang="zh-CN" dirty="0" smtClean="0">
                <a:solidFill>
                  <a:srgbClr val="FF0000"/>
                </a:solidFill>
              </a:rPr>
              <a:t>incident with </a:t>
            </a:r>
            <a:r>
              <a:rPr lang="en-US" altLang="zh-CN" dirty="0" smtClean="0"/>
              <a:t>(</a:t>
            </a:r>
            <a:r>
              <a:rPr lang="zh-CN" altLang="en-US" dirty="0" smtClean="0"/>
              <a:t>邻接</a:t>
            </a:r>
            <a:r>
              <a:rPr lang="en-US" altLang="zh-CN" dirty="0" smtClean="0"/>
              <a:t>)</a:t>
            </a:r>
            <a:r>
              <a:rPr lang="zh-CN" altLang="en-US" dirty="0" smtClean="0"/>
              <a:t> </a:t>
            </a:r>
            <a:r>
              <a:rPr lang="en-US" altLang="zh-CN" i="1" dirty="0" smtClean="0"/>
              <a:t>v</a:t>
            </a:r>
            <a:r>
              <a:rPr lang="en-US" altLang="zh-CN" dirty="0" smtClean="0"/>
              <a:t> and </a:t>
            </a:r>
            <a:r>
              <a:rPr lang="en-US" altLang="zh-CN" i="1" dirty="0" smtClean="0"/>
              <a:t>w</a:t>
            </a:r>
            <a:r>
              <a:rPr lang="en-US" altLang="zh-CN" dirty="0" smtClean="0"/>
              <a:t>.</a:t>
            </a:r>
          </a:p>
          <a:p>
            <a:r>
              <a:rPr lang="en-US" altLang="zh-CN" dirty="0" smtClean="0"/>
              <a:t>If the pairs are unordered, </a:t>
            </a:r>
            <a:r>
              <a:rPr lang="en-US" altLang="zh-CN" i="1" dirty="0" smtClean="0"/>
              <a:t>G</a:t>
            </a:r>
            <a:r>
              <a:rPr lang="en-US" altLang="zh-CN" dirty="0" smtClean="0"/>
              <a:t> is called an </a:t>
            </a:r>
            <a:r>
              <a:rPr lang="en-US" altLang="zh-CN" dirty="0" smtClean="0">
                <a:solidFill>
                  <a:srgbClr val="FF0000"/>
                </a:solidFill>
              </a:rPr>
              <a:t>undirected graph</a:t>
            </a:r>
            <a:r>
              <a:rPr lang="en-US" altLang="zh-CN" dirty="0" smtClean="0"/>
              <a:t>.</a:t>
            </a:r>
          </a:p>
          <a:p>
            <a:r>
              <a:rPr lang="en-US" altLang="zh-CN" dirty="0" smtClean="0"/>
              <a:t>If the pairs are ordered, G is called a </a:t>
            </a:r>
            <a:r>
              <a:rPr lang="en-US" altLang="zh-CN" dirty="0" smtClean="0">
                <a:solidFill>
                  <a:srgbClr val="FF0000"/>
                </a:solidFill>
              </a:rPr>
              <a:t>directed graph</a:t>
            </a:r>
            <a:r>
              <a:rPr lang="en-US" altLang="zh-CN" dirty="0" smtClean="0"/>
              <a:t>. The term directed graph is often shortened to </a:t>
            </a:r>
            <a:r>
              <a:rPr lang="en-US" altLang="zh-CN" dirty="0" smtClean="0">
                <a:solidFill>
                  <a:srgbClr val="FF0000"/>
                </a:solidFill>
              </a:rPr>
              <a:t>digraph</a:t>
            </a:r>
            <a:r>
              <a:rPr lang="en-US" altLang="zh-CN" dirty="0" smtClean="0"/>
              <a:t>, and the unqualified term </a:t>
            </a:r>
            <a:r>
              <a:rPr lang="en-US" altLang="zh-CN" i="1" dirty="0" smtClean="0"/>
              <a:t>graph</a:t>
            </a:r>
            <a:r>
              <a:rPr lang="en-US" altLang="zh-CN" dirty="0" smtClean="0"/>
              <a:t> usually means </a:t>
            </a:r>
            <a:r>
              <a:rPr lang="en-US" altLang="zh-CN" i="1" dirty="0" smtClean="0"/>
              <a:t>undirected graph</a:t>
            </a:r>
            <a:r>
              <a:rPr lang="en-US" altLang="zh-CN" dirty="0" smtClean="0"/>
              <a:t>.</a:t>
            </a:r>
          </a:p>
          <a:p>
            <a:r>
              <a:rPr lang="en-US" altLang="zh-CN" dirty="0" smtClean="0"/>
              <a:t>Two vertices in an undirected graph are called </a:t>
            </a:r>
            <a:r>
              <a:rPr lang="en-US" altLang="zh-CN" dirty="0" smtClean="0">
                <a:solidFill>
                  <a:srgbClr val="FF0000"/>
                </a:solidFill>
              </a:rPr>
              <a:t>adjacent</a:t>
            </a:r>
            <a:r>
              <a:rPr lang="en-US" altLang="zh-CN" dirty="0" smtClean="0"/>
              <a:t> (</a:t>
            </a:r>
            <a:r>
              <a:rPr lang="zh-CN" altLang="en-US" dirty="0" smtClean="0"/>
              <a:t>相邻的</a:t>
            </a:r>
            <a:r>
              <a:rPr lang="en-US" altLang="zh-CN" dirty="0" smtClean="0"/>
              <a:t>) if there is an edge from the first to the second.</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Examples of Graphs</a:t>
            </a:r>
            <a:endParaRPr lang="zh-CN" altLang="en-US" dirty="0"/>
          </a:p>
        </p:txBody>
      </p:sp>
      <p:grpSp>
        <p:nvGrpSpPr>
          <p:cNvPr id="4" name="Group 2"/>
          <p:cNvGrpSpPr>
            <a:grpSpLocks/>
          </p:cNvGrpSpPr>
          <p:nvPr/>
        </p:nvGrpSpPr>
        <p:grpSpPr bwMode="auto">
          <a:xfrm>
            <a:off x="4810117" y="1285860"/>
            <a:ext cx="3068637" cy="1608138"/>
            <a:chOff x="752" y="755"/>
            <a:chExt cx="1933" cy="1013"/>
          </a:xfrm>
        </p:grpSpPr>
        <p:grpSp>
          <p:nvGrpSpPr>
            <p:cNvPr id="5" name="Group 3"/>
            <p:cNvGrpSpPr>
              <a:grpSpLocks/>
            </p:cNvGrpSpPr>
            <p:nvPr/>
          </p:nvGrpSpPr>
          <p:grpSpPr bwMode="auto">
            <a:xfrm>
              <a:off x="752" y="755"/>
              <a:ext cx="1933" cy="675"/>
              <a:chOff x="752" y="755"/>
              <a:chExt cx="1933" cy="675"/>
            </a:xfrm>
          </p:grpSpPr>
          <p:sp>
            <p:nvSpPr>
              <p:cNvPr id="8" name="Oval 5"/>
              <p:cNvSpPr>
                <a:spLocks noChangeArrowheads="1"/>
              </p:cNvSpPr>
              <p:nvPr/>
            </p:nvSpPr>
            <p:spPr bwMode="auto">
              <a:xfrm>
                <a:off x="1089" y="755"/>
                <a:ext cx="200" cy="212"/>
              </a:xfrm>
              <a:prstGeom prst="ellipse">
                <a:avLst/>
              </a:prstGeom>
              <a:noFill/>
              <a:ln w="28575">
                <a:solidFill>
                  <a:schemeClr val="tx1"/>
                </a:solidFill>
                <a:round/>
                <a:headEnd/>
                <a:tailEnd/>
              </a:ln>
            </p:spPr>
            <p:txBody>
              <a:bodyPr wrap="none" anchor="ctr"/>
              <a:lstStyle/>
              <a:p>
                <a:pPr algn="ctr"/>
                <a:r>
                  <a:rPr lang="en-US" altLang="zh-CN" sz="2400" b="1">
                    <a:solidFill>
                      <a:schemeClr val="tx2"/>
                    </a:solidFill>
                  </a:rPr>
                  <a:t>2</a:t>
                </a:r>
              </a:p>
            </p:txBody>
          </p:sp>
          <p:sp>
            <p:nvSpPr>
              <p:cNvPr id="9" name="Oval 6"/>
              <p:cNvSpPr>
                <a:spLocks noChangeArrowheads="1"/>
              </p:cNvSpPr>
              <p:nvPr/>
            </p:nvSpPr>
            <p:spPr bwMode="auto">
              <a:xfrm>
                <a:off x="1537" y="755"/>
                <a:ext cx="200" cy="212"/>
              </a:xfrm>
              <a:prstGeom prst="ellipse">
                <a:avLst/>
              </a:prstGeom>
              <a:noFill/>
              <a:ln w="28575">
                <a:solidFill>
                  <a:schemeClr val="tx1"/>
                </a:solidFill>
                <a:round/>
                <a:headEnd/>
                <a:tailEnd/>
              </a:ln>
            </p:spPr>
            <p:txBody>
              <a:bodyPr wrap="none" anchor="ctr"/>
              <a:lstStyle/>
              <a:p>
                <a:pPr algn="ctr"/>
                <a:r>
                  <a:rPr lang="en-US" altLang="zh-CN" sz="2400" b="1">
                    <a:solidFill>
                      <a:schemeClr val="tx2"/>
                    </a:solidFill>
                  </a:rPr>
                  <a:t>4</a:t>
                </a:r>
              </a:p>
            </p:txBody>
          </p:sp>
          <p:sp>
            <p:nvSpPr>
              <p:cNvPr id="10" name="Oval 7"/>
              <p:cNvSpPr>
                <a:spLocks noChangeArrowheads="1"/>
              </p:cNvSpPr>
              <p:nvPr/>
            </p:nvSpPr>
            <p:spPr bwMode="auto">
              <a:xfrm>
                <a:off x="1985" y="755"/>
                <a:ext cx="200" cy="212"/>
              </a:xfrm>
              <a:prstGeom prst="ellipse">
                <a:avLst/>
              </a:prstGeom>
              <a:noFill/>
              <a:ln w="28575">
                <a:solidFill>
                  <a:schemeClr val="tx1"/>
                </a:solidFill>
                <a:round/>
                <a:headEnd/>
                <a:tailEnd/>
              </a:ln>
            </p:spPr>
            <p:txBody>
              <a:bodyPr wrap="none" anchor="ctr"/>
              <a:lstStyle/>
              <a:p>
                <a:pPr algn="ctr"/>
                <a:r>
                  <a:rPr lang="en-US" altLang="zh-CN" sz="2400" b="1">
                    <a:solidFill>
                      <a:schemeClr val="tx2"/>
                    </a:solidFill>
                  </a:rPr>
                  <a:t>5</a:t>
                </a:r>
              </a:p>
            </p:txBody>
          </p:sp>
          <p:sp>
            <p:nvSpPr>
              <p:cNvPr id="11" name="Oval 8"/>
              <p:cNvSpPr>
                <a:spLocks noChangeArrowheads="1"/>
              </p:cNvSpPr>
              <p:nvPr/>
            </p:nvSpPr>
            <p:spPr bwMode="auto">
              <a:xfrm>
                <a:off x="752" y="1218"/>
                <a:ext cx="200" cy="212"/>
              </a:xfrm>
              <a:prstGeom prst="ellipse">
                <a:avLst/>
              </a:prstGeom>
              <a:noFill/>
              <a:ln w="28575">
                <a:solidFill>
                  <a:schemeClr val="tx1"/>
                </a:solidFill>
                <a:round/>
                <a:headEnd/>
                <a:tailEnd/>
              </a:ln>
            </p:spPr>
            <p:txBody>
              <a:bodyPr wrap="none" anchor="ctr"/>
              <a:lstStyle/>
              <a:p>
                <a:pPr algn="ctr"/>
                <a:r>
                  <a:rPr lang="en-US" altLang="zh-CN" sz="2400" b="1">
                    <a:solidFill>
                      <a:schemeClr val="tx2"/>
                    </a:solidFill>
                  </a:rPr>
                  <a:t>1</a:t>
                </a:r>
              </a:p>
            </p:txBody>
          </p:sp>
          <p:sp>
            <p:nvSpPr>
              <p:cNvPr id="12" name="Oval 9"/>
              <p:cNvSpPr>
                <a:spLocks noChangeArrowheads="1"/>
              </p:cNvSpPr>
              <p:nvPr/>
            </p:nvSpPr>
            <p:spPr bwMode="auto">
              <a:xfrm>
                <a:off x="1537" y="1218"/>
                <a:ext cx="200" cy="212"/>
              </a:xfrm>
              <a:prstGeom prst="ellipse">
                <a:avLst/>
              </a:prstGeom>
              <a:noFill/>
              <a:ln w="28575">
                <a:solidFill>
                  <a:schemeClr val="tx1"/>
                </a:solidFill>
                <a:round/>
                <a:headEnd/>
                <a:tailEnd/>
              </a:ln>
            </p:spPr>
            <p:txBody>
              <a:bodyPr wrap="none" anchor="ctr"/>
              <a:lstStyle/>
              <a:p>
                <a:pPr algn="ctr"/>
                <a:r>
                  <a:rPr lang="en-US" altLang="zh-CN" sz="2400" b="1" dirty="0">
                    <a:solidFill>
                      <a:schemeClr val="tx2"/>
                    </a:solidFill>
                  </a:rPr>
                  <a:t>3</a:t>
                </a:r>
              </a:p>
            </p:txBody>
          </p:sp>
          <p:sp>
            <p:nvSpPr>
              <p:cNvPr id="13" name="Oval 10"/>
              <p:cNvSpPr>
                <a:spLocks noChangeArrowheads="1"/>
              </p:cNvSpPr>
              <p:nvPr/>
            </p:nvSpPr>
            <p:spPr bwMode="auto">
              <a:xfrm>
                <a:off x="2485" y="1218"/>
                <a:ext cx="200" cy="212"/>
              </a:xfrm>
              <a:prstGeom prst="ellipse">
                <a:avLst/>
              </a:prstGeom>
              <a:noFill/>
              <a:ln w="28575">
                <a:solidFill>
                  <a:schemeClr val="tx1"/>
                </a:solidFill>
                <a:round/>
                <a:headEnd/>
                <a:tailEnd/>
              </a:ln>
            </p:spPr>
            <p:txBody>
              <a:bodyPr wrap="none" anchor="ctr"/>
              <a:lstStyle/>
              <a:p>
                <a:pPr algn="ctr"/>
                <a:r>
                  <a:rPr lang="en-US" altLang="zh-CN" sz="2400" b="1">
                    <a:solidFill>
                      <a:schemeClr val="tx2"/>
                    </a:solidFill>
                  </a:rPr>
                  <a:t>6</a:t>
                </a:r>
              </a:p>
            </p:txBody>
          </p:sp>
          <p:sp>
            <p:nvSpPr>
              <p:cNvPr id="14" name="Line 11"/>
              <p:cNvSpPr>
                <a:spLocks noChangeShapeType="1"/>
              </p:cNvSpPr>
              <p:nvPr/>
            </p:nvSpPr>
            <p:spPr bwMode="auto">
              <a:xfrm>
                <a:off x="1289" y="867"/>
                <a:ext cx="245" cy="0"/>
              </a:xfrm>
              <a:prstGeom prst="line">
                <a:avLst/>
              </a:prstGeom>
              <a:noFill/>
              <a:ln w="28575">
                <a:solidFill>
                  <a:schemeClr val="tx1"/>
                </a:solidFill>
                <a:round/>
                <a:headEnd/>
                <a:tailEnd type="triangle" w="med" len="med"/>
              </a:ln>
            </p:spPr>
            <p:txBody>
              <a:bodyPr wrap="none" anchor="ctr"/>
              <a:lstStyle/>
              <a:p>
                <a:endParaRPr lang="zh-CN" altLang="en-US" b="1"/>
              </a:p>
            </p:txBody>
          </p:sp>
          <p:sp>
            <p:nvSpPr>
              <p:cNvPr id="15" name="Line 12"/>
              <p:cNvSpPr>
                <a:spLocks noChangeShapeType="1"/>
              </p:cNvSpPr>
              <p:nvPr/>
            </p:nvSpPr>
            <p:spPr bwMode="auto">
              <a:xfrm>
                <a:off x="1233" y="933"/>
                <a:ext cx="334" cy="334"/>
              </a:xfrm>
              <a:prstGeom prst="line">
                <a:avLst/>
              </a:prstGeom>
              <a:noFill/>
              <a:ln w="28575">
                <a:solidFill>
                  <a:schemeClr val="tx1"/>
                </a:solidFill>
                <a:round/>
                <a:headEnd/>
                <a:tailEnd type="triangle" w="med" len="med"/>
              </a:ln>
            </p:spPr>
            <p:txBody>
              <a:bodyPr wrap="none" anchor="ctr"/>
              <a:lstStyle/>
              <a:p>
                <a:endParaRPr lang="zh-CN" altLang="en-US" b="1"/>
              </a:p>
            </p:txBody>
          </p:sp>
          <p:sp>
            <p:nvSpPr>
              <p:cNvPr id="16" name="Line 13"/>
              <p:cNvSpPr>
                <a:spLocks noChangeShapeType="1"/>
              </p:cNvSpPr>
              <p:nvPr/>
            </p:nvSpPr>
            <p:spPr bwMode="auto">
              <a:xfrm flipH="1">
                <a:off x="1734" y="1344"/>
                <a:ext cx="755" cy="0"/>
              </a:xfrm>
              <a:prstGeom prst="line">
                <a:avLst/>
              </a:prstGeom>
              <a:noFill/>
              <a:ln w="28575">
                <a:solidFill>
                  <a:schemeClr val="tx1"/>
                </a:solidFill>
                <a:round/>
                <a:headEnd/>
                <a:tailEnd type="triangle" w="med" len="med"/>
              </a:ln>
            </p:spPr>
            <p:txBody>
              <a:bodyPr wrap="none" anchor="ctr"/>
              <a:lstStyle/>
              <a:p>
                <a:endParaRPr lang="zh-CN" altLang="en-US" b="1"/>
              </a:p>
            </p:txBody>
          </p:sp>
          <p:sp>
            <p:nvSpPr>
              <p:cNvPr id="17" name="Line 14"/>
              <p:cNvSpPr>
                <a:spLocks noChangeShapeType="1"/>
              </p:cNvSpPr>
              <p:nvPr/>
            </p:nvSpPr>
            <p:spPr bwMode="auto">
              <a:xfrm flipV="1">
                <a:off x="1722" y="956"/>
                <a:ext cx="323" cy="322"/>
              </a:xfrm>
              <a:prstGeom prst="line">
                <a:avLst/>
              </a:prstGeom>
              <a:noFill/>
              <a:ln w="28575">
                <a:solidFill>
                  <a:schemeClr val="tx1"/>
                </a:solidFill>
                <a:round/>
                <a:headEnd/>
                <a:tailEnd type="triangle" w="med" len="med"/>
              </a:ln>
            </p:spPr>
            <p:txBody>
              <a:bodyPr wrap="none" anchor="ctr"/>
              <a:lstStyle/>
              <a:p>
                <a:endParaRPr lang="zh-CN" altLang="en-US" b="1"/>
              </a:p>
            </p:txBody>
          </p:sp>
          <p:sp>
            <p:nvSpPr>
              <p:cNvPr id="18" name="Line 15"/>
              <p:cNvSpPr>
                <a:spLocks noChangeShapeType="1"/>
              </p:cNvSpPr>
              <p:nvPr/>
            </p:nvSpPr>
            <p:spPr bwMode="auto">
              <a:xfrm>
                <a:off x="2189" y="911"/>
                <a:ext cx="345" cy="344"/>
              </a:xfrm>
              <a:prstGeom prst="line">
                <a:avLst/>
              </a:prstGeom>
              <a:noFill/>
              <a:ln w="28575">
                <a:solidFill>
                  <a:schemeClr val="tx1"/>
                </a:solidFill>
                <a:round/>
                <a:headEnd/>
                <a:tailEnd type="triangle" w="med" len="med"/>
              </a:ln>
            </p:spPr>
            <p:txBody>
              <a:bodyPr wrap="none" anchor="ctr"/>
              <a:lstStyle/>
              <a:p>
                <a:endParaRPr lang="zh-CN" altLang="en-US" b="1"/>
              </a:p>
            </p:txBody>
          </p:sp>
          <p:sp>
            <p:nvSpPr>
              <p:cNvPr id="19" name="Freeform 16"/>
              <p:cNvSpPr>
                <a:spLocks/>
              </p:cNvSpPr>
              <p:nvPr/>
            </p:nvSpPr>
            <p:spPr bwMode="auto">
              <a:xfrm>
                <a:off x="900" y="933"/>
                <a:ext cx="222" cy="300"/>
              </a:xfrm>
              <a:custGeom>
                <a:avLst/>
                <a:gdLst>
                  <a:gd name="T0" fmla="*/ 222 w 222"/>
                  <a:gd name="T1" fmla="*/ 0 h 300"/>
                  <a:gd name="T2" fmla="*/ 67 w 222"/>
                  <a:gd name="T3" fmla="*/ 89 h 300"/>
                  <a:gd name="T4" fmla="*/ 0 w 222"/>
                  <a:gd name="T5" fmla="*/ 300 h 300"/>
                  <a:gd name="T6" fmla="*/ 0 60000 65536"/>
                  <a:gd name="T7" fmla="*/ 0 60000 65536"/>
                  <a:gd name="T8" fmla="*/ 0 60000 65536"/>
                  <a:gd name="T9" fmla="*/ 0 w 222"/>
                  <a:gd name="T10" fmla="*/ 0 h 300"/>
                  <a:gd name="T11" fmla="*/ 222 w 222"/>
                  <a:gd name="T12" fmla="*/ 300 h 300"/>
                </a:gdLst>
                <a:ahLst/>
                <a:cxnLst>
                  <a:cxn ang="T6">
                    <a:pos x="T0" y="T1"/>
                  </a:cxn>
                  <a:cxn ang="T7">
                    <a:pos x="T2" y="T3"/>
                  </a:cxn>
                  <a:cxn ang="T8">
                    <a:pos x="T4" y="T5"/>
                  </a:cxn>
                </a:cxnLst>
                <a:rect l="T9" t="T10" r="T11" b="T12"/>
                <a:pathLst>
                  <a:path w="222" h="300">
                    <a:moveTo>
                      <a:pt x="222" y="0"/>
                    </a:moveTo>
                    <a:cubicBezTo>
                      <a:pt x="163" y="19"/>
                      <a:pt x="104" y="39"/>
                      <a:pt x="67" y="89"/>
                    </a:cubicBezTo>
                    <a:cubicBezTo>
                      <a:pt x="30" y="139"/>
                      <a:pt x="6" y="270"/>
                      <a:pt x="0" y="300"/>
                    </a:cubicBezTo>
                  </a:path>
                </a:pathLst>
              </a:custGeom>
              <a:noFill/>
              <a:ln w="28575">
                <a:solidFill>
                  <a:schemeClr val="tx1"/>
                </a:solidFill>
                <a:round/>
                <a:headEnd/>
                <a:tailEnd type="triangle" w="med" len="med"/>
              </a:ln>
            </p:spPr>
            <p:txBody>
              <a:bodyPr wrap="none" anchor="ctr"/>
              <a:lstStyle/>
              <a:p>
                <a:endParaRPr lang="zh-CN" altLang="en-US" b="1"/>
              </a:p>
            </p:txBody>
          </p:sp>
          <p:sp>
            <p:nvSpPr>
              <p:cNvPr id="20" name="Freeform 17"/>
              <p:cNvSpPr>
                <a:spLocks/>
              </p:cNvSpPr>
              <p:nvPr/>
            </p:nvSpPr>
            <p:spPr bwMode="auto">
              <a:xfrm>
                <a:off x="945" y="955"/>
                <a:ext cx="211" cy="312"/>
              </a:xfrm>
              <a:custGeom>
                <a:avLst/>
                <a:gdLst>
                  <a:gd name="T0" fmla="*/ 0 w 211"/>
                  <a:gd name="T1" fmla="*/ 312 h 312"/>
                  <a:gd name="T2" fmla="*/ 155 w 211"/>
                  <a:gd name="T3" fmla="*/ 223 h 312"/>
                  <a:gd name="T4" fmla="*/ 211 w 211"/>
                  <a:gd name="T5" fmla="*/ 0 h 312"/>
                  <a:gd name="T6" fmla="*/ 0 60000 65536"/>
                  <a:gd name="T7" fmla="*/ 0 60000 65536"/>
                  <a:gd name="T8" fmla="*/ 0 60000 65536"/>
                  <a:gd name="T9" fmla="*/ 0 w 211"/>
                  <a:gd name="T10" fmla="*/ 0 h 312"/>
                  <a:gd name="T11" fmla="*/ 211 w 211"/>
                  <a:gd name="T12" fmla="*/ 312 h 312"/>
                </a:gdLst>
                <a:ahLst/>
                <a:cxnLst>
                  <a:cxn ang="T6">
                    <a:pos x="T0" y="T1"/>
                  </a:cxn>
                  <a:cxn ang="T7">
                    <a:pos x="T2" y="T3"/>
                  </a:cxn>
                  <a:cxn ang="T8">
                    <a:pos x="T4" y="T5"/>
                  </a:cxn>
                </a:cxnLst>
                <a:rect l="T9" t="T10" r="T11" b="T12"/>
                <a:pathLst>
                  <a:path w="211" h="312">
                    <a:moveTo>
                      <a:pt x="0" y="312"/>
                    </a:moveTo>
                    <a:cubicBezTo>
                      <a:pt x="60" y="293"/>
                      <a:pt x="120" y="275"/>
                      <a:pt x="155" y="223"/>
                    </a:cubicBezTo>
                    <a:cubicBezTo>
                      <a:pt x="190" y="171"/>
                      <a:pt x="207" y="31"/>
                      <a:pt x="211" y="0"/>
                    </a:cubicBezTo>
                  </a:path>
                </a:pathLst>
              </a:custGeom>
              <a:noFill/>
              <a:ln w="28575">
                <a:solidFill>
                  <a:schemeClr val="tx1"/>
                </a:solidFill>
                <a:round/>
                <a:headEnd/>
                <a:tailEnd type="triangle" w="med" len="med"/>
              </a:ln>
            </p:spPr>
            <p:txBody>
              <a:bodyPr wrap="none" anchor="ctr"/>
              <a:lstStyle/>
              <a:p>
                <a:endParaRPr lang="zh-CN" altLang="en-US" b="1"/>
              </a:p>
            </p:txBody>
          </p:sp>
        </p:grpSp>
        <p:sp>
          <p:nvSpPr>
            <p:cNvPr id="6" name="Text Box 18"/>
            <p:cNvSpPr txBox="1">
              <a:spLocks noChangeArrowheads="1"/>
            </p:cNvSpPr>
            <p:nvPr/>
          </p:nvSpPr>
          <p:spPr bwMode="auto">
            <a:xfrm>
              <a:off x="1365" y="1477"/>
              <a:ext cx="338" cy="291"/>
            </a:xfrm>
            <a:prstGeom prst="rect">
              <a:avLst/>
            </a:prstGeom>
            <a:noFill/>
            <a:ln w="28575">
              <a:noFill/>
              <a:miter lim="800000"/>
              <a:headEnd/>
              <a:tailEnd/>
            </a:ln>
          </p:spPr>
          <p:txBody>
            <a:bodyPr wrap="none" anchor="ctr">
              <a:spAutoFit/>
            </a:bodyPr>
            <a:lstStyle/>
            <a:p>
              <a:pPr algn="ctr"/>
              <a:r>
                <a:rPr lang="en-US" altLang="zh-CN" sz="2400" b="1">
                  <a:solidFill>
                    <a:schemeClr val="tx2"/>
                  </a:solidFill>
                </a:rPr>
                <a:t>G</a:t>
              </a:r>
              <a:r>
                <a:rPr lang="en-US" altLang="zh-CN" sz="2400" b="1" baseline="-25000">
                  <a:solidFill>
                    <a:schemeClr val="tx2"/>
                  </a:solidFill>
                </a:rPr>
                <a:t>1</a:t>
              </a:r>
            </a:p>
          </p:txBody>
        </p:sp>
      </p:grpSp>
      <p:sp>
        <p:nvSpPr>
          <p:cNvPr id="21" name="Text Box 19"/>
          <p:cNvSpPr txBox="1">
            <a:spLocks noChangeArrowheads="1"/>
          </p:cNvSpPr>
          <p:nvPr/>
        </p:nvSpPr>
        <p:spPr bwMode="auto">
          <a:xfrm>
            <a:off x="1952596" y="2714621"/>
            <a:ext cx="8210550" cy="830997"/>
          </a:xfrm>
          <a:prstGeom prst="rect">
            <a:avLst/>
          </a:prstGeom>
          <a:noFill/>
          <a:ln w="28575">
            <a:noFill/>
            <a:miter lim="800000"/>
            <a:headEnd/>
            <a:tailEnd/>
          </a:ln>
        </p:spPr>
        <p:txBody>
          <a:bodyPr anchor="ctr">
            <a:spAutoFit/>
          </a:bodyPr>
          <a:lstStyle/>
          <a:p>
            <a:r>
              <a:rPr lang="en-US" altLang="zh-CN" sz="2400" b="1" dirty="0"/>
              <a:t>V(G</a:t>
            </a:r>
            <a:r>
              <a:rPr lang="en-US" altLang="zh-CN" sz="2400" b="1" baseline="-25000" dirty="0"/>
              <a:t>1</a:t>
            </a:r>
            <a:r>
              <a:rPr lang="en-US" altLang="zh-CN" sz="2400" b="1" dirty="0"/>
              <a:t>)={1,2,3,4,5,6}</a:t>
            </a:r>
          </a:p>
          <a:p>
            <a:r>
              <a:rPr lang="en-US" altLang="zh-CN" sz="2400" b="1" dirty="0"/>
              <a:t>E(G</a:t>
            </a:r>
            <a:r>
              <a:rPr lang="en-US" altLang="zh-CN" sz="2400" b="1" baseline="-25000" dirty="0"/>
              <a:t>1</a:t>
            </a:r>
            <a:r>
              <a:rPr lang="en-US" altLang="zh-CN" sz="2400" b="1" dirty="0"/>
              <a:t>)={&lt;1,2&gt;, &lt;2,1&gt;, &lt;2,3&gt;, &lt;2,4&gt;, &lt;3,5&gt;, &lt;5,6&gt;, &lt;6,3&gt;}</a:t>
            </a:r>
          </a:p>
        </p:txBody>
      </p:sp>
      <p:grpSp>
        <p:nvGrpSpPr>
          <p:cNvPr id="22" name="Group 20"/>
          <p:cNvGrpSpPr>
            <a:grpSpLocks/>
          </p:cNvGrpSpPr>
          <p:nvPr/>
        </p:nvGrpSpPr>
        <p:grpSpPr bwMode="auto">
          <a:xfrm>
            <a:off x="4952993" y="4053110"/>
            <a:ext cx="2586037" cy="1608138"/>
            <a:chOff x="981" y="2562"/>
            <a:chExt cx="1629" cy="1013"/>
          </a:xfrm>
        </p:grpSpPr>
        <p:sp>
          <p:nvSpPr>
            <p:cNvPr id="24" name="Oval 22"/>
            <p:cNvSpPr>
              <a:spLocks noChangeArrowheads="1"/>
            </p:cNvSpPr>
            <p:nvPr/>
          </p:nvSpPr>
          <p:spPr bwMode="auto">
            <a:xfrm>
              <a:off x="1163" y="2562"/>
              <a:ext cx="200" cy="212"/>
            </a:xfrm>
            <a:prstGeom prst="ellipse">
              <a:avLst/>
            </a:prstGeom>
            <a:noFill/>
            <a:ln w="28575">
              <a:solidFill>
                <a:schemeClr val="tx1"/>
              </a:solidFill>
              <a:round/>
              <a:headEnd/>
              <a:tailEnd/>
            </a:ln>
            <a:effectLst/>
          </p:spPr>
          <p:txBody>
            <a:bodyPr wrap="none" anchor="ctr"/>
            <a:lstStyle/>
            <a:p>
              <a:pPr algn="ctr"/>
              <a:r>
                <a:rPr lang="en-US" altLang="zh-CN" sz="2400" b="1">
                  <a:effectLst>
                    <a:outerShdw blurRad="38100" dist="38100" dir="2700000" algn="tl">
                      <a:srgbClr val="C0C0C0"/>
                    </a:outerShdw>
                  </a:effectLst>
                </a:rPr>
                <a:t>1</a:t>
              </a:r>
            </a:p>
          </p:txBody>
        </p:sp>
        <p:sp>
          <p:nvSpPr>
            <p:cNvPr id="25" name="Oval 23"/>
            <p:cNvSpPr>
              <a:spLocks noChangeArrowheads="1"/>
            </p:cNvSpPr>
            <p:nvPr/>
          </p:nvSpPr>
          <p:spPr bwMode="auto">
            <a:xfrm>
              <a:off x="1666" y="2562"/>
              <a:ext cx="200" cy="212"/>
            </a:xfrm>
            <a:prstGeom prst="ellipse">
              <a:avLst/>
            </a:prstGeom>
            <a:noFill/>
            <a:ln w="28575">
              <a:solidFill>
                <a:schemeClr val="tx1"/>
              </a:solidFill>
              <a:round/>
              <a:headEnd/>
              <a:tailEnd/>
            </a:ln>
            <a:effectLst/>
          </p:spPr>
          <p:txBody>
            <a:bodyPr wrap="none" anchor="ctr"/>
            <a:lstStyle/>
            <a:p>
              <a:pPr algn="ctr"/>
              <a:r>
                <a:rPr lang="en-US" altLang="zh-CN" sz="2400" b="1">
                  <a:effectLst>
                    <a:outerShdw blurRad="38100" dist="38100" dir="2700000" algn="tl">
                      <a:srgbClr val="C0C0C0"/>
                    </a:outerShdw>
                  </a:effectLst>
                </a:rPr>
                <a:t>5</a:t>
              </a:r>
            </a:p>
          </p:txBody>
        </p:sp>
        <p:sp>
          <p:nvSpPr>
            <p:cNvPr id="26" name="Oval 24"/>
            <p:cNvSpPr>
              <a:spLocks noChangeArrowheads="1"/>
            </p:cNvSpPr>
            <p:nvPr/>
          </p:nvSpPr>
          <p:spPr bwMode="auto">
            <a:xfrm>
              <a:off x="2114" y="2562"/>
              <a:ext cx="200" cy="212"/>
            </a:xfrm>
            <a:prstGeom prst="ellipse">
              <a:avLst/>
            </a:prstGeom>
            <a:noFill/>
            <a:ln w="28575">
              <a:solidFill>
                <a:schemeClr val="tx1"/>
              </a:solidFill>
              <a:round/>
              <a:headEnd/>
              <a:tailEnd/>
            </a:ln>
            <a:effectLst/>
          </p:spPr>
          <p:txBody>
            <a:bodyPr wrap="none" anchor="ctr"/>
            <a:lstStyle/>
            <a:p>
              <a:pPr algn="ctr"/>
              <a:r>
                <a:rPr lang="en-US" altLang="zh-CN" sz="2400" b="1">
                  <a:effectLst>
                    <a:outerShdw blurRad="38100" dist="38100" dir="2700000" algn="tl">
                      <a:srgbClr val="C0C0C0"/>
                    </a:outerShdw>
                  </a:effectLst>
                </a:rPr>
                <a:t>7</a:t>
              </a:r>
            </a:p>
          </p:txBody>
        </p:sp>
        <p:sp>
          <p:nvSpPr>
            <p:cNvPr id="27" name="Oval 25"/>
            <p:cNvSpPr>
              <a:spLocks noChangeArrowheads="1"/>
            </p:cNvSpPr>
            <p:nvPr/>
          </p:nvSpPr>
          <p:spPr bwMode="auto">
            <a:xfrm>
              <a:off x="981" y="3069"/>
              <a:ext cx="200" cy="212"/>
            </a:xfrm>
            <a:prstGeom prst="ellipse">
              <a:avLst/>
            </a:prstGeom>
            <a:noFill/>
            <a:ln w="28575">
              <a:solidFill>
                <a:schemeClr val="tx1"/>
              </a:solidFill>
              <a:round/>
              <a:headEnd/>
              <a:tailEnd/>
            </a:ln>
            <a:effectLst/>
          </p:spPr>
          <p:txBody>
            <a:bodyPr wrap="none" anchor="ctr"/>
            <a:lstStyle/>
            <a:p>
              <a:pPr algn="ctr"/>
              <a:r>
                <a:rPr lang="en-US" altLang="zh-CN" sz="2400" b="1">
                  <a:effectLst>
                    <a:outerShdw blurRad="38100" dist="38100" dir="2700000" algn="tl">
                      <a:srgbClr val="C0C0C0"/>
                    </a:outerShdw>
                  </a:effectLst>
                </a:rPr>
                <a:t>3</a:t>
              </a:r>
            </a:p>
          </p:txBody>
        </p:sp>
        <p:sp>
          <p:nvSpPr>
            <p:cNvPr id="28" name="Oval 26"/>
            <p:cNvSpPr>
              <a:spLocks noChangeArrowheads="1"/>
            </p:cNvSpPr>
            <p:nvPr/>
          </p:nvSpPr>
          <p:spPr bwMode="auto">
            <a:xfrm>
              <a:off x="1388" y="3069"/>
              <a:ext cx="200" cy="212"/>
            </a:xfrm>
            <a:prstGeom prst="ellipse">
              <a:avLst/>
            </a:prstGeom>
            <a:noFill/>
            <a:ln w="28575">
              <a:solidFill>
                <a:schemeClr val="tx1"/>
              </a:solidFill>
              <a:round/>
              <a:headEnd/>
              <a:tailEnd/>
            </a:ln>
            <a:effectLst/>
          </p:spPr>
          <p:txBody>
            <a:bodyPr wrap="none" anchor="ctr"/>
            <a:lstStyle/>
            <a:p>
              <a:pPr algn="ctr"/>
              <a:r>
                <a:rPr lang="en-US" altLang="zh-CN" sz="2400" b="1">
                  <a:effectLst>
                    <a:outerShdw blurRad="38100" dist="38100" dir="2700000" algn="tl">
                      <a:srgbClr val="C0C0C0"/>
                    </a:outerShdw>
                  </a:effectLst>
                </a:rPr>
                <a:t>2</a:t>
              </a:r>
            </a:p>
          </p:txBody>
        </p:sp>
        <p:sp>
          <p:nvSpPr>
            <p:cNvPr id="29" name="Oval 27"/>
            <p:cNvSpPr>
              <a:spLocks noChangeArrowheads="1"/>
            </p:cNvSpPr>
            <p:nvPr/>
          </p:nvSpPr>
          <p:spPr bwMode="auto">
            <a:xfrm>
              <a:off x="1947" y="3069"/>
              <a:ext cx="200" cy="212"/>
            </a:xfrm>
            <a:prstGeom prst="ellipse">
              <a:avLst/>
            </a:prstGeom>
            <a:noFill/>
            <a:ln w="28575">
              <a:solidFill>
                <a:schemeClr val="tx1"/>
              </a:solidFill>
              <a:round/>
              <a:headEnd/>
              <a:tailEnd/>
            </a:ln>
            <a:effectLst/>
          </p:spPr>
          <p:txBody>
            <a:bodyPr wrap="none" anchor="ctr"/>
            <a:lstStyle/>
            <a:p>
              <a:pPr algn="ctr"/>
              <a:r>
                <a:rPr lang="en-US" altLang="zh-CN" sz="2400" b="1">
                  <a:effectLst>
                    <a:outerShdw blurRad="38100" dist="38100" dir="2700000" algn="tl">
                      <a:srgbClr val="C0C0C0"/>
                    </a:outerShdw>
                  </a:effectLst>
                </a:rPr>
                <a:t>4</a:t>
              </a:r>
            </a:p>
          </p:txBody>
        </p:sp>
        <p:sp>
          <p:nvSpPr>
            <p:cNvPr id="30" name="Text Box 28"/>
            <p:cNvSpPr txBox="1">
              <a:spLocks noChangeArrowheads="1"/>
            </p:cNvSpPr>
            <p:nvPr/>
          </p:nvSpPr>
          <p:spPr bwMode="auto">
            <a:xfrm>
              <a:off x="1494" y="3284"/>
              <a:ext cx="338" cy="291"/>
            </a:xfrm>
            <a:prstGeom prst="rect">
              <a:avLst/>
            </a:prstGeom>
            <a:noFill/>
            <a:ln w="28575">
              <a:noFill/>
              <a:miter lim="800000"/>
              <a:headEnd/>
              <a:tailEnd/>
            </a:ln>
            <a:effectLst/>
          </p:spPr>
          <p:txBody>
            <a:bodyPr wrap="none" anchor="ctr">
              <a:spAutoFit/>
            </a:bodyPr>
            <a:lstStyle/>
            <a:p>
              <a:pPr algn="ctr">
                <a:defRPr/>
              </a:pPr>
              <a:r>
                <a:rPr lang="en-US" altLang="zh-CN" sz="2400" b="1" dirty="0">
                  <a:effectLst>
                    <a:outerShdw blurRad="38100" dist="38100" dir="2700000" algn="tl">
                      <a:srgbClr val="000000"/>
                    </a:outerShdw>
                  </a:effectLst>
                </a:rPr>
                <a:t>G</a:t>
              </a:r>
              <a:r>
                <a:rPr lang="en-US" altLang="zh-CN" sz="2400" b="1" baseline="-25000" dirty="0">
                  <a:effectLst>
                    <a:outerShdw blurRad="38100" dist="38100" dir="2700000" algn="tl">
                      <a:srgbClr val="000000"/>
                    </a:outerShdw>
                  </a:effectLst>
                </a:rPr>
                <a:t>2</a:t>
              </a:r>
            </a:p>
          </p:txBody>
        </p:sp>
        <p:sp>
          <p:nvSpPr>
            <p:cNvPr id="31" name="Oval 29"/>
            <p:cNvSpPr>
              <a:spLocks noChangeArrowheads="1"/>
            </p:cNvSpPr>
            <p:nvPr/>
          </p:nvSpPr>
          <p:spPr bwMode="auto">
            <a:xfrm>
              <a:off x="2410" y="3069"/>
              <a:ext cx="200" cy="212"/>
            </a:xfrm>
            <a:prstGeom prst="ellipse">
              <a:avLst/>
            </a:prstGeom>
            <a:noFill/>
            <a:ln w="28575">
              <a:solidFill>
                <a:schemeClr val="tx1"/>
              </a:solidFill>
              <a:round/>
              <a:headEnd/>
              <a:tailEnd/>
            </a:ln>
            <a:effectLst/>
          </p:spPr>
          <p:txBody>
            <a:bodyPr wrap="none" anchor="ctr"/>
            <a:lstStyle/>
            <a:p>
              <a:pPr algn="ctr"/>
              <a:r>
                <a:rPr lang="en-US" altLang="zh-CN" sz="2400" b="1">
                  <a:effectLst>
                    <a:outerShdw blurRad="38100" dist="38100" dir="2700000" algn="tl">
                      <a:srgbClr val="C0C0C0"/>
                    </a:outerShdw>
                  </a:effectLst>
                </a:rPr>
                <a:t>6</a:t>
              </a:r>
            </a:p>
          </p:txBody>
        </p:sp>
        <p:sp>
          <p:nvSpPr>
            <p:cNvPr id="32" name="Line 30"/>
            <p:cNvSpPr>
              <a:spLocks noChangeShapeType="1"/>
            </p:cNvSpPr>
            <p:nvPr/>
          </p:nvSpPr>
          <p:spPr bwMode="auto">
            <a:xfrm flipH="1">
              <a:off x="1089" y="2778"/>
              <a:ext cx="144" cy="300"/>
            </a:xfrm>
            <a:prstGeom prst="line">
              <a:avLst/>
            </a:prstGeom>
            <a:noFill/>
            <a:ln w="28575">
              <a:solidFill>
                <a:schemeClr val="tx1"/>
              </a:solidFill>
              <a:round/>
              <a:headEnd/>
              <a:tailEnd/>
            </a:ln>
          </p:spPr>
          <p:txBody>
            <a:bodyPr wrap="none" anchor="ctr"/>
            <a:lstStyle/>
            <a:p>
              <a:endParaRPr lang="zh-CN" altLang="en-US" b="1"/>
            </a:p>
          </p:txBody>
        </p:sp>
        <p:sp>
          <p:nvSpPr>
            <p:cNvPr id="33" name="Line 31"/>
            <p:cNvSpPr>
              <a:spLocks noChangeShapeType="1"/>
            </p:cNvSpPr>
            <p:nvPr/>
          </p:nvSpPr>
          <p:spPr bwMode="auto">
            <a:xfrm>
              <a:off x="1167" y="3178"/>
              <a:ext cx="222" cy="0"/>
            </a:xfrm>
            <a:prstGeom prst="line">
              <a:avLst/>
            </a:prstGeom>
            <a:noFill/>
            <a:ln w="28575">
              <a:solidFill>
                <a:schemeClr val="tx1"/>
              </a:solidFill>
              <a:round/>
              <a:headEnd/>
              <a:tailEnd/>
            </a:ln>
          </p:spPr>
          <p:txBody>
            <a:bodyPr wrap="none" anchor="ctr"/>
            <a:lstStyle/>
            <a:p>
              <a:endParaRPr lang="zh-CN" altLang="en-US" b="1"/>
            </a:p>
          </p:txBody>
        </p:sp>
        <p:sp>
          <p:nvSpPr>
            <p:cNvPr id="34" name="Line 32"/>
            <p:cNvSpPr>
              <a:spLocks noChangeShapeType="1"/>
            </p:cNvSpPr>
            <p:nvPr/>
          </p:nvSpPr>
          <p:spPr bwMode="auto">
            <a:xfrm>
              <a:off x="1311" y="2755"/>
              <a:ext cx="134" cy="334"/>
            </a:xfrm>
            <a:prstGeom prst="line">
              <a:avLst/>
            </a:prstGeom>
            <a:noFill/>
            <a:ln w="28575">
              <a:solidFill>
                <a:schemeClr val="tx1"/>
              </a:solidFill>
              <a:round/>
              <a:headEnd/>
              <a:tailEnd/>
            </a:ln>
          </p:spPr>
          <p:txBody>
            <a:bodyPr wrap="none" anchor="ctr"/>
            <a:lstStyle/>
            <a:p>
              <a:endParaRPr lang="zh-CN" altLang="en-US" b="1"/>
            </a:p>
          </p:txBody>
        </p:sp>
        <p:sp>
          <p:nvSpPr>
            <p:cNvPr id="35" name="Line 33"/>
            <p:cNvSpPr>
              <a:spLocks noChangeShapeType="1"/>
            </p:cNvSpPr>
            <p:nvPr/>
          </p:nvSpPr>
          <p:spPr bwMode="auto">
            <a:xfrm flipH="1">
              <a:off x="1567" y="2778"/>
              <a:ext cx="167" cy="333"/>
            </a:xfrm>
            <a:prstGeom prst="line">
              <a:avLst/>
            </a:prstGeom>
            <a:noFill/>
            <a:ln w="28575">
              <a:solidFill>
                <a:schemeClr val="tx1"/>
              </a:solidFill>
              <a:round/>
              <a:headEnd/>
              <a:tailEnd/>
            </a:ln>
          </p:spPr>
          <p:txBody>
            <a:bodyPr wrap="none" anchor="ctr"/>
            <a:lstStyle/>
            <a:p>
              <a:endParaRPr lang="zh-CN" altLang="en-US" b="1"/>
            </a:p>
          </p:txBody>
        </p:sp>
        <p:sp>
          <p:nvSpPr>
            <p:cNvPr id="36" name="Line 34"/>
            <p:cNvSpPr>
              <a:spLocks noChangeShapeType="1"/>
            </p:cNvSpPr>
            <p:nvPr/>
          </p:nvSpPr>
          <p:spPr bwMode="auto">
            <a:xfrm>
              <a:off x="1589" y="3189"/>
              <a:ext cx="356" cy="0"/>
            </a:xfrm>
            <a:prstGeom prst="line">
              <a:avLst/>
            </a:prstGeom>
            <a:noFill/>
            <a:ln w="28575">
              <a:solidFill>
                <a:schemeClr val="tx1"/>
              </a:solidFill>
              <a:round/>
              <a:headEnd/>
              <a:tailEnd/>
            </a:ln>
          </p:spPr>
          <p:txBody>
            <a:bodyPr wrap="none" anchor="ctr"/>
            <a:lstStyle/>
            <a:p>
              <a:endParaRPr lang="zh-CN" altLang="en-US" b="1"/>
            </a:p>
          </p:txBody>
        </p:sp>
        <p:sp>
          <p:nvSpPr>
            <p:cNvPr id="37" name="Line 35"/>
            <p:cNvSpPr>
              <a:spLocks noChangeShapeType="1"/>
            </p:cNvSpPr>
            <p:nvPr/>
          </p:nvSpPr>
          <p:spPr bwMode="auto">
            <a:xfrm>
              <a:off x="1867" y="2666"/>
              <a:ext cx="244" cy="0"/>
            </a:xfrm>
            <a:prstGeom prst="line">
              <a:avLst/>
            </a:prstGeom>
            <a:noFill/>
            <a:ln w="28575">
              <a:solidFill>
                <a:schemeClr val="tx1"/>
              </a:solidFill>
              <a:round/>
              <a:headEnd/>
              <a:tailEnd/>
            </a:ln>
          </p:spPr>
          <p:txBody>
            <a:bodyPr wrap="none" anchor="ctr"/>
            <a:lstStyle/>
            <a:p>
              <a:endParaRPr lang="zh-CN" altLang="en-US" b="1"/>
            </a:p>
          </p:txBody>
        </p:sp>
        <p:sp>
          <p:nvSpPr>
            <p:cNvPr id="38" name="Line 36"/>
            <p:cNvSpPr>
              <a:spLocks noChangeShapeType="1"/>
            </p:cNvSpPr>
            <p:nvPr/>
          </p:nvSpPr>
          <p:spPr bwMode="auto">
            <a:xfrm>
              <a:off x="1845" y="2722"/>
              <a:ext cx="589" cy="389"/>
            </a:xfrm>
            <a:prstGeom prst="line">
              <a:avLst/>
            </a:prstGeom>
            <a:noFill/>
            <a:ln w="28575">
              <a:solidFill>
                <a:schemeClr val="tx1"/>
              </a:solidFill>
              <a:round/>
              <a:headEnd/>
              <a:tailEnd/>
            </a:ln>
          </p:spPr>
          <p:txBody>
            <a:bodyPr wrap="none" anchor="ctr"/>
            <a:lstStyle/>
            <a:p>
              <a:endParaRPr lang="zh-CN" altLang="en-US" b="1"/>
            </a:p>
          </p:txBody>
        </p:sp>
      </p:grpSp>
      <p:sp>
        <p:nvSpPr>
          <p:cNvPr id="39" name="Text Box 37"/>
          <p:cNvSpPr txBox="1">
            <a:spLocks noChangeArrowheads="1"/>
          </p:cNvSpPr>
          <p:nvPr/>
        </p:nvSpPr>
        <p:spPr bwMode="auto">
          <a:xfrm>
            <a:off x="2024034" y="5643579"/>
            <a:ext cx="6734536" cy="830997"/>
          </a:xfrm>
          <a:prstGeom prst="rect">
            <a:avLst/>
          </a:prstGeom>
          <a:noFill/>
          <a:ln w="28575">
            <a:noFill/>
            <a:miter lim="800000"/>
            <a:headEnd/>
            <a:tailEnd/>
          </a:ln>
        </p:spPr>
        <p:txBody>
          <a:bodyPr wrap="none" anchor="ctr">
            <a:spAutoFit/>
          </a:bodyPr>
          <a:lstStyle/>
          <a:p>
            <a:r>
              <a:rPr lang="en-US" altLang="zh-CN" sz="2400" b="1" dirty="0"/>
              <a:t>V(G</a:t>
            </a:r>
            <a:r>
              <a:rPr lang="en-US" altLang="zh-CN" sz="2400" b="1" baseline="-25000" dirty="0"/>
              <a:t>2</a:t>
            </a:r>
            <a:r>
              <a:rPr lang="en-US" altLang="zh-CN" sz="2400" b="1" dirty="0"/>
              <a:t>)={1,2,3,4,5,6,7}</a:t>
            </a:r>
          </a:p>
          <a:p>
            <a:r>
              <a:rPr lang="en-US" altLang="zh-CN" sz="2400" b="1" dirty="0"/>
              <a:t>E(G</a:t>
            </a:r>
            <a:r>
              <a:rPr lang="en-US" altLang="zh-CN" sz="2400" b="1" baseline="-25000" dirty="0"/>
              <a:t>1</a:t>
            </a:r>
            <a:r>
              <a:rPr lang="en-US" altLang="zh-CN" sz="2400" b="1" dirty="0"/>
              <a:t>)={(1,2), (1,3), (2,3), (2,4),(2,5), (5,6), (5,7)}</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Graphs: Definitions</a:t>
            </a:r>
            <a:endParaRPr lang="zh-CN" altLang="en-US" dirty="0"/>
          </a:p>
        </p:txBody>
      </p:sp>
      <p:sp>
        <p:nvSpPr>
          <p:cNvPr id="3" name="内容占位符 2"/>
          <p:cNvSpPr>
            <a:spLocks noGrp="1"/>
          </p:cNvSpPr>
          <p:nvPr>
            <p:ph idx="1"/>
          </p:nvPr>
        </p:nvSpPr>
        <p:spPr/>
        <p:txBody>
          <a:bodyPr/>
          <a:lstStyle/>
          <a:p>
            <a:r>
              <a:rPr lang="en-US" altLang="zh-CN" dirty="0" smtClean="0"/>
              <a:t>A </a:t>
            </a:r>
            <a:r>
              <a:rPr lang="en-US" altLang="zh-CN" dirty="0" smtClean="0">
                <a:solidFill>
                  <a:srgbClr val="FF0000"/>
                </a:solidFill>
              </a:rPr>
              <a:t>path</a:t>
            </a:r>
            <a:r>
              <a:rPr lang="en-US" altLang="zh-CN" dirty="0" smtClean="0"/>
              <a:t> is a sequence of distinct vertices, each adjacent to the next.</a:t>
            </a:r>
          </a:p>
          <a:p>
            <a:r>
              <a:rPr lang="en-US" altLang="zh-CN" dirty="0" smtClean="0"/>
              <a:t>A </a:t>
            </a:r>
            <a:r>
              <a:rPr lang="en-US" altLang="zh-CN" dirty="0" smtClean="0">
                <a:solidFill>
                  <a:srgbClr val="FF0000"/>
                </a:solidFill>
              </a:rPr>
              <a:t>cycle</a:t>
            </a:r>
            <a:r>
              <a:rPr lang="en-US" altLang="zh-CN" dirty="0" smtClean="0"/>
              <a:t> is a path containing at least three vertices such that the last vertex on the path is adjacent to the first.</a:t>
            </a:r>
          </a:p>
          <a:p>
            <a:r>
              <a:rPr lang="en-US" altLang="zh-CN" dirty="0" smtClean="0"/>
              <a:t>A graph is called </a:t>
            </a:r>
            <a:r>
              <a:rPr lang="en-US" altLang="zh-CN" dirty="0" smtClean="0">
                <a:solidFill>
                  <a:srgbClr val="FF0000"/>
                </a:solidFill>
              </a:rPr>
              <a:t>connected</a:t>
            </a:r>
            <a:r>
              <a:rPr lang="en-US" altLang="zh-CN" dirty="0" smtClean="0"/>
              <a:t> (</a:t>
            </a:r>
            <a:r>
              <a:rPr lang="zh-CN" altLang="en-US" dirty="0" smtClean="0"/>
              <a:t>连通的</a:t>
            </a:r>
            <a:r>
              <a:rPr lang="en-US" altLang="zh-CN" dirty="0" smtClean="0"/>
              <a:t>) if there is a path from any vertex to any other vertex.</a:t>
            </a:r>
          </a:p>
          <a:p>
            <a:r>
              <a:rPr lang="en-US" altLang="zh-CN" dirty="0" smtClean="0"/>
              <a:t>A </a:t>
            </a:r>
            <a:r>
              <a:rPr lang="en-US" altLang="zh-CN" dirty="0" smtClean="0">
                <a:solidFill>
                  <a:srgbClr val="FF0000"/>
                </a:solidFill>
              </a:rPr>
              <a:t>free tree </a:t>
            </a:r>
            <a:r>
              <a:rPr lang="en-US" altLang="zh-CN" dirty="0" smtClean="0"/>
              <a:t>is defined as a connected undirected graph with no cycles.</a:t>
            </a:r>
          </a:p>
          <a:p>
            <a:r>
              <a:rPr lang="en-US" altLang="zh-CN" dirty="0" smtClean="0"/>
              <a:t>In a directed graph a path or a cycle means always moving in the direction indicated by the arrows. Such a path (cycle) is called a </a:t>
            </a:r>
            <a:r>
              <a:rPr lang="en-US" altLang="zh-CN" dirty="0" smtClean="0">
                <a:solidFill>
                  <a:srgbClr val="FF0000"/>
                </a:solidFill>
              </a:rPr>
              <a:t>directed</a:t>
            </a:r>
            <a:r>
              <a:rPr lang="en-US" altLang="zh-CN" dirty="0" smtClean="0"/>
              <a:t> path (cycle).</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Graphs: Definitions</a:t>
            </a:r>
            <a:endParaRPr lang="zh-CN" altLang="en-US" dirty="0"/>
          </a:p>
        </p:txBody>
      </p:sp>
      <p:sp>
        <p:nvSpPr>
          <p:cNvPr id="3" name="内容占位符 2"/>
          <p:cNvSpPr>
            <a:spLocks noGrp="1"/>
          </p:cNvSpPr>
          <p:nvPr>
            <p:ph idx="1"/>
          </p:nvPr>
        </p:nvSpPr>
        <p:spPr/>
        <p:txBody>
          <a:bodyPr/>
          <a:lstStyle/>
          <a:p>
            <a:r>
              <a:rPr lang="en-US" altLang="zh-CN" dirty="0" smtClean="0"/>
              <a:t>A directed graph is called </a:t>
            </a:r>
            <a:r>
              <a:rPr lang="en-US" altLang="zh-CN" dirty="0" smtClean="0">
                <a:solidFill>
                  <a:srgbClr val="FF0000"/>
                </a:solidFill>
              </a:rPr>
              <a:t>strongly connected</a:t>
            </a:r>
            <a:r>
              <a:rPr lang="en-US" altLang="zh-CN" dirty="0" smtClean="0"/>
              <a:t> (</a:t>
            </a:r>
            <a:r>
              <a:rPr lang="zh-CN" altLang="en-US" dirty="0" smtClean="0"/>
              <a:t>强连通</a:t>
            </a:r>
            <a:r>
              <a:rPr lang="en-US" altLang="zh-CN" dirty="0" smtClean="0"/>
              <a:t>) if there is a directed path from any vertex to any other vertex. If we suppress the direction of the edges and the resulting undirected graph is connected, we call the directed graph </a:t>
            </a:r>
            <a:r>
              <a:rPr lang="en-US" altLang="zh-CN" dirty="0" smtClean="0">
                <a:solidFill>
                  <a:srgbClr val="FF0000"/>
                </a:solidFill>
              </a:rPr>
              <a:t>weakly connected</a:t>
            </a:r>
            <a:r>
              <a:rPr lang="en-US" altLang="zh-CN" dirty="0" smtClean="0"/>
              <a:t> (</a:t>
            </a:r>
            <a:r>
              <a:rPr lang="zh-CN" altLang="en-US" dirty="0" smtClean="0"/>
              <a:t>弱连通</a:t>
            </a:r>
            <a:r>
              <a:rPr lang="en-US" altLang="zh-CN" dirty="0" smtClean="0"/>
              <a:t>).</a:t>
            </a:r>
          </a:p>
          <a:p>
            <a:r>
              <a:rPr lang="en-US" altLang="zh-CN" dirty="0" smtClean="0"/>
              <a:t>The </a:t>
            </a:r>
            <a:r>
              <a:rPr lang="en-US" altLang="zh-CN" dirty="0" smtClean="0">
                <a:solidFill>
                  <a:srgbClr val="FF0000"/>
                </a:solidFill>
              </a:rPr>
              <a:t>valence</a:t>
            </a:r>
            <a:r>
              <a:rPr lang="en-US" altLang="zh-CN" dirty="0" smtClean="0"/>
              <a:t> (or degree) of a vertex is the number of edges on which it lies, hence also the number of vertices adjacent to it.</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Examples of Graphs</a:t>
            </a:r>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1809720" y="928670"/>
            <a:ext cx="8501122" cy="2428892"/>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2436668" y="3697996"/>
            <a:ext cx="7159794" cy="28028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Graphs: Definitions</a:t>
            </a:r>
            <a:endParaRPr lang="zh-CN" altLang="en-US" dirty="0"/>
          </a:p>
        </p:txBody>
      </p:sp>
      <p:sp>
        <p:nvSpPr>
          <p:cNvPr id="3" name="内容占位符 2"/>
          <p:cNvSpPr>
            <a:spLocks noGrp="1"/>
          </p:cNvSpPr>
          <p:nvPr>
            <p:ph idx="1"/>
          </p:nvPr>
        </p:nvSpPr>
        <p:spPr/>
        <p:txBody>
          <a:bodyPr/>
          <a:lstStyle/>
          <a:p>
            <a:r>
              <a:rPr lang="en-US" altLang="zh-CN" dirty="0" smtClean="0"/>
              <a:t>A </a:t>
            </a:r>
            <a:r>
              <a:rPr lang="en-US" altLang="zh-CN" dirty="0" smtClean="0">
                <a:solidFill>
                  <a:srgbClr val="FF0000"/>
                </a:solidFill>
              </a:rPr>
              <a:t>complete graph</a:t>
            </a:r>
            <a:r>
              <a:rPr lang="en-US" altLang="zh-CN" dirty="0" smtClean="0"/>
              <a:t> is a simple undirected graph in which every pair of distinct vertices is connected by a unique edge. Number of edges: n(n-1)/2.</a:t>
            </a:r>
          </a:p>
          <a:p>
            <a:r>
              <a:rPr lang="en-US" altLang="zh-CN" dirty="0" smtClean="0"/>
              <a:t>A </a:t>
            </a:r>
            <a:r>
              <a:rPr lang="en-US" altLang="zh-CN" dirty="0" smtClean="0">
                <a:solidFill>
                  <a:srgbClr val="FF0000"/>
                </a:solidFill>
              </a:rPr>
              <a:t>complete digraph</a:t>
            </a:r>
            <a:r>
              <a:rPr lang="en-US" altLang="zh-CN" dirty="0" smtClean="0"/>
              <a:t> is a directed graph in which every pair of distinct vertices is connected by a pair of unique edges (one in each direction). Number of edges: n(n-1).</a:t>
            </a:r>
          </a:p>
          <a:p>
            <a:r>
              <a:rPr lang="en-US" altLang="zh-CN" dirty="0" smtClean="0"/>
              <a:t>A </a:t>
            </a:r>
            <a:r>
              <a:rPr lang="en-US" altLang="zh-CN" dirty="0" smtClean="0">
                <a:solidFill>
                  <a:srgbClr val="FF0000"/>
                </a:solidFill>
              </a:rPr>
              <a:t>dense graph</a:t>
            </a:r>
            <a:r>
              <a:rPr lang="en-US" altLang="zh-CN" dirty="0" smtClean="0"/>
              <a:t> (</a:t>
            </a:r>
            <a:r>
              <a:rPr lang="zh-CN" altLang="en-US" dirty="0" smtClean="0"/>
              <a:t>稠密图</a:t>
            </a:r>
            <a:r>
              <a:rPr lang="en-US" altLang="zh-CN" dirty="0" smtClean="0"/>
              <a:t>) is a graph in which the number of edges is close to the maximal number of edges.</a:t>
            </a:r>
          </a:p>
          <a:p>
            <a:r>
              <a:rPr lang="en-US" altLang="zh-CN" dirty="0" smtClean="0"/>
              <a:t>A </a:t>
            </a:r>
            <a:r>
              <a:rPr lang="en-US" altLang="zh-CN" dirty="0" smtClean="0">
                <a:solidFill>
                  <a:srgbClr val="FF0000"/>
                </a:solidFill>
              </a:rPr>
              <a:t>sparse graph</a:t>
            </a:r>
            <a:r>
              <a:rPr lang="en-US" altLang="zh-CN" dirty="0" smtClean="0"/>
              <a:t> (</a:t>
            </a:r>
            <a:r>
              <a:rPr lang="zh-CN" altLang="en-US" dirty="0" smtClean="0"/>
              <a:t>稀疏图</a:t>
            </a:r>
            <a:r>
              <a:rPr lang="en-US" altLang="zh-CN" dirty="0" smtClean="0"/>
              <a:t>) is a graph with only a few edges.</a:t>
            </a:r>
          </a:p>
          <a:p>
            <a:r>
              <a:rPr lang="en-US" altLang="zh-CN" dirty="0" smtClean="0">
                <a:solidFill>
                  <a:srgbClr val="FF0000"/>
                </a:solidFill>
              </a:rPr>
              <a:t>Weighted graph </a:t>
            </a:r>
            <a:r>
              <a:rPr lang="en-US" altLang="zh-CN" dirty="0" smtClean="0"/>
              <a:t>(</a:t>
            </a:r>
            <a:r>
              <a:rPr lang="zh-CN" altLang="en-US" dirty="0" smtClean="0"/>
              <a:t>带权图</a:t>
            </a:r>
            <a:r>
              <a:rPr lang="en-US" altLang="zh-CN" dirty="0" smtClean="0"/>
              <a:t>)  and </a:t>
            </a:r>
            <a:r>
              <a:rPr lang="en-US" altLang="zh-CN" dirty="0" err="1" smtClean="0">
                <a:solidFill>
                  <a:srgbClr val="FF0000"/>
                </a:solidFill>
              </a:rPr>
              <a:t>Unweighted</a:t>
            </a:r>
            <a:r>
              <a:rPr lang="en-US" altLang="zh-CN" dirty="0" smtClean="0">
                <a:solidFill>
                  <a:srgbClr val="FF0000"/>
                </a:solidFill>
              </a:rPr>
              <a:t> graph </a:t>
            </a:r>
            <a:r>
              <a:rPr lang="en-US" altLang="zh-CN" dirty="0" smtClean="0"/>
              <a:t>(</a:t>
            </a:r>
            <a:r>
              <a:rPr lang="zh-CN" altLang="en-US" dirty="0" smtClean="0"/>
              <a:t>无权图</a:t>
            </a:r>
            <a:r>
              <a:rPr lang="en-US" altLang="zh-CN" dirty="0" smtClean="0"/>
              <a:t>): In weighted graphs, each edge (or vertex) of G is assigned a numerical value, called weight or cost. </a:t>
            </a:r>
          </a:p>
          <a:p>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Graphs: Definitions</a:t>
            </a:r>
            <a:endParaRPr lang="zh-CN" altLang="en-US" dirty="0"/>
          </a:p>
        </p:txBody>
      </p:sp>
      <p:sp>
        <p:nvSpPr>
          <p:cNvPr id="3" name="内容占位符 2"/>
          <p:cNvSpPr>
            <a:spLocks noGrp="1"/>
          </p:cNvSpPr>
          <p:nvPr>
            <p:ph idx="1"/>
          </p:nvPr>
        </p:nvSpPr>
        <p:spPr/>
        <p:txBody>
          <a:bodyPr/>
          <a:lstStyle/>
          <a:p>
            <a:r>
              <a:rPr lang="en-US" altLang="zh-CN" dirty="0" smtClean="0"/>
              <a:t>An edge (x, y) is a </a:t>
            </a:r>
            <a:r>
              <a:rPr lang="en-US" altLang="zh-CN" i="1" dirty="0" smtClean="0"/>
              <a:t>multi-edge</a:t>
            </a:r>
            <a:r>
              <a:rPr lang="en-US" altLang="zh-CN" dirty="0" smtClean="0"/>
              <a:t> if it occurs more than once in the graph. </a:t>
            </a:r>
          </a:p>
          <a:p>
            <a:r>
              <a:rPr lang="en-US" altLang="zh-CN" dirty="0" smtClean="0"/>
              <a:t>Any graph which avoids these structures is called </a:t>
            </a:r>
            <a:r>
              <a:rPr lang="en-US" altLang="zh-CN" dirty="0" smtClean="0">
                <a:solidFill>
                  <a:srgbClr val="FF0000"/>
                </a:solidFill>
              </a:rPr>
              <a:t>simple graph</a:t>
            </a:r>
            <a:r>
              <a:rPr lang="en-US" altLang="zh-CN" i="1" dirty="0" smtClean="0"/>
              <a:t> </a:t>
            </a:r>
            <a:r>
              <a:rPr lang="en-US" altLang="zh-CN" dirty="0" smtClean="0"/>
              <a:t>(</a:t>
            </a:r>
            <a:r>
              <a:rPr lang="zh-CN" altLang="en-US" dirty="0" smtClean="0"/>
              <a:t>简单图</a:t>
            </a:r>
            <a:r>
              <a:rPr lang="en-US" altLang="zh-CN" dirty="0" smtClean="0"/>
              <a:t>).</a:t>
            </a:r>
          </a:p>
          <a:p>
            <a:endParaRPr lang="zh-CN" altLang="en-US" dirty="0" smtClean="0"/>
          </a:p>
          <a:p>
            <a:endParaRPr lang="en-US" altLang="zh-CN" dirty="0" smtClean="0"/>
          </a:p>
          <a:p>
            <a:endParaRPr lang="en-US" altLang="zh-CN" dirty="0" smtClean="0"/>
          </a:p>
          <a:p>
            <a:endParaRPr lang="en-US" altLang="zh-CN" dirty="0" smtClean="0"/>
          </a:p>
          <a:p>
            <a:endParaRPr lang="zh-CN" altLang="en-US" dirty="0" smtClean="0"/>
          </a:p>
          <a:p>
            <a:r>
              <a:rPr lang="en-US" altLang="zh-CN" dirty="0" smtClean="0"/>
              <a:t>An </a:t>
            </a:r>
            <a:r>
              <a:rPr lang="en-US" altLang="zh-CN" dirty="0" smtClean="0">
                <a:solidFill>
                  <a:srgbClr val="FF0000"/>
                </a:solidFill>
              </a:rPr>
              <a:t>acyclic graph </a:t>
            </a:r>
            <a:r>
              <a:rPr lang="en-US" altLang="zh-CN" dirty="0" smtClean="0"/>
              <a:t>does not contain any cycles. Trees are connected acyclic undirected graphs. </a:t>
            </a:r>
          </a:p>
          <a:p>
            <a:r>
              <a:rPr lang="en-US" altLang="zh-CN" dirty="0" smtClean="0">
                <a:solidFill>
                  <a:srgbClr val="FF0000"/>
                </a:solidFill>
              </a:rPr>
              <a:t>Directed acyclic graphs</a:t>
            </a:r>
            <a:r>
              <a:rPr lang="en-US" altLang="zh-CN" dirty="0" smtClean="0"/>
              <a:t> (</a:t>
            </a:r>
            <a:r>
              <a:rPr lang="zh-CN" altLang="en-US" dirty="0" smtClean="0"/>
              <a:t>有向无环图</a:t>
            </a:r>
            <a:r>
              <a:rPr lang="en-US" altLang="zh-CN" dirty="0" smtClean="0"/>
              <a:t>) are called </a:t>
            </a:r>
            <a:r>
              <a:rPr lang="en-US" altLang="zh-CN" dirty="0" smtClean="0">
                <a:solidFill>
                  <a:srgbClr val="FF0000"/>
                </a:solidFill>
              </a:rPr>
              <a:t>DAGs</a:t>
            </a:r>
            <a:r>
              <a:rPr lang="en-US" altLang="zh-CN" i="1" dirty="0" smtClean="0"/>
              <a:t>. </a:t>
            </a:r>
          </a:p>
          <a:p>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4413190" y="1916832"/>
            <a:ext cx="1682811" cy="188119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Graph Representations</a:t>
            </a:r>
            <a:endParaRPr lang="zh-CN" altLang="en-US" dirty="0"/>
          </a:p>
        </p:txBody>
      </p:sp>
      <p:sp>
        <p:nvSpPr>
          <p:cNvPr id="3" name="内容占位符 2"/>
          <p:cNvSpPr>
            <a:spLocks noGrp="1"/>
          </p:cNvSpPr>
          <p:nvPr>
            <p:ph idx="1"/>
          </p:nvPr>
        </p:nvSpPr>
        <p:spPr/>
        <p:txBody>
          <a:bodyPr/>
          <a:lstStyle/>
          <a:p>
            <a:r>
              <a:rPr lang="en-US" altLang="zh-CN" dirty="0" smtClean="0"/>
              <a:t>There are two main data structures used to represent graphs. </a:t>
            </a:r>
          </a:p>
          <a:p>
            <a:pPr lvl="1"/>
            <a:r>
              <a:rPr lang="en-US" altLang="zh-CN" dirty="0" smtClean="0"/>
              <a:t>Adjacency Matrix (</a:t>
            </a:r>
            <a:r>
              <a:rPr lang="zh-CN" altLang="en-US" dirty="0" smtClean="0"/>
              <a:t>邻接矩阵</a:t>
            </a:r>
            <a:r>
              <a:rPr lang="en-US" altLang="zh-CN" dirty="0" smtClean="0"/>
              <a:t>) </a:t>
            </a:r>
          </a:p>
          <a:p>
            <a:pPr lvl="1"/>
            <a:r>
              <a:rPr lang="en-US" altLang="zh-CN" dirty="0" smtClean="0"/>
              <a:t>Adjacency Lists (</a:t>
            </a:r>
            <a:r>
              <a:rPr lang="zh-CN" altLang="en-US" dirty="0" smtClean="0"/>
              <a:t>邻接表</a:t>
            </a:r>
            <a:r>
              <a:rPr lang="en-US" altLang="zh-CN" dirty="0" smtClean="0"/>
              <a:t>)</a:t>
            </a:r>
          </a:p>
          <a:p>
            <a:pPr lvl="1"/>
            <a:r>
              <a:rPr lang="en-US" altLang="zh-CN" i="1" dirty="0">
                <a:effectLst>
                  <a:outerShdw blurRad="38100" dist="38100" dir="2700000" algn="tl">
                    <a:srgbClr val="000000">
                      <a:alpha val="43137"/>
                    </a:srgbClr>
                  </a:outerShdw>
                </a:effectLst>
              </a:rPr>
              <a:t>Chained Forward </a:t>
            </a:r>
            <a:r>
              <a:rPr lang="en-US" altLang="zh-CN" i="1" dirty="0" smtClean="0">
                <a:effectLst>
                  <a:outerShdw blurRad="38100" dist="38100" dir="2700000" algn="tl">
                    <a:srgbClr val="000000">
                      <a:alpha val="43137"/>
                    </a:srgbClr>
                  </a:outerShdw>
                </a:effectLst>
              </a:rPr>
              <a:t>Start* </a:t>
            </a:r>
            <a:r>
              <a:rPr lang="en-US" altLang="zh-CN" i="1" dirty="0">
                <a:effectLst>
                  <a:outerShdw blurRad="38100" dist="38100" dir="2700000" algn="tl">
                    <a:srgbClr val="000000">
                      <a:alpha val="43137"/>
                    </a:srgbClr>
                  </a:outerShdw>
                </a:effectLst>
              </a:rPr>
              <a:t>(</a:t>
            </a:r>
            <a:r>
              <a:rPr lang="zh-CN" altLang="en-US" i="1" dirty="0">
                <a:effectLst>
                  <a:outerShdw blurRad="38100" dist="38100" dir="2700000" algn="tl">
                    <a:srgbClr val="000000">
                      <a:alpha val="43137"/>
                    </a:srgbClr>
                  </a:outerShdw>
                </a:effectLst>
              </a:rPr>
              <a:t>链式前向</a:t>
            </a:r>
            <a:r>
              <a:rPr lang="zh-CN" altLang="en-US" i="1" dirty="0" smtClean="0">
                <a:effectLst>
                  <a:outerShdw blurRad="38100" dist="38100" dir="2700000" algn="tl">
                    <a:srgbClr val="000000">
                      <a:alpha val="43137"/>
                    </a:srgbClr>
                  </a:outerShdw>
                </a:effectLst>
              </a:rPr>
              <a:t>星</a:t>
            </a:r>
            <a:r>
              <a:rPr lang="en-US" altLang="zh-CN" i="1" dirty="0" smtClean="0">
                <a:effectLst>
                  <a:outerShdw blurRad="38100" dist="38100" dir="2700000" algn="tl">
                    <a:srgbClr val="000000">
                      <a:alpha val="43137"/>
                    </a:srgbClr>
                  </a:outerShdw>
                </a:effectLst>
              </a:rPr>
              <a:t>)</a:t>
            </a:r>
            <a:endParaRPr lang="en-US" altLang="zh-CN" dirty="0" smtClean="0"/>
          </a:p>
          <a:p>
            <a:r>
              <a:rPr lang="en-US" altLang="zh-CN" dirty="0" smtClean="0"/>
              <a:t>We assume the graph </a:t>
            </a:r>
            <a:r>
              <a:rPr lang="en-US" altLang="zh-CN" i="1" dirty="0" smtClean="0"/>
              <a:t>G</a:t>
            </a:r>
            <a:r>
              <a:rPr lang="en-US" altLang="zh-CN" dirty="0" smtClean="0"/>
              <a:t> = (</a:t>
            </a:r>
            <a:r>
              <a:rPr lang="en-US" altLang="zh-CN" i="1" dirty="0" smtClean="0"/>
              <a:t>V</a:t>
            </a:r>
            <a:r>
              <a:rPr lang="en-US" altLang="zh-CN" dirty="0" smtClean="0"/>
              <a:t>, </a:t>
            </a:r>
            <a:r>
              <a:rPr lang="en-US" altLang="zh-CN" i="1" dirty="0" smtClean="0"/>
              <a:t>E</a:t>
            </a:r>
            <a:r>
              <a:rPr lang="en-US" altLang="zh-CN" dirty="0" smtClean="0"/>
              <a:t>) contains </a:t>
            </a:r>
            <a:r>
              <a:rPr lang="en-US" altLang="zh-CN" i="1" dirty="0" smtClean="0"/>
              <a:t>n</a:t>
            </a:r>
            <a:r>
              <a:rPr lang="en-US" altLang="zh-CN" dirty="0" smtClean="0"/>
              <a:t> = | </a:t>
            </a:r>
            <a:r>
              <a:rPr lang="en-US" altLang="zh-CN" i="1" dirty="0" smtClean="0"/>
              <a:t>V</a:t>
            </a:r>
            <a:r>
              <a:rPr lang="en-US" altLang="zh-CN" dirty="0" smtClean="0"/>
              <a:t> | vertices and </a:t>
            </a:r>
            <a:r>
              <a:rPr lang="en-US" altLang="zh-CN" i="1" dirty="0" smtClean="0"/>
              <a:t>m</a:t>
            </a:r>
            <a:r>
              <a:rPr lang="en-US" altLang="zh-CN" dirty="0" smtClean="0"/>
              <a:t> = | </a:t>
            </a:r>
            <a:r>
              <a:rPr lang="en-US" altLang="zh-CN" i="1" dirty="0" smtClean="0"/>
              <a:t>E</a:t>
            </a:r>
            <a:r>
              <a:rPr lang="en-US" altLang="zh-CN" dirty="0" smtClean="0"/>
              <a:t> | edges. </a:t>
            </a:r>
          </a:p>
          <a:p>
            <a:r>
              <a:rPr lang="en-US" altLang="zh-CN" dirty="0" smtClean="0"/>
              <a:t>Assume that the graph is a simple graph. (No multi-edges or self-loops)</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r>
            <a:br>
              <a:rPr lang="en-US" altLang="zh-CN" dirty="0" smtClean="0"/>
            </a:br>
            <a:r>
              <a:rPr lang="en-US" altLang="zh-CN" dirty="0" smtClean="0"/>
              <a:t>Adjacency Matrix Representation </a:t>
            </a:r>
            <a:endParaRPr lang="zh-CN" altLang="en-US" dirty="0"/>
          </a:p>
        </p:txBody>
      </p:sp>
      <p:sp>
        <p:nvSpPr>
          <p:cNvPr id="3" name="内容占位符 2"/>
          <p:cNvSpPr>
            <a:spLocks noGrp="1"/>
          </p:cNvSpPr>
          <p:nvPr>
            <p:ph idx="1"/>
          </p:nvPr>
        </p:nvSpPr>
        <p:spPr/>
        <p:txBody>
          <a:bodyPr/>
          <a:lstStyle/>
          <a:p>
            <a:r>
              <a:rPr lang="en-US" altLang="zh-CN" dirty="0" smtClean="0"/>
              <a:t>The </a:t>
            </a:r>
            <a:r>
              <a:rPr lang="en-US" altLang="zh-CN" dirty="0" smtClean="0">
                <a:solidFill>
                  <a:srgbClr val="FF0000"/>
                </a:solidFill>
              </a:rPr>
              <a:t>adjacency matrix </a:t>
            </a:r>
            <a:r>
              <a:rPr lang="en-US" altLang="zh-CN" dirty="0" smtClean="0"/>
              <a:t>of a graph </a:t>
            </a:r>
            <a:r>
              <a:rPr lang="en-US" altLang="zh-CN" i="1" dirty="0" smtClean="0"/>
              <a:t>G</a:t>
            </a:r>
            <a:r>
              <a:rPr lang="en-US" altLang="zh-CN" dirty="0" smtClean="0"/>
              <a:t> = (</a:t>
            </a:r>
            <a:r>
              <a:rPr lang="en-US" altLang="zh-CN" i="1" dirty="0" smtClean="0"/>
              <a:t>V</a:t>
            </a:r>
            <a:r>
              <a:rPr lang="en-US" altLang="zh-CN" dirty="0" smtClean="0"/>
              <a:t>, </a:t>
            </a:r>
            <a:r>
              <a:rPr lang="en-US" altLang="zh-CN" i="1" dirty="0" smtClean="0"/>
              <a:t>E</a:t>
            </a:r>
            <a:r>
              <a:rPr lang="en-US" altLang="zh-CN" dirty="0" smtClean="0"/>
              <a:t>), where </a:t>
            </a:r>
            <a:r>
              <a:rPr lang="en-US" altLang="zh-CN" i="1" dirty="0" smtClean="0"/>
              <a:t>V </a:t>
            </a:r>
            <a:r>
              <a:rPr lang="en-US" altLang="zh-CN" dirty="0" smtClean="0"/>
              <a:t>= {1,2,…,</a:t>
            </a:r>
            <a:r>
              <a:rPr lang="en-US" altLang="zh-CN" i="1" dirty="0" smtClean="0"/>
              <a:t>n</a:t>
            </a:r>
            <a:r>
              <a:rPr lang="en-US" altLang="zh-CN" dirty="0" smtClean="0"/>
              <a:t>}, is the matrix </a:t>
            </a:r>
            <a:r>
              <a:rPr lang="en-US" altLang="zh-CN" i="1" dirty="0" smtClean="0"/>
              <a:t>A</a:t>
            </a:r>
            <a:r>
              <a:rPr lang="en-US" altLang="zh-CN" dirty="0" smtClean="0"/>
              <a:t>[1…</a:t>
            </a:r>
            <a:r>
              <a:rPr lang="en-US" altLang="zh-CN" i="1" dirty="0" smtClean="0"/>
              <a:t>n</a:t>
            </a:r>
            <a:r>
              <a:rPr lang="en-US" altLang="zh-CN" dirty="0" smtClean="0"/>
              <a:t>,1…</a:t>
            </a:r>
            <a:r>
              <a:rPr lang="en-US" altLang="zh-CN" i="1" dirty="0" smtClean="0"/>
              <a:t>n</a:t>
            </a:r>
            <a:r>
              <a:rPr lang="en-US" altLang="zh-CN" dirty="0" smtClean="0"/>
              <a:t>] given by </a:t>
            </a:r>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The matrix is </a:t>
            </a:r>
            <a:r>
              <a:rPr lang="en-US" altLang="zh-CN" dirty="0" smtClean="0">
                <a:solidFill>
                  <a:srgbClr val="FF0000"/>
                </a:solidFill>
              </a:rPr>
              <a:t>symmetric</a:t>
            </a:r>
            <a:r>
              <a:rPr lang="en-US" altLang="zh-CN" dirty="0" smtClean="0"/>
              <a:t> (</a:t>
            </a:r>
            <a:r>
              <a:rPr lang="zh-CN" altLang="en-US" dirty="0" smtClean="0"/>
              <a:t>对称的</a:t>
            </a:r>
            <a:r>
              <a:rPr lang="en-US" altLang="zh-CN" dirty="0" smtClean="0"/>
              <a:t>) for undirected graphs</a:t>
            </a:r>
          </a:p>
          <a:p>
            <a:r>
              <a:rPr lang="en-US" altLang="zh-CN" dirty="0" smtClean="0"/>
              <a:t>degree(</a:t>
            </a:r>
            <a:r>
              <a:rPr lang="en-US" altLang="zh-CN" i="1" dirty="0" err="1" smtClean="0"/>
              <a:t>i</a:t>
            </a:r>
            <a:r>
              <a:rPr lang="en-US" altLang="zh-CN" dirty="0" smtClean="0"/>
              <a:t>) = number of 1s in the </a:t>
            </a:r>
            <a:r>
              <a:rPr lang="en-US" altLang="zh-CN" i="1" dirty="0" err="1" smtClean="0"/>
              <a:t>i</a:t>
            </a:r>
            <a:r>
              <a:rPr lang="en-US" altLang="zh-CN" dirty="0" err="1" smtClean="0"/>
              <a:t>-th</a:t>
            </a:r>
            <a:r>
              <a:rPr lang="en-US" altLang="zh-CN" dirty="0" smtClean="0"/>
              <a:t> row</a:t>
            </a:r>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2166912" y="2786059"/>
            <a:ext cx="7786741" cy="2385111"/>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3524232" y="1689745"/>
            <a:ext cx="3943350" cy="1019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r>
            <a:br>
              <a:rPr lang="en-US" altLang="zh-CN" dirty="0" smtClean="0"/>
            </a:br>
            <a:r>
              <a:rPr lang="en-US" altLang="zh-CN" dirty="0" smtClean="0"/>
              <a:t>Adjacency Matrix Representation </a:t>
            </a:r>
            <a:endParaRPr lang="zh-CN" altLang="en-US" dirty="0"/>
          </a:p>
        </p:txBody>
      </p:sp>
      <p:sp>
        <p:nvSpPr>
          <p:cNvPr id="3" name="内容占位符 2"/>
          <p:cNvSpPr>
            <a:spLocks noGrp="1"/>
          </p:cNvSpPr>
          <p:nvPr>
            <p:ph idx="1"/>
          </p:nvPr>
        </p:nvSpPr>
        <p:spPr/>
        <p:txBody>
          <a:bodyPr/>
          <a:lstStyle/>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en-US" altLang="zh-CN" dirty="0" smtClean="0"/>
              <a:t>Adjacency matrix representation for weighted graphs </a:t>
            </a:r>
          </a:p>
          <a:p>
            <a:endParaRPr lang="zh-CN" altLang="en-US" dirty="0"/>
          </a:p>
        </p:txBody>
      </p:sp>
      <p:pic>
        <p:nvPicPr>
          <p:cNvPr id="2050" name="Picture 2"/>
          <p:cNvPicPr>
            <a:picLocks noChangeAspect="1" noChangeArrowheads="1"/>
          </p:cNvPicPr>
          <p:nvPr/>
        </p:nvPicPr>
        <p:blipFill>
          <a:blip r:embed="rId2" cstate="print"/>
          <a:srcRect/>
          <a:stretch>
            <a:fillRect/>
          </a:stretch>
        </p:blipFill>
        <p:spPr bwMode="auto">
          <a:xfrm>
            <a:off x="1952596" y="4429133"/>
            <a:ext cx="8215370" cy="2156947"/>
          </a:xfrm>
          <a:prstGeom prst="rect">
            <a:avLst/>
          </a:prstGeom>
          <a:noFill/>
          <a:ln w="9525">
            <a:noFill/>
            <a:miter lim="800000"/>
            <a:headEnd/>
            <a:tailEnd/>
          </a:ln>
          <a:effectLst/>
        </p:spPr>
      </p:pic>
      <p:sp>
        <p:nvSpPr>
          <p:cNvPr id="5" name="矩形 4"/>
          <p:cNvSpPr/>
          <p:nvPr/>
        </p:nvSpPr>
        <p:spPr>
          <a:xfrm>
            <a:off x="1952596" y="857233"/>
            <a:ext cx="5143536" cy="3139321"/>
          </a:xfrm>
          <a:prstGeom prst="rect">
            <a:avLst/>
          </a:prstGeom>
        </p:spPr>
        <p:txBody>
          <a:bodyPr wrap="square">
            <a:spAutoFit/>
          </a:bodyPr>
          <a:lstStyle/>
          <a:p>
            <a:r>
              <a:rPr lang="pt-BR" altLang="zh-CN" b="1" dirty="0"/>
              <a:t>int n; 		// num of vertex </a:t>
            </a:r>
          </a:p>
          <a:p>
            <a:r>
              <a:rPr lang="en-US" altLang="zh-CN" b="1" dirty="0" err="1"/>
              <a:t>int</a:t>
            </a:r>
            <a:r>
              <a:rPr lang="en-US" altLang="zh-CN" b="1" dirty="0"/>
              <a:t> m; 		// num of edges </a:t>
            </a:r>
          </a:p>
          <a:p>
            <a:r>
              <a:rPr lang="nl-NL" altLang="zh-CN" b="1" dirty="0"/>
              <a:t>int u, v; 		// vertex of edge (u,v) </a:t>
            </a:r>
          </a:p>
          <a:p>
            <a:r>
              <a:rPr lang="en-US" altLang="zh-CN" b="1" dirty="0" err="1"/>
              <a:t>cin</a:t>
            </a:r>
            <a:r>
              <a:rPr lang="en-US" altLang="zh-CN" b="1" dirty="0"/>
              <a:t> &gt;&gt; n &gt;&gt; m;</a:t>
            </a:r>
          </a:p>
          <a:p>
            <a:r>
              <a:rPr lang="en-US" altLang="zh-CN" b="1" dirty="0" err="1"/>
              <a:t>int</a:t>
            </a:r>
            <a:r>
              <a:rPr lang="en-US" altLang="zh-CN" b="1" dirty="0"/>
              <a:t> g[n+1][n+1]; 	//store the graph </a:t>
            </a:r>
          </a:p>
          <a:p>
            <a:r>
              <a:rPr lang="en-US" altLang="zh-CN" b="1" dirty="0" err="1"/>
              <a:t>memset</a:t>
            </a:r>
            <a:r>
              <a:rPr lang="en-US" altLang="zh-CN" b="1" dirty="0"/>
              <a:t>(g, 0, </a:t>
            </a:r>
            <a:r>
              <a:rPr lang="en-US" altLang="zh-CN" b="1" dirty="0" err="1"/>
              <a:t>sizeof</a:t>
            </a:r>
            <a:r>
              <a:rPr lang="en-US" altLang="zh-CN" b="1" dirty="0"/>
              <a:t>(g)); </a:t>
            </a:r>
          </a:p>
          <a:p>
            <a:r>
              <a:rPr lang="en-US" altLang="zh-CN" b="1" dirty="0"/>
              <a:t>for (</a:t>
            </a:r>
            <a:r>
              <a:rPr lang="en-US" altLang="zh-CN" b="1" dirty="0" err="1"/>
              <a:t>int</a:t>
            </a:r>
            <a:r>
              <a:rPr lang="en-US" altLang="zh-CN" b="1" dirty="0"/>
              <a:t> j = 1; j &lt;= m; j++)  { </a:t>
            </a:r>
          </a:p>
          <a:p>
            <a:r>
              <a:rPr lang="en-US" altLang="zh-CN" b="1" dirty="0"/>
              <a:t>    </a:t>
            </a:r>
            <a:r>
              <a:rPr lang="en-US" altLang="zh-CN" b="1" dirty="0" err="1"/>
              <a:t>cin</a:t>
            </a:r>
            <a:r>
              <a:rPr lang="en-US" altLang="zh-CN" b="1" dirty="0"/>
              <a:t> &gt;&gt; u &gt;&gt; v; </a:t>
            </a:r>
          </a:p>
          <a:p>
            <a:r>
              <a:rPr lang="en-US" altLang="zh-CN" b="1" dirty="0"/>
              <a:t>    g[u][v] = 1; </a:t>
            </a:r>
          </a:p>
          <a:p>
            <a:r>
              <a:rPr lang="en-US" altLang="zh-CN" b="1" dirty="0"/>
              <a:t>    if (</a:t>
            </a:r>
            <a:r>
              <a:rPr lang="en-US" altLang="zh-CN" b="1" dirty="0">
                <a:solidFill>
                  <a:srgbClr val="FF0000"/>
                </a:solidFill>
              </a:rPr>
              <a:t>directed==false</a:t>
            </a:r>
            <a:r>
              <a:rPr lang="en-US" altLang="zh-CN" b="1" dirty="0"/>
              <a:t>) g[v][u] = 1; </a:t>
            </a:r>
          </a:p>
          <a:p>
            <a:r>
              <a:rPr lang="en-US" altLang="zh-CN" b="1" dirty="0"/>
              <a:t>} </a:t>
            </a:r>
            <a:endParaRPr lang="zh-CN" altLang="en-US" b="1" dirty="0"/>
          </a:p>
        </p:txBody>
      </p:sp>
      <p:cxnSp>
        <p:nvCxnSpPr>
          <p:cNvPr id="6" name="直接箭头连接符 5"/>
          <p:cNvCxnSpPr/>
          <p:nvPr/>
        </p:nvCxnSpPr>
        <p:spPr>
          <a:xfrm flipH="1" flipV="1">
            <a:off x="10040195" y="5043419"/>
            <a:ext cx="664317" cy="320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0632504" y="5254345"/>
            <a:ext cx="854721" cy="307777"/>
          </a:xfrm>
          <a:prstGeom prst="rect">
            <a:avLst/>
          </a:prstGeom>
          <a:noFill/>
        </p:spPr>
        <p:txBody>
          <a:bodyPr wrap="none" rtlCol="0">
            <a:spAutoFit/>
          </a:bodyPr>
          <a:lstStyle/>
          <a:p>
            <a:r>
              <a:rPr lang="en-US" altLang="zh-CN" sz="1400" dirty="0" smtClean="0"/>
              <a:t>-1 </a:t>
            </a:r>
            <a:r>
              <a:rPr lang="en-US" altLang="zh-CN" sz="1400" dirty="0"/>
              <a:t>→</a:t>
            </a:r>
            <a:r>
              <a:rPr lang="en-US" altLang="zh-CN" sz="1400" dirty="0" smtClean="0"/>
              <a:t> +∞</a:t>
            </a:r>
            <a:endParaRPr lang="zh-CN" altLang="en-US" sz="1400" dirty="0"/>
          </a:p>
        </p:txBody>
      </p:sp>
      <p:cxnSp>
        <p:nvCxnSpPr>
          <p:cNvPr id="11" name="直接箭头连接符 10"/>
          <p:cNvCxnSpPr>
            <a:stCxn id="13" idx="1"/>
          </p:cNvCxnSpPr>
          <p:nvPr/>
        </p:nvCxnSpPr>
        <p:spPr>
          <a:xfrm flipH="1" flipV="1">
            <a:off x="4367810" y="6196074"/>
            <a:ext cx="288030" cy="153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4655840" y="6196074"/>
            <a:ext cx="721672" cy="307777"/>
          </a:xfrm>
          <a:prstGeom prst="rect">
            <a:avLst/>
          </a:prstGeom>
          <a:noFill/>
        </p:spPr>
        <p:txBody>
          <a:bodyPr wrap="none" rtlCol="0">
            <a:spAutoFit/>
          </a:bodyPr>
          <a:lstStyle/>
          <a:p>
            <a:r>
              <a:rPr lang="en-US" altLang="zh-CN" sz="1400" dirty="0" smtClean="0"/>
              <a:t>-1 </a:t>
            </a:r>
            <a:r>
              <a:rPr lang="en-US" altLang="zh-CN" sz="1400" dirty="0"/>
              <a:t>→</a:t>
            </a:r>
            <a:r>
              <a:rPr lang="en-US" altLang="zh-CN" sz="1400" dirty="0" smtClean="0"/>
              <a:t> 0</a:t>
            </a:r>
            <a:endParaRPr lang="zh-CN" altLang="en-US" sz="1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
            </a:r>
            <a:br>
              <a:rPr lang="zh-CN" altLang="en-US" dirty="0" smtClean="0"/>
            </a:br>
            <a:r>
              <a:rPr lang="en-US" altLang="zh-CN" b="1" dirty="0" smtClean="0"/>
              <a:t>Adjacency List Representation</a:t>
            </a:r>
            <a:endParaRPr lang="zh-CN" altLang="en-US" dirty="0"/>
          </a:p>
        </p:txBody>
      </p:sp>
      <p:sp>
        <p:nvSpPr>
          <p:cNvPr id="3" name="内容占位符 2"/>
          <p:cNvSpPr>
            <a:spLocks noGrp="1"/>
          </p:cNvSpPr>
          <p:nvPr>
            <p:ph idx="1"/>
          </p:nvPr>
        </p:nvSpPr>
        <p:spPr/>
        <p:txBody>
          <a:bodyPr/>
          <a:lstStyle/>
          <a:p>
            <a:r>
              <a:rPr lang="en-US" altLang="zh-CN" dirty="0" smtClean="0"/>
              <a:t>An </a:t>
            </a:r>
            <a:r>
              <a:rPr lang="en-US" altLang="zh-CN" dirty="0" smtClean="0">
                <a:solidFill>
                  <a:srgbClr val="FF0000"/>
                </a:solidFill>
              </a:rPr>
              <a:t>adjacency list </a:t>
            </a:r>
            <a:r>
              <a:rPr lang="en-US" altLang="zh-CN" dirty="0" smtClean="0"/>
              <a:t>of a vertex </a:t>
            </a:r>
            <a:r>
              <a:rPr lang="en-US" altLang="zh-CN" i="1" dirty="0" smtClean="0"/>
              <a:t>v</a:t>
            </a:r>
            <a:r>
              <a:rPr lang="zh-CN" altLang="en-US" dirty="0" smtClean="0"/>
              <a:t>∈</a:t>
            </a:r>
            <a:r>
              <a:rPr lang="en-US" altLang="zh-CN" i="1" dirty="0" smtClean="0"/>
              <a:t>V</a:t>
            </a:r>
            <a:r>
              <a:rPr lang="en-US" altLang="zh-CN" dirty="0" smtClean="0"/>
              <a:t> is the list </a:t>
            </a:r>
            <a:r>
              <a:rPr lang="en-US" altLang="zh-CN" i="1" dirty="0" err="1" smtClean="0"/>
              <a:t>Adj</a:t>
            </a:r>
            <a:r>
              <a:rPr lang="en-US" altLang="zh-CN" i="1" dirty="0" smtClean="0"/>
              <a:t>[v]</a:t>
            </a:r>
            <a:r>
              <a:rPr lang="en-US" altLang="zh-CN" dirty="0" smtClean="0"/>
              <a:t> of vertices adjacent to </a:t>
            </a:r>
            <a:r>
              <a:rPr lang="en-US" altLang="zh-CN" i="1" dirty="0" smtClean="0"/>
              <a:t>v</a:t>
            </a:r>
            <a:r>
              <a:rPr lang="en-US" altLang="zh-CN" dirty="0" smtClean="0"/>
              <a:t>.</a:t>
            </a:r>
          </a:p>
          <a:p>
            <a:endParaRPr lang="en-US" altLang="zh-CN" dirty="0" smtClean="0"/>
          </a:p>
          <a:p>
            <a:endParaRPr lang="en-US" altLang="zh-CN" dirty="0" smtClean="0"/>
          </a:p>
          <a:p>
            <a:endParaRPr lang="en-US" altLang="zh-CN" dirty="0" smtClean="0"/>
          </a:p>
          <a:p>
            <a:endParaRPr lang="en-US" altLang="zh-CN" dirty="0" smtClean="0"/>
          </a:p>
          <a:p>
            <a:r>
              <a:rPr lang="en-US" altLang="zh-CN" dirty="0" smtClean="0"/>
              <a:t>For undirected graphs, </a:t>
            </a:r>
            <a:r>
              <a:rPr lang="en-US" altLang="zh-CN" i="1" dirty="0" smtClean="0"/>
              <a:t>|</a:t>
            </a:r>
            <a:r>
              <a:rPr lang="en-US" altLang="zh-CN" i="1" dirty="0" err="1" smtClean="0"/>
              <a:t>Adj</a:t>
            </a:r>
            <a:r>
              <a:rPr lang="en-US" altLang="zh-CN" i="1" dirty="0" smtClean="0"/>
              <a:t>[v]| = degree(v)</a:t>
            </a:r>
          </a:p>
          <a:p>
            <a:r>
              <a:rPr lang="en-US" altLang="zh-CN" dirty="0" smtClean="0"/>
              <a:t>For digraphs, </a:t>
            </a:r>
            <a:r>
              <a:rPr lang="en-US" altLang="zh-CN" i="1" dirty="0" smtClean="0"/>
              <a:t>|</a:t>
            </a:r>
            <a:r>
              <a:rPr lang="en-US" altLang="zh-CN" i="1" dirty="0" err="1" smtClean="0"/>
              <a:t>Adj</a:t>
            </a:r>
            <a:r>
              <a:rPr lang="en-US" altLang="zh-CN" i="1" dirty="0" smtClean="0"/>
              <a:t>[v]| = out-degree(v)</a:t>
            </a:r>
          </a:p>
          <a:p>
            <a:endParaRPr lang="zh-CN" altLang="en-US" dirty="0"/>
          </a:p>
        </p:txBody>
      </p:sp>
      <p:pic>
        <p:nvPicPr>
          <p:cNvPr id="1026" name="Picture 2"/>
          <p:cNvPicPr>
            <a:picLocks noChangeAspect="1" noChangeArrowheads="1"/>
          </p:cNvPicPr>
          <p:nvPr/>
        </p:nvPicPr>
        <p:blipFill>
          <a:blip r:embed="rId2" cstate="print"/>
          <a:srcRect/>
          <a:stretch>
            <a:fillRect/>
          </a:stretch>
        </p:blipFill>
        <p:spPr bwMode="auto">
          <a:xfrm>
            <a:off x="3452794" y="1484784"/>
            <a:ext cx="4154395" cy="15001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
            </a:r>
            <a:br>
              <a:rPr lang="zh-CN" altLang="en-US" dirty="0" smtClean="0"/>
            </a:br>
            <a:r>
              <a:rPr lang="en-US" altLang="zh-CN" b="1" dirty="0" smtClean="0"/>
              <a:t>Adjacency List Representation</a:t>
            </a:r>
            <a:endParaRPr lang="zh-CN" altLang="en-US" dirty="0"/>
          </a:p>
        </p:txBody>
      </p:sp>
      <p:pic>
        <p:nvPicPr>
          <p:cNvPr id="36" name="Picture 3"/>
          <p:cNvPicPr>
            <a:picLocks noChangeAspect="1" noChangeArrowheads="1"/>
          </p:cNvPicPr>
          <p:nvPr/>
        </p:nvPicPr>
        <p:blipFill>
          <a:blip r:embed="rId2" cstate="print"/>
          <a:srcRect/>
          <a:stretch>
            <a:fillRect/>
          </a:stretch>
        </p:blipFill>
        <p:spPr bwMode="auto">
          <a:xfrm>
            <a:off x="3524232" y="1357298"/>
            <a:ext cx="7072362" cy="3714776"/>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cstate="print"/>
          <a:srcRect/>
          <a:stretch>
            <a:fillRect/>
          </a:stretch>
        </p:blipFill>
        <p:spPr bwMode="auto">
          <a:xfrm>
            <a:off x="1343472" y="2357430"/>
            <a:ext cx="1858244" cy="17145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t/>
            </a:r>
            <a:br>
              <a:rPr lang="zh-CN" altLang="en-US" sz="2800" dirty="0"/>
            </a:br>
            <a:r>
              <a:rPr lang="en-US" altLang="zh-CN" sz="2800" b="1" dirty="0"/>
              <a:t>Adjacency List Representation</a:t>
            </a:r>
            <a:endParaRPr lang="zh-CN" altLang="en-US" sz="2800" dirty="0"/>
          </a:p>
        </p:txBody>
      </p:sp>
      <p:pic>
        <p:nvPicPr>
          <p:cNvPr id="4" name="Picture 5"/>
          <p:cNvPicPr>
            <a:picLocks noChangeAspect="1" noChangeArrowheads="1"/>
          </p:cNvPicPr>
          <p:nvPr/>
        </p:nvPicPr>
        <p:blipFill>
          <a:blip r:embed="rId2" cstate="print"/>
          <a:srcRect/>
          <a:stretch>
            <a:fillRect/>
          </a:stretch>
        </p:blipFill>
        <p:spPr>
          <a:xfrm>
            <a:off x="2095473" y="2000241"/>
            <a:ext cx="3542465" cy="2489953"/>
          </a:xfrm>
          <a:prstGeom prst="rect">
            <a:avLst/>
          </a:prstGeom>
          <a:noFill/>
          <a:ln/>
        </p:spPr>
      </p:pic>
      <p:pic>
        <p:nvPicPr>
          <p:cNvPr id="5" name="Picture 4"/>
          <p:cNvPicPr>
            <a:picLocks noChangeAspect="1" noChangeArrowheads="1"/>
          </p:cNvPicPr>
          <p:nvPr/>
        </p:nvPicPr>
        <p:blipFill>
          <a:blip r:embed="rId3" cstate="print"/>
          <a:srcRect/>
          <a:stretch>
            <a:fillRect/>
          </a:stretch>
        </p:blipFill>
        <p:spPr>
          <a:xfrm>
            <a:off x="6370464" y="1357298"/>
            <a:ext cx="3797502" cy="5012936"/>
          </a:xfrm>
          <a:prstGeom prst="rect">
            <a:avLst/>
          </a:prstGeom>
          <a:noFill/>
          <a:ln/>
        </p:spPr>
      </p:pic>
      <p:sp>
        <p:nvSpPr>
          <p:cNvPr id="6" name="内容占位符 2"/>
          <p:cNvSpPr>
            <a:spLocks noGrp="1"/>
          </p:cNvSpPr>
          <p:nvPr>
            <p:ph idx="1"/>
          </p:nvPr>
        </p:nvSpPr>
        <p:spPr>
          <a:xfrm>
            <a:off x="476251" y="928710"/>
            <a:ext cx="11239500" cy="5572125"/>
          </a:xfrm>
        </p:spPr>
        <p:txBody>
          <a:bodyPr/>
          <a:lstStyle/>
          <a:p>
            <a:r>
              <a:rPr lang="en-US" altLang="zh-CN" dirty="0" smtClean="0"/>
              <a:t>Use Linked list</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a:spLocks/>
          </p:cNvSpPr>
          <p:nvPr/>
        </p:nvSpPr>
        <p:spPr bwMode="auto">
          <a:xfrm>
            <a:off x="473124" y="928689"/>
            <a:ext cx="11239500" cy="55721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fontAlgn="base" hangingPunct="0">
              <a:spcBef>
                <a:spcPct val="20000"/>
              </a:spcBef>
              <a:spcAft>
                <a:spcPct val="0"/>
              </a:spcAft>
              <a:buClr>
                <a:schemeClr val="bg2"/>
              </a:buClr>
              <a:buSzPct val="70000"/>
              <a:buFont typeface="Wingdings" pitchFamily="2" charset="2"/>
              <a:buChar char="l"/>
              <a:defRPr/>
            </a:pPr>
            <a:r>
              <a:rPr kumimoji="1" lang="en-US" altLang="zh-CN" sz="2400" kern="0" dirty="0">
                <a:cs typeface="宋体" charset="0"/>
              </a:rPr>
              <a:t>Use STL list</a:t>
            </a:r>
            <a:endParaRPr kumimoji="1" lang="zh-CN" altLang="en-US" sz="2400" kern="0" dirty="0">
              <a:cs typeface="宋体" charset="0"/>
            </a:endParaRPr>
          </a:p>
        </p:txBody>
      </p:sp>
      <p:sp>
        <p:nvSpPr>
          <p:cNvPr id="2" name="标题 1"/>
          <p:cNvSpPr>
            <a:spLocks noGrp="1"/>
          </p:cNvSpPr>
          <p:nvPr>
            <p:ph type="title"/>
          </p:nvPr>
        </p:nvSpPr>
        <p:spPr/>
        <p:txBody>
          <a:bodyPr/>
          <a:lstStyle/>
          <a:p>
            <a:r>
              <a:rPr lang="en-US" altLang="zh-CN" b="1" dirty="0" smtClean="0"/>
              <a:t>Adjacency List Representation</a:t>
            </a:r>
            <a:endParaRPr lang="zh-CN" altLang="en-US" dirty="0"/>
          </a:p>
        </p:txBody>
      </p:sp>
      <p:sp>
        <p:nvSpPr>
          <p:cNvPr id="3" name="内容占位符 2"/>
          <p:cNvSpPr>
            <a:spLocks noGrp="1"/>
          </p:cNvSpPr>
          <p:nvPr>
            <p:ph idx="1"/>
          </p:nvPr>
        </p:nvSpPr>
        <p:spPr>
          <a:xfrm>
            <a:off x="1847528" y="1571612"/>
            <a:ext cx="7072332" cy="4500594"/>
          </a:xfrm>
        </p:spPr>
        <p:txBody>
          <a:bodyPr/>
          <a:lstStyle/>
          <a:p>
            <a:pPr>
              <a:buNone/>
            </a:pP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 n; //num of vertex</a:t>
            </a:r>
          </a:p>
          <a:p>
            <a:pPr>
              <a:buNone/>
            </a:pP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 m; //num of edges</a:t>
            </a:r>
          </a:p>
          <a:p>
            <a:pPr>
              <a:buNone/>
            </a:pP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 u, v; // vertex of edge (</a:t>
            </a:r>
            <a:r>
              <a:rPr lang="en-US" altLang="zh-CN" sz="2000" b="1" dirty="0" err="1">
                <a:latin typeface="Courier New" pitchFamily="49" charset="0"/>
                <a:cs typeface="Courier New" pitchFamily="49" charset="0"/>
              </a:rPr>
              <a:t>u,v</a:t>
            </a:r>
            <a:r>
              <a:rPr lang="en-US" altLang="zh-CN" sz="2000" b="1" dirty="0">
                <a:latin typeface="Courier New" pitchFamily="49" charset="0"/>
                <a:cs typeface="Courier New" pitchFamily="49" charset="0"/>
              </a:rPr>
              <a:t>)</a:t>
            </a:r>
          </a:p>
          <a:p>
            <a:pPr>
              <a:buNone/>
            </a:pP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 &gt;&gt; n &gt;&gt; m; </a:t>
            </a:r>
          </a:p>
          <a:p>
            <a:pPr>
              <a:buNone/>
            </a:pPr>
            <a:r>
              <a:rPr lang="en-US" altLang="zh-CN" sz="2000" b="1" dirty="0">
                <a:latin typeface="Courier New" pitchFamily="49" charset="0"/>
                <a:cs typeface="Courier New" pitchFamily="49" charset="0"/>
              </a:rPr>
              <a:t>list&lt;</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&gt; g[n+1]; //store the graph</a:t>
            </a:r>
          </a:p>
          <a:p>
            <a:pPr>
              <a:buNone/>
            </a:pPr>
            <a:r>
              <a:rPr lang="en-US" altLang="zh-CN" sz="2000" b="1" dirty="0">
                <a:latin typeface="Courier New" pitchFamily="49" charset="0"/>
                <a:cs typeface="Courier New" pitchFamily="49" charset="0"/>
              </a:rPr>
              <a:t>for(</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 j=1; j&lt;=m; j++)</a:t>
            </a:r>
          </a:p>
          <a:p>
            <a:pPr>
              <a:buNone/>
            </a:pPr>
            <a:r>
              <a:rPr lang="en-US" altLang="zh-CN" sz="2000" b="1" dirty="0">
                <a:latin typeface="Courier New" pitchFamily="49" charset="0"/>
                <a:cs typeface="Courier New" pitchFamily="49" charset="0"/>
              </a:rPr>
              <a:t>{</a:t>
            </a:r>
          </a:p>
          <a:p>
            <a:pPr>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 &gt;&gt; u &gt;&gt; v;</a:t>
            </a:r>
          </a:p>
          <a:p>
            <a:pPr>
              <a:buNone/>
            </a:pPr>
            <a:r>
              <a:rPr lang="en-US" altLang="zh-CN" sz="2000" b="1" dirty="0">
                <a:latin typeface="Courier New" pitchFamily="49" charset="0"/>
                <a:cs typeface="Courier New" pitchFamily="49" charset="0"/>
              </a:rPr>
              <a:t>     g[u].</a:t>
            </a:r>
            <a:r>
              <a:rPr lang="en-US" altLang="zh-CN" sz="2000" b="1" dirty="0" err="1">
                <a:latin typeface="Courier New" pitchFamily="49" charset="0"/>
                <a:cs typeface="Courier New" pitchFamily="49" charset="0"/>
              </a:rPr>
              <a:t>push_back</a:t>
            </a:r>
            <a:r>
              <a:rPr lang="en-US" altLang="zh-CN" sz="2000" b="1" dirty="0">
                <a:latin typeface="Courier New" pitchFamily="49" charset="0"/>
                <a:cs typeface="Courier New" pitchFamily="49" charset="0"/>
              </a:rPr>
              <a:t>(v); </a:t>
            </a:r>
          </a:p>
          <a:p>
            <a:pPr>
              <a:buNone/>
            </a:pPr>
            <a:r>
              <a:rPr lang="en-US" altLang="zh-CN" sz="2000" b="1" dirty="0">
                <a:latin typeface="Courier New" pitchFamily="49" charset="0"/>
                <a:cs typeface="Courier New" pitchFamily="49" charset="0"/>
              </a:rPr>
              <a:t>     </a:t>
            </a:r>
            <a:r>
              <a:rPr lang="en-US" altLang="zh-CN" sz="2000" b="1" dirty="0">
                <a:solidFill>
                  <a:srgbClr val="FF0000"/>
                </a:solidFill>
                <a:latin typeface="Courier New" pitchFamily="49" charset="0"/>
                <a:cs typeface="Courier New" pitchFamily="49" charset="0"/>
              </a:rPr>
              <a:t>if (directed==false) g[v].</a:t>
            </a:r>
            <a:r>
              <a:rPr lang="en-US" altLang="zh-CN" sz="2000" b="1" dirty="0" err="1">
                <a:solidFill>
                  <a:srgbClr val="FF0000"/>
                </a:solidFill>
                <a:latin typeface="Courier New" pitchFamily="49" charset="0"/>
                <a:cs typeface="Courier New" pitchFamily="49" charset="0"/>
              </a:rPr>
              <a:t>push_back</a:t>
            </a:r>
            <a:r>
              <a:rPr lang="en-US" altLang="zh-CN" sz="2000" b="1" dirty="0">
                <a:solidFill>
                  <a:srgbClr val="FF0000"/>
                </a:solidFill>
                <a:latin typeface="Courier New" pitchFamily="49" charset="0"/>
                <a:cs typeface="Courier New" pitchFamily="49" charset="0"/>
              </a:rPr>
              <a:t>(u);</a:t>
            </a:r>
          </a:p>
          <a:p>
            <a:pPr>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endParaRPr lang="zh-CN" altLang="en-US" sz="2000" dirty="0"/>
          </a:p>
        </p:txBody>
      </p:sp>
      <p:sp>
        <p:nvSpPr>
          <p:cNvPr id="4" name="矩形标注 3"/>
          <p:cNvSpPr/>
          <p:nvPr/>
        </p:nvSpPr>
        <p:spPr>
          <a:xfrm>
            <a:off x="8112224" y="2996952"/>
            <a:ext cx="3024336" cy="432048"/>
          </a:xfrm>
          <a:prstGeom prst="wedgeRectCallout">
            <a:avLst>
              <a:gd name="adj1" fmla="val -73447"/>
              <a:gd name="adj2" fmla="val 173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smtClean="0"/>
              <a:t>What if use vector?</a:t>
            </a:r>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Analysis of Adjacency List Representation</a:t>
            </a:r>
            <a:endParaRPr lang="zh-CN" altLang="en-US" sz="2800" dirty="0"/>
          </a:p>
        </p:txBody>
      </p:sp>
      <p:sp>
        <p:nvSpPr>
          <p:cNvPr id="3" name="内容占位符 2"/>
          <p:cNvSpPr>
            <a:spLocks noGrp="1"/>
          </p:cNvSpPr>
          <p:nvPr>
            <p:ph idx="1"/>
          </p:nvPr>
        </p:nvSpPr>
        <p:spPr/>
        <p:txBody>
          <a:bodyPr/>
          <a:lstStyle/>
          <a:p>
            <a:pPr>
              <a:defRPr/>
            </a:pPr>
            <a:r>
              <a:rPr lang="en-US" altLang="zh-CN" dirty="0" smtClean="0">
                <a:effectLst>
                  <a:outerShdw blurRad="38100" dist="38100" dir="2700000" algn="tl">
                    <a:srgbClr val="FFFFFF"/>
                  </a:outerShdw>
                </a:effectLst>
              </a:rPr>
              <a:t>Handshaking Lemma: ∑</a:t>
            </a:r>
            <a:r>
              <a:rPr lang="en-US" altLang="zh-CN" i="1" baseline="-25000" dirty="0" smtClean="0"/>
              <a:t>v</a:t>
            </a:r>
            <a:r>
              <a:rPr lang="zh-CN" altLang="en-US" baseline="-25000" dirty="0" smtClean="0"/>
              <a:t>∈</a:t>
            </a:r>
            <a:r>
              <a:rPr lang="en-US" altLang="zh-CN" i="1" baseline="-25000" dirty="0" smtClean="0"/>
              <a:t>V</a:t>
            </a:r>
            <a:r>
              <a:rPr lang="en-US" altLang="zh-CN" i="1" dirty="0" smtClean="0"/>
              <a:t> d(v)= 2|E|</a:t>
            </a:r>
            <a:endParaRPr lang="en-US" altLang="zh-CN" dirty="0" smtClean="0">
              <a:effectLst>
                <a:outerShdw blurRad="38100" dist="38100" dir="2700000" algn="tl">
                  <a:srgbClr val="FFFFFF"/>
                </a:outerShdw>
              </a:effectLst>
            </a:endParaRPr>
          </a:p>
          <a:p>
            <a:pPr>
              <a:defRPr/>
            </a:pPr>
            <a:r>
              <a:rPr lang="zh-CN" altLang="en-US" dirty="0" smtClean="0">
                <a:latin typeface="楷体_GB2312" pitchFamily="49" charset="-122"/>
                <a:ea typeface="楷体_GB2312" pitchFamily="49" charset="-122"/>
              </a:rPr>
              <a:t>对于</a:t>
            </a:r>
            <a:r>
              <a:rPr lang="en-US" altLang="zh-CN" dirty="0" smtClean="0">
                <a:solidFill>
                  <a:srgbClr val="FF0000"/>
                </a:solidFill>
                <a:latin typeface="楷体_GB2312" pitchFamily="49" charset="-122"/>
                <a:ea typeface="楷体_GB2312" pitchFamily="49" charset="-122"/>
              </a:rPr>
              <a:t>n</a:t>
            </a:r>
            <a:r>
              <a:rPr lang="zh-CN" altLang="en-US" dirty="0" smtClean="0">
                <a:solidFill>
                  <a:srgbClr val="FF0000"/>
                </a:solidFill>
                <a:latin typeface="楷体_GB2312" pitchFamily="49" charset="-122"/>
                <a:ea typeface="楷体_GB2312" pitchFamily="49" charset="-122"/>
              </a:rPr>
              <a:t>个顶点</a:t>
            </a:r>
            <a:r>
              <a:rPr lang="en-US" altLang="zh-CN" dirty="0" smtClean="0">
                <a:solidFill>
                  <a:srgbClr val="FF0000"/>
                </a:solidFill>
                <a:latin typeface="楷体_GB2312" pitchFamily="49" charset="-122"/>
                <a:ea typeface="楷体_GB2312" pitchFamily="49" charset="-122"/>
              </a:rPr>
              <a:t>e</a:t>
            </a:r>
            <a:r>
              <a:rPr lang="zh-CN" altLang="en-US" dirty="0" smtClean="0">
                <a:solidFill>
                  <a:srgbClr val="FF0000"/>
                </a:solidFill>
                <a:latin typeface="楷体_GB2312" pitchFamily="49" charset="-122"/>
                <a:ea typeface="楷体_GB2312" pitchFamily="49" charset="-122"/>
              </a:rPr>
              <a:t>条边的无向图</a:t>
            </a:r>
            <a:r>
              <a:rPr lang="zh-CN" altLang="en-US" dirty="0" smtClean="0">
                <a:latin typeface="楷体_GB2312" pitchFamily="49" charset="-122"/>
                <a:ea typeface="楷体_GB2312" pitchFamily="49" charset="-122"/>
              </a:rPr>
              <a:t>，邻接表中除了</a:t>
            </a:r>
            <a:r>
              <a:rPr lang="en-US" altLang="zh-CN" dirty="0" smtClean="0">
                <a:latin typeface="楷体_GB2312" pitchFamily="49" charset="-122"/>
                <a:ea typeface="楷体_GB2312" pitchFamily="49" charset="-122"/>
              </a:rPr>
              <a:t>n</a:t>
            </a:r>
            <a:r>
              <a:rPr lang="zh-CN" altLang="en-US" dirty="0" smtClean="0">
                <a:latin typeface="楷体_GB2312" pitchFamily="49" charset="-122"/>
                <a:ea typeface="楷体_GB2312" pitchFamily="49" charset="-122"/>
              </a:rPr>
              <a:t>个头结点外，只有</a:t>
            </a:r>
            <a:r>
              <a:rPr lang="en-US" altLang="zh-CN" dirty="0" smtClean="0">
                <a:solidFill>
                  <a:srgbClr val="FF0000"/>
                </a:solidFill>
                <a:latin typeface="楷体_GB2312" pitchFamily="49" charset="-122"/>
                <a:ea typeface="楷体_GB2312" pitchFamily="49" charset="-122"/>
              </a:rPr>
              <a:t>2e</a:t>
            </a:r>
            <a:r>
              <a:rPr lang="zh-CN" altLang="en-US" dirty="0" smtClean="0">
                <a:latin typeface="楷体_GB2312" pitchFamily="49" charset="-122"/>
                <a:ea typeface="楷体_GB2312" pitchFamily="49" charset="-122"/>
              </a:rPr>
              <a:t>个表结点</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空间效率为</a:t>
            </a:r>
            <a:r>
              <a:rPr lang="en-US" altLang="zh-CN" dirty="0" smtClean="0">
                <a:solidFill>
                  <a:srgbClr val="FF0000"/>
                </a:solidFill>
                <a:latin typeface="楷体_GB2312" pitchFamily="49" charset="-122"/>
                <a:ea typeface="楷体_GB2312" pitchFamily="49" charset="-122"/>
              </a:rPr>
              <a:t>O(n+2e)</a:t>
            </a:r>
            <a:r>
              <a:rPr lang="zh-CN" altLang="en-US" dirty="0" smtClean="0">
                <a:latin typeface="楷体_GB2312" pitchFamily="49" charset="-122"/>
                <a:ea typeface="楷体_GB2312" pitchFamily="49" charset="-122"/>
              </a:rPr>
              <a:t>。</a:t>
            </a:r>
            <a:r>
              <a:rPr lang="zh-CN" altLang="en-US" dirty="0" smtClean="0">
                <a:solidFill>
                  <a:schemeClr val="tx2"/>
                </a:solidFill>
                <a:latin typeface="楷体_GB2312" pitchFamily="49" charset="-122"/>
                <a:ea typeface="楷体_GB2312" pitchFamily="49" charset="-122"/>
              </a:rPr>
              <a:t>若是稀疏图</a:t>
            </a:r>
            <a:r>
              <a:rPr lang="en-US" altLang="zh-CN" dirty="0" smtClean="0">
                <a:solidFill>
                  <a:schemeClr val="tx2"/>
                </a:solidFill>
                <a:latin typeface="楷体_GB2312" pitchFamily="49" charset="-122"/>
                <a:ea typeface="楷体_GB2312" pitchFamily="49" charset="-122"/>
              </a:rPr>
              <a:t>(e&lt;&lt;n</a:t>
            </a:r>
            <a:r>
              <a:rPr lang="en-US" altLang="zh-CN" baseline="30000" dirty="0" smtClean="0">
                <a:solidFill>
                  <a:schemeClr val="tx2"/>
                </a:solidFill>
                <a:latin typeface="楷体_GB2312" pitchFamily="49" charset="-122"/>
                <a:ea typeface="楷体_GB2312" pitchFamily="49" charset="-122"/>
              </a:rPr>
              <a:t>2</a:t>
            </a:r>
            <a:r>
              <a:rPr lang="en-US" altLang="zh-CN" dirty="0" smtClean="0">
                <a:solidFill>
                  <a:schemeClr val="tx2"/>
                </a:solidFill>
                <a:latin typeface="楷体_GB2312" pitchFamily="49" charset="-122"/>
                <a:ea typeface="楷体_GB2312" pitchFamily="49" charset="-122"/>
              </a:rPr>
              <a:t>)</a:t>
            </a:r>
            <a:r>
              <a:rPr lang="zh-CN" altLang="en-US" dirty="0" smtClean="0">
                <a:solidFill>
                  <a:schemeClr val="tx2"/>
                </a:solidFill>
                <a:latin typeface="楷体_GB2312" pitchFamily="49" charset="-122"/>
                <a:ea typeface="楷体_GB2312" pitchFamily="49" charset="-122"/>
              </a:rPr>
              <a:t>，则比邻接矩阵表示法</a:t>
            </a:r>
            <a:r>
              <a:rPr lang="en-US" altLang="zh-CN" dirty="0" smtClean="0">
                <a:solidFill>
                  <a:schemeClr val="tx2"/>
                </a:solidFill>
                <a:latin typeface="楷体_GB2312" pitchFamily="49" charset="-122"/>
                <a:ea typeface="楷体_GB2312" pitchFamily="49" charset="-122"/>
              </a:rPr>
              <a:t>O(n</a:t>
            </a:r>
            <a:r>
              <a:rPr lang="en-US" altLang="zh-CN" baseline="30000" dirty="0" smtClean="0">
                <a:solidFill>
                  <a:schemeClr val="tx2"/>
                </a:solidFill>
                <a:latin typeface="楷体_GB2312" pitchFamily="49" charset="-122"/>
                <a:ea typeface="楷体_GB2312" pitchFamily="49" charset="-122"/>
              </a:rPr>
              <a:t>2</a:t>
            </a:r>
            <a:r>
              <a:rPr lang="en-US" altLang="zh-CN" dirty="0" smtClean="0">
                <a:solidFill>
                  <a:schemeClr val="tx2"/>
                </a:solidFill>
                <a:latin typeface="楷体_GB2312" pitchFamily="49" charset="-122"/>
                <a:ea typeface="楷体_GB2312" pitchFamily="49" charset="-122"/>
              </a:rPr>
              <a:t>)</a:t>
            </a:r>
            <a:r>
              <a:rPr lang="zh-CN" altLang="en-US" dirty="0" smtClean="0">
                <a:solidFill>
                  <a:schemeClr val="tx2"/>
                </a:solidFill>
                <a:latin typeface="楷体_GB2312" pitchFamily="49" charset="-122"/>
                <a:ea typeface="楷体_GB2312" pitchFamily="49" charset="-122"/>
              </a:rPr>
              <a:t>省空间。</a:t>
            </a:r>
          </a:p>
          <a:p>
            <a:r>
              <a:rPr lang="zh-CN" altLang="en-US" dirty="0" smtClean="0">
                <a:latin typeface="楷体_GB2312" pitchFamily="49" charset="-122"/>
                <a:ea typeface="楷体_GB2312" pitchFamily="49" charset="-122"/>
              </a:rPr>
              <a:t>在</a:t>
            </a:r>
            <a:r>
              <a:rPr lang="zh-CN" altLang="en-US" dirty="0" smtClean="0">
                <a:solidFill>
                  <a:srgbClr val="FF0000"/>
                </a:solidFill>
                <a:latin typeface="楷体_GB2312" pitchFamily="49" charset="-122"/>
                <a:ea typeface="楷体_GB2312" pitchFamily="49" charset="-122"/>
              </a:rPr>
              <a:t>有向图</a:t>
            </a:r>
            <a:r>
              <a:rPr lang="zh-CN" altLang="en-US" dirty="0" smtClean="0">
                <a:latin typeface="楷体_GB2312" pitchFamily="49" charset="-122"/>
                <a:ea typeface="楷体_GB2312" pitchFamily="49" charset="-122"/>
              </a:rPr>
              <a:t>中，邻接表中除了</a:t>
            </a:r>
            <a:r>
              <a:rPr lang="en-US" altLang="zh-CN" dirty="0" smtClean="0">
                <a:latin typeface="楷体_GB2312" pitchFamily="49" charset="-122"/>
                <a:ea typeface="楷体_GB2312" pitchFamily="49" charset="-122"/>
              </a:rPr>
              <a:t>n</a:t>
            </a:r>
            <a:r>
              <a:rPr lang="zh-CN" altLang="en-US" dirty="0" smtClean="0">
                <a:latin typeface="楷体_GB2312" pitchFamily="49" charset="-122"/>
                <a:ea typeface="楷体_GB2312" pitchFamily="49" charset="-122"/>
              </a:rPr>
              <a:t>个头结点外，只有</a:t>
            </a:r>
            <a:r>
              <a:rPr lang="en-US" altLang="zh-CN" dirty="0" smtClean="0">
                <a:solidFill>
                  <a:srgbClr val="99FF33"/>
                </a:solidFill>
                <a:latin typeface="楷体_GB2312" pitchFamily="49" charset="-122"/>
                <a:ea typeface="楷体_GB2312" pitchFamily="49" charset="-122"/>
              </a:rPr>
              <a:t>e</a:t>
            </a:r>
            <a:r>
              <a:rPr lang="zh-CN" altLang="en-US" dirty="0" smtClean="0">
                <a:latin typeface="楷体_GB2312" pitchFamily="49" charset="-122"/>
                <a:ea typeface="楷体_GB2312" pitchFamily="49" charset="-122"/>
              </a:rPr>
              <a:t>个表结点</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空间效率为</a:t>
            </a:r>
            <a:r>
              <a:rPr lang="en-US" altLang="zh-CN" dirty="0" smtClean="0">
                <a:solidFill>
                  <a:srgbClr val="FF0000"/>
                </a:solidFill>
                <a:latin typeface="楷体_GB2312" pitchFamily="49" charset="-122"/>
                <a:ea typeface="楷体_GB2312" pitchFamily="49" charset="-122"/>
              </a:rPr>
              <a:t>O(</a:t>
            </a:r>
            <a:r>
              <a:rPr lang="en-US" altLang="zh-CN" dirty="0" err="1" smtClean="0">
                <a:solidFill>
                  <a:srgbClr val="FF0000"/>
                </a:solidFill>
                <a:latin typeface="楷体_GB2312" pitchFamily="49" charset="-122"/>
                <a:ea typeface="楷体_GB2312" pitchFamily="49" charset="-122"/>
              </a:rPr>
              <a:t>n+e</a:t>
            </a:r>
            <a:r>
              <a:rPr lang="en-US" altLang="zh-CN" dirty="0" smtClean="0">
                <a:solidFill>
                  <a:srgbClr val="FF0000"/>
                </a:solidFill>
                <a:latin typeface="楷体_GB2312" pitchFamily="49" charset="-122"/>
                <a:ea typeface="楷体_GB2312" pitchFamily="49" charset="-122"/>
              </a:rPr>
              <a:t>)</a:t>
            </a:r>
            <a:r>
              <a:rPr lang="zh-CN" altLang="en-US" dirty="0" smtClean="0">
                <a:latin typeface="楷体_GB2312" pitchFamily="49" charset="-122"/>
                <a:ea typeface="楷体_GB2312" pitchFamily="49" charset="-122"/>
              </a:rPr>
              <a:t>。</a:t>
            </a:r>
            <a:r>
              <a:rPr lang="zh-CN" altLang="en-US" dirty="0" smtClean="0">
                <a:solidFill>
                  <a:schemeClr val="tx2"/>
                </a:solidFill>
                <a:latin typeface="楷体_GB2312" pitchFamily="49" charset="-122"/>
                <a:ea typeface="楷体_GB2312" pitchFamily="49" charset="-122"/>
              </a:rPr>
              <a:t>若是稀疏图，则比邻接矩阵表示法合适。</a:t>
            </a:r>
          </a:p>
          <a:p>
            <a:r>
              <a:rPr lang="zh-CN" altLang="en-US" dirty="0" smtClean="0">
                <a:solidFill>
                  <a:srgbClr val="0070C0"/>
                </a:solidFill>
                <a:ea typeface="黑体" pitchFamily="49" charset="-122"/>
              </a:rPr>
              <a:t>邻接表的</a:t>
            </a:r>
            <a:r>
              <a:rPr lang="zh-CN" altLang="en-US" dirty="0" smtClean="0">
                <a:solidFill>
                  <a:srgbClr val="0070C0"/>
                </a:solidFill>
                <a:latin typeface="黑体" pitchFamily="49" charset="-122"/>
                <a:ea typeface="黑体" pitchFamily="49" charset="-122"/>
              </a:rPr>
              <a:t>优点</a:t>
            </a:r>
            <a:r>
              <a:rPr lang="zh-CN" altLang="en-US" dirty="0" smtClean="0">
                <a:solidFill>
                  <a:srgbClr val="99FF33"/>
                </a:solidFill>
                <a:latin typeface="黑体" pitchFamily="49" charset="-122"/>
                <a:ea typeface="黑体" pitchFamily="49" charset="-122"/>
              </a:rPr>
              <a:t>：</a:t>
            </a:r>
            <a:r>
              <a:rPr lang="zh-CN" altLang="en-US" dirty="0" smtClean="0">
                <a:latin typeface="黑体" pitchFamily="49" charset="-122"/>
                <a:ea typeface="楷体_GB2312" pitchFamily="49" charset="-122"/>
              </a:rPr>
              <a:t>空间效率高；</a:t>
            </a:r>
            <a:r>
              <a:rPr lang="zh-CN" altLang="en-US" dirty="0" smtClean="0">
                <a:ea typeface="楷体_GB2312" pitchFamily="49" charset="-122"/>
              </a:rPr>
              <a:t>容易寻找顶点的邻接点；</a:t>
            </a:r>
          </a:p>
          <a:p>
            <a:r>
              <a:rPr lang="zh-CN" altLang="en-US" dirty="0" smtClean="0">
                <a:solidFill>
                  <a:srgbClr val="0070C0"/>
                </a:solidFill>
                <a:ea typeface="黑体" pitchFamily="49" charset="-122"/>
              </a:rPr>
              <a:t>邻接表的</a:t>
            </a:r>
            <a:r>
              <a:rPr lang="zh-CN" altLang="en-US" dirty="0" smtClean="0">
                <a:solidFill>
                  <a:srgbClr val="0070C0"/>
                </a:solidFill>
                <a:latin typeface="黑体" pitchFamily="49" charset="-122"/>
                <a:ea typeface="黑体" pitchFamily="49" charset="-122"/>
              </a:rPr>
              <a:t>缺点：</a:t>
            </a:r>
            <a:r>
              <a:rPr lang="zh-CN" altLang="en-US" dirty="0" smtClean="0">
                <a:latin typeface="楷体_GB2312" pitchFamily="49" charset="-122"/>
                <a:ea typeface="楷体_GB2312" pitchFamily="49" charset="-122"/>
              </a:rPr>
              <a:t>判断两顶点间是否有边或弧，需搜索两结点对应的单链表，没有邻接矩阵</a:t>
            </a:r>
            <a:r>
              <a:rPr lang="zh-CN" altLang="en-US" smtClean="0">
                <a:latin typeface="楷体_GB2312" pitchFamily="49" charset="-122"/>
                <a:ea typeface="楷体_GB2312" pitchFamily="49" charset="-122"/>
              </a:rPr>
              <a:t>方便。</a:t>
            </a:r>
            <a:endParaRPr lang="zh-CN" altLang="en-US" dirty="0" smtClean="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200" dirty="0"/>
              <a:t>Comparisons between </a:t>
            </a:r>
            <a:r>
              <a:rPr lang="en-US" altLang="zh-CN" sz="2200" b="1" dirty="0"/>
              <a:t>Adjacency Lists and Matrices</a:t>
            </a:r>
            <a:endParaRPr lang="zh-CN" altLang="en-US" sz="2200" dirty="0"/>
          </a:p>
        </p:txBody>
      </p:sp>
      <p:graphicFrame>
        <p:nvGraphicFramePr>
          <p:cNvPr id="4" name="Group 159"/>
          <p:cNvGraphicFramePr>
            <a:graphicFrameLocks/>
          </p:cNvGraphicFramePr>
          <p:nvPr>
            <p:extLst>
              <p:ext uri="{D42A27DB-BD31-4B8C-83A1-F6EECF244321}">
                <p14:modId xmlns:p14="http://schemas.microsoft.com/office/powerpoint/2010/main" val="224616029"/>
              </p:ext>
            </p:extLst>
          </p:nvPr>
        </p:nvGraphicFramePr>
        <p:xfrm>
          <a:off x="1343472" y="1268760"/>
          <a:ext cx="9256542" cy="4737137"/>
        </p:xfrm>
        <a:graphic>
          <a:graphicData uri="http://schemas.openxmlformats.org/drawingml/2006/table">
            <a:tbl>
              <a:tblPr/>
              <a:tblGrid>
                <a:gridCol w="5702534">
                  <a:extLst>
                    <a:ext uri="{9D8B030D-6E8A-4147-A177-3AD203B41FA5}">
                      <a16:colId xmlns:a16="http://schemas.microsoft.com/office/drawing/2014/main" val="20000"/>
                    </a:ext>
                  </a:extLst>
                </a:gridCol>
                <a:gridCol w="3554008">
                  <a:extLst>
                    <a:ext uri="{9D8B030D-6E8A-4147-A177-3AD203B41FA5}">
                      <a16:colId xmlns:a16="http://schemas.microsoft.com/office/drawing/2014/main" val="20001"/>
                    </a:ext>
                  </a:extLst>
                </a:gridCol>
              </a:tblGrid>
              <a:tr h="608474">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FFFFFF"/>
                          </a:solidFill>
                          <a:effectLst/>
                          <a:latin typeface="宋体" pitchFamily="2" charset="-122"/>
                          <a:ea typeface="宋体" pitchFamily="2" charset="-122"/>
                        </a:rPr>
                        <a:t>Comparison</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solidFill>
                      <a:srgbClr val="800000"/>
                    </a:solid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rgbClr val="FFFFFF"/>
                          </a:solidFill>
                          <a:effectLst/>
                          <a:latin typeface="宋体" pitchFamily="2" charset="-122"/>
                          <a:ea typeface="宋体" pitchFamily="2" charset="-122"/>
                        </a:rPr>
                        <a:t>Winner</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solidFill>
                      <a:srgbClr val="800000"/>
                    </a:solidFill>
                  </a:tcPr>
                </a:tc>
                <a:extLst>
                  <a:ext uri="{0D108BD9-81ED-4DB2-BD59-A6C34878D82A}">
                    <a16:rowId xmlns:a16="http://schemas.microsoft.com/office/drawing/2014/main" val="10000"/>
                  </a:ext>
                </a:extLst>
              </a:tr>
              <a:tr h="589809">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Faster for testing if (</a:t>
                      </a:r>
                      <a:r>
                        <a:rPr kumimoji="1" lang="en-US" altLang="zh-CN" sz="2000" b="1" i="0" u="none" strike="noStrike" cap="none" normalizeH="0" baseline="0" dirty="0" err="1" smtClean="0">
                          <a:ln>
                            <a:noFill/>
                          </a:ln>
                          <a:solidFill>
                            <a:srgbClr val="000000"/>
                          </a:solidFill>
                          <a:effectLst/>
                          <a:latin typeface="宋体" pitchFamily="2" charset="-122"/>
                          <a:ea typeface="宋体" pitchFamily="2" charset="-122"/>
                        </a:rPr>
                        <a:t>x,y</a:t>
                      </a: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 exists? </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00"/>
                    </a:solid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matrices</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00"/>
                    </a:solidFill>
                  </a:tcPr>
                </a:tc>
                <a:extLst>
                  <a:ext uri="{0D108BD9-81ED-4DB2-BD59-A6C34878D82A}">
                    <a16:rowId xmlns:a16="http://schemas.microsoft.com/office/drawing/2014/main" val="10001"/>
                  </a:ext>
                </a:extLst>
              </a:tr>
              <a:tr h="589809">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Faster for finding vertex degree? </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a:noFill/>
                    </a:lnT>
                    <a:lnB>
                      <a:noFill/>
                    </a:lnB>
                    <a:lnTlToBr>
                      <a:noFill/>
                    </a:lnTlToBr>
                    <a:lnBlToTr>
                      <a:noFill/>
                    </a:lnBlToTr>
                    <a:solidFill>
                      <a:srgbClr val="FFFF00"/>
                    </a:solid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lists</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a:noFill/>
                    </a:lnR>
                    <a:lnT>
                      <a:noFill/>
                    </a:lnT>
                    <a:lnB>
                      <a:noFill/>
                    </a:lnB>
                    <a:lnTlToBr>
                      <a:noFill/>
                    </a:lnTlToBr>
                    <a:lnBlToTr>
                      <a:noFill/>
                    </a:lnBlToTr>
                    <a:solidFill>
                      <a:srgbClr val="FFFF00"/>
                    </a:solidFill>
                  </a:tcPr>
                </a:tc>
                <a:extLst>
                  <a:ext uri="{0D108BD9-81ED-4DB2-BD59-A6C34878D82A}">
                    <a16:rowId xmlns:a16="http://schemas.microsoft.com/office/drawing/2014/main" val="10002"/>
                  </a:ext>
                </a:extLst>
              </a:tr>
              <a:tr h="589809">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Less memory on sparse graphs? </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a:noFill/>
                    </a:lnT>
                    <a:lnB>
                      <a:noFill/>
                    </a:lnB>
                    <a:lnTlToBr>
                      <a:noFill/>
                    </a:lnTlToBr>
                    <a:lnBlToTr>
                      <a:noFill/>
                    </a:lnBlToTr>
                    <a:solidFill>
                      <a:srgbClr val="FFFF00"/>
                    </a:solid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lists O(</a:t>
                      </a:r>
                      <a:r>
                        <a:rPr kumimoji="1" lang="en-US" altLang="zh-CN" sz="2000" b="1" i="0" u="none" strike="noStrike" cap="none" normalizeH="0" baseline="0" dirty="0" err="1" smtClean="0">
                          <a:ln>
                            <a:noFill/>
                          </a:ln>
                          <a:solidFill>
                            <a:srgbClr val="000000"/>
                          </a:solidFill>
                          <a:effectLst/>
                          <a:latin typeface="宋体" pitchFamily="2" charset="-122"/>
                          <a:ea typeface="宋体" pitchFamily="2" charset="-122"/>
                        </a:rPr>
                        <a:t>m+n</a:t>
                      </a: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 vs. O(n</a:t>
                      </a:r>
                      <a:r>
                        <a:rPr kumimoji="1" lang="en-US" altLang="zh-CN" sz="2000" b="1" i="0" u="none" strike="noStrike" cap="none" normalizeH="0" baseline="30000" dirty="0" smtClean="0">
                          <a:ln>
                            <a:noFill/>
                          </a:ln>
                          <a:solidFill>
                            <a:srgbClr val="000000"/>
                          </a:solidFill>
                          <a:effectLst/>
                          <a:latin typeface="宋体" pitchFamily="2" charset="-122"/>
                          <a:ea typeface="宋体" pitchFamily="2" charset="-122"/>
                        </a:rPr>
                        <a:t>2</a:t>
                      </a: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a:noFill/>
                    </a:lnT>
                    <a:lnB>
                      <a:noFill/>
                    </a:lnB>
                    <a:lnTlToBr>
                      <a:noFill/>
                    </a:lnTlToBr>
                    <a:lnBlToTr>
                      <a:noFill/>
                    </a:lnBlToTr>
                    <a:solidFill>
                      <a:srgbClr val="FFFF00"/>
                    </a:solidFill>
                  </a:tcPr>
                </a:tc>
                <a:extLst>
                  <a:ext uri="{0D108BD9-81ED-4DB2-BD59-A6C34878D82A}">
                    <a16:rowId xmlns:a16="http://schemas.microsoft.com/office/drawing/2014/main" val="10003"/>
                  </a:ext>
                </a:extLst>
              </a:tr>
              <a:tr h="589809">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Less memory on dense graphs? </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a:noFill/>
                    </a:lnT>
                    <a:lnB>
                      <a:noFill/>
                    </a:lnB>
                    <a:lnTlToBr>
                      <a:noFill/>
                    </a:lnTlToBr>
                    <a:lnBlToTr>
                      <a:noFill/>
                    </a:lnBlToTr>
                    <a:solidFill>
                      <a:srgbClr val="FFFF00"/>
                    </a:solid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matrices</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a:noFill/>
                    </a:lnT>
                    <a:lnB>
                      <a:noFill/>
                    </a:lnB>
                    <a:lnTlToBr>
                      <a:noFill/>
                    </a:lnTlToBr>
                    <a:lnBlToTr>
                      <a:noFill/>
                    </a:lnBlToTr>
                    <a:solidFill>
                      <a:srgbClr val="FFFF00"/>
                    </a:solidFill>
                  </a:tcPr>
                </a:tc>
                <a:extLst>
                  <a:ext uri="{0D108BD9-81ED-4DB2-BD59-A6C34878D82A}">
                    <a16:rowId xmlns:a16="http://schemas.microsoft.com/office/drawing/2014/main" val="10004"/>
                  </a:ext>
                </a:extLst>
              </a:tr>
              <a:tr h="589809">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Easier for edge insertion/deletion? </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a:noFill/>
                    </a:lnT>
                    <a:lnB>
                      <a:noFill/>
                    </a:lnB>
                    <a:lnTlToBr>
                      <a:noFill/>
                    </a:lnTlToBr>
                    <a:lnBlToTr>
                      <a:noFill/>
                    </a:lnBlToTr>
                    <a:solidFill>
                      <a:srgbClr val="FFFF00"/>
                    </a:solid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matrices O(1) </a:t>
                      </a:r>
                      <a:r>
                        <a:rPr kumimoji="1" lang="en-US" altLang="zh-CN" sz="2000" b="1" i="0" u="none" strike="noStrike" cap="none" normalizeH="0" baseline="0" dirty="0" err="1" smtClean="0">
                          <a:ln>
                            <a:noFill/>
                          </a:ln>
                          <a:solidFill>
                            <a:srgbClr val="000000"/>
                          </a:solidFill>
                          <a:effectLst/>
                          <a:latin typeface="宋体" pitchFamily="2" charset="-122"/>
                          <a:ea typeface="宋体" pitchFamily="2" charset="-122"/>
                        </a:rPr>
                        <a:t>vs</a:t>
                      </a: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 O(d)</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a:noFill/>
                    </a:lnT>
                    <a:lnB>
                      <a:noFill/>
                    </a:lnB>
                    <a:lnTlToBr>
                      <a:noFill/>
                    </a:lnTlToBr>
                    <a:lnBlToTr>
                      <a:noFill/>
                    </a:lnBlToTr>
                    <a:solidFill>
                      <a:srgbClr val="FFFF00"/>
                    </a:solidFill>
                  </a:tcPr>
                </a:tc>
                <a:extLst>
                  <a:ext uri="{0D108BD9-81ED-4DB2-BD59-A6C34878D82A}">
                    <a16:rowId xmlns:a16="http://schemas.microsoft.com/office/drawing/2014/main" val="10005"/>
                  </a:ext>
                </a:extLst>
              </a:tr>
              <a:tr h="589809">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Faster for traversing the graph? </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a:noFill/>
                    </a:lnT>
                    <a:lnB>
                      <a:noFill/>
                    </a:lnB>
                    <a:lnTlToBr>
                      <a:noFill/>
                    </a:lnTlToBr>
                    <a:lnBlToTr>
                      <a:noFill/>
                    </a:lnBlToTr>
                    <a:solidFill>
                      <a:srgbClr val="FFFF00"/>
                    </a:solid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lists O(</a:t>
                      </a:r>
                      <a:r>
                        <a:rPr kumimoji="1" lang="en-US" altLang="zh-CN" sz="2000" b="1" i="0" u="none" strike="noStrike" cap="none" normalizeH="0" baseline="0" dirty="0" err="1" smtClean="0">
                          <a:ln>
                            <a:noFill/>
                          </a:ln>
                          <a:solidFill>
                            <a:srgbClr val="000000"/>
                          </a:solidFill>
                          <a:effectLst/>
                          <a:latin typeface="宋体" pitchFamily="2" charset="-122"/>
                          <a:ea typeface="宋体" pitchFamily="2" charset="-122"/>
                        </a:rPr>
                        <a:t>m+n</a:t>
                      </a: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 vs. O(n</a:t>
                      </a:r>
                      <a:r>
                        <a:rPr kumimoji="1" lang="en-US" altLang="zh-CN" sz="2000" b="1" i="0" u="none" strike="noStrike" cap="none" normalizeH="0" baseline="30000" dirty="0" smtClean="0">
                          <a:ln>
                            <a:noFill/>
                          </a:ln>
                          <a:solidFill>
                            <a:srgbClr val="000000"/>
                          </a:solidFill>
                          <a:effectLst/>
                          <a:latin typeface="宋体" pitchFamily="2" charset="-122"/>
                          <a:ea typeface="宋体" pitchFamily="2" charset="-122"/>
                        </a:rPr>
                        <a:t>2</a:t>
                      </a: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cap="flat">
                      <a:noFill/>
                    </a:lnR>
                    <a:lnT>
                      <a:noFill/>
                    </a:lnT>
                    <a:lnB>
                      <a:noFill/>
                    </a:lnB>
                    <a:lnTlToBr>
                      <a:noFill/>
                    </a:lnTlToBr>
                    <a:lnBlToTr>
                      <a:noFill/>
                    </a:lnBlToTr>
                    <a:solidFill>
                      <a:srgbClr val="FFFF00"/>
                    </a:solidFill>
                  </a:tcPr>
                </a:tc>
                <a:extLst>
                  <a:ext uri="{0D108BD9-81ED-4DB2-BD59-A6C34878D82A}">
                    <a16:rowId xmlns:a16="http://schemas.microsoft.com/office/drawing/2014/main" val="10006"/>
                  </a:ext>
                </a:extLst>
              </a:tr>
              <a:tr h="589809">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rgbClr val="000000"/>
                          </a:solidFill>
                          <a:effectLst/>
                          <a:latin typeface="宋体" pitchFamily="2" charset="-122"/>
                          <a:ea typeface="宋体" pitchFamily="2" charset="-122"/>
                        </a:rPr>
                        <a:t>Better for most problems? </a:t>
                      </a:r>
                      <a:endParaRPr kumimoji="1" lang="en-US" altLang="zh-CN" sz="20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cap="flat">
                      <a:noFill/>
                    </a:lnL>
                    <a:lnR>
                      <a:noFill/>
                    </a:lnR>
                    <a:lnT>
                      <a:noFill/>
                    </a:lnT>
                    <a:lnB cap="flat">
                      <a:noFill/>
                    </a:lnB>
                    <a:lnTlToBr>
                      <a:noFill/>
                    </a:lnTlToBr>
                    <a:lnBlToTr>
                      <a:noFill/>
                    </a:lnBlToTr>
                    <a:solidFill>
                      <a:srgbClr val="FFFF00"/>
                    </a:solid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1" i="0" u="none" strike="noStrike" cap="none" normalizeH="0" baseline="0" dirty="0" smtClean="0">
                          <a:ln>
                            <a:noFill/>
                          </a:ln>
                          <a:solidFill>
                            <a:srgbClr val="000000"/>
                          </a:solidFill>
                          <a:effectLst/>
                          <a:latin typeface="宋体" pitchFamily="2" charset="-122"/>
                          <a:ea typeface="宋体" pitchFamily="2" charset="-122"/>
                        </a:rPr>
                        <a:t>lists</a:t>
                      </a:r>
                      <a:endParaRPr kumimoji="1" lang="en-US" altLang="zh-CN" sz="2000" b="1"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a:noFill/>
                    </a:lnR>
                    <a:lnT>
                      <a:noFill/>
                    </a:lnT>
                    <a:lnB cap="flat">
                      <a:noFill/>
                    </a:lnB>
                    <a:lnTlToBr>
                      <a:noFill/>
                    </a:lnTlToBr>
                    <a:lnBlToTr>
                      <a:noFill/>
                    </a:lnBlToTr>
                    <a:solidFill>
                      <a:srgbClr val="FFFF00"/>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Graph Traversal</a:t>
            </a:r>
            <a:endParaRPr lang="zh-CN" altLang="en-US" dirty="0"/>
          </a:p>
        </p:txBody>
      </p:sp>
      <p:sp>
        <p:nvSpPr>
          <p:cNvPr id="3" name="内容占位符 2"/>
          <p:cNvSpPr>
            <a:spLocks noGrp="1"/>
          </p:cNvSpPr>
          <p:nvPr>
            <p:ph idx="1"/>
          </p:nvPr>
        </p:nvSpPr>
        <p:spPr/>
        <p:txBody>
          <a:bodyPr/>
          <a:lstStyle/>
          <a:p>
            <a:r>
              <a:rPr lang="en-US" altLang="zh-CN" dirty="0" smtClean="0"/>
              <a:t>One of the most fundamental graph problems is to traverse every edge and vertex in a graph.</a:t>
            </a:r>
          </a:p>
          <a:p>
            <a:pPr lvl="1"/>
            <a:r>
              <a:rPr lang="en-US" altLang="zh-CN" dirty="0" smtClean="0"/>
              <a:t>Efficiency: visit each edge at most twice.</a:t>
            </a:r>
          </a:p>
          <a:p>
            <a:pPr lvl="1"/>
            <a:r>
              <a:rPr lang="en-US" altLang="zh-CN" dirty="0" smtClean="0"/>
              <a:t>Correctness: do the traversal in a systematic way so that we don’t miss anything.</a:t>
            </a:r>
          </a:p>
          <a:p>
            <a:r>
              <a:rPr lang="en-US" altLang="zh-CN" dirty="0" smtClean="0"/>
              <a:t>The key idea is that we must mark each vertex when we first visit it, and keep track of what have not yet completely explored.</a:t>
            </a:r>
          </a:p>
          <a:p>
            <a:r>
              <a:rPr lang="en-US" altLang="zh-CN" dirty="0" smtClean="0"/>
              <a:t>There are two traversal strategies</a:t>
            </a:r>
          </a:p>
          <a:p>
            <a:pPr lvl="1"/>
            <a:r>
              <a:rPr lang="en-US" altLang="zh-CN" dirty="0" smtClean="0"/>
              <a:t>Depth-first</a:t>
            </a:r>
          </a:p>
          <a:p>
            <a:pPr lvl="1"/>
            <a:r>
              <a:rPr lang="en-US" altLang="zh-CN" dirty="0" smtClean="0"/>
              <a:t>Breadth-first</a:t>
            </a: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Depth-first Traversal</a:t>
            </a:r>
            <a:endParaRPr lang="zh-CN" altLang="en-US" dirty="0"/>
          </a:p>
        </p:txBody>
      </p:sp>
      <p:sp>
        <p:nvSpPr>
          <p:cNvPr id="3" name="内容占位符 2"/>
          <p:cNvSpPr>
            <a:spLocks noGrp="1"/>
          </p:cNvSpPr>
          <p:nvPr>
            <p:ph idx="1"/>
          </p:nvPr>
        </p:nvSpPr>
        <p:spPr/>
        <p:txBody>
          <a:bodyPr/>
          <a:lstStyle/>
          <a:p>
            <a:r>
              <a:rPr lang="en-US" altLang="zh-CN" dirty="0" smtClean="0"/>
              <a:t>It is roughly analogous to </a:t>
            </a:r>
            <a:r>
              <a:rPr lang="en-US" altLang="zh-CN" dirty="0" smtClean="0">
                <a:solidFill>
                  <a:srgbClr val="FF0000"/>
                </a:solidFill>
              </a:rPr>
              <a:t>preorder</a:t>
            </a:r>
            <a:r>
              <a:rPr lang="en-US" altLang="zh-CN" dirty="0" smtClean="0"/>
              <a:t> traversal of an ordered tree. Suppose that the traversal has just visited a vertex </a:t>
            </a:r>
            <a:r>
              <a:rPr lang="en-US" altLang="zh-CN" i="1" dirty="0" smtClean="0"/>
              <a:t>v, </a:t>
            </a:r>
            <a:r>
              <a:rPr lang="en-US" altLang="zh-CN" dirty="0" smtClean="0"/>
              <a:t>and let </a:t>
            </a:r>
            <a:r>
              <a:rPr lang="en-US" altLang="zh-CN" i="1" dirty="0" smtClean="0"/>
              <a:t>w</a:t>
            </a:r>
            <a:r>
              <a:rPr lang="en-US" altLang="zh-CN" i="1" baseline="-25000" dirty="0" smtClean="0"/>
              <a:t>1</a:t>
            </a:r>
            <a:r>
              <a:rPr lang="en-US" altLang="zh-CN" i="1" dirty="0" smtClean="0"/>
              <a:t>, w</a:t>
            </a:r>
            <a:r>
              <a:rPr lang="en-US" altLang="zh-CN" i="1" baseline="-25000" dirty="0" smtClean="0"/>
              <a:t>2</a:t>
            </a:r>
            <a:r>
              <a:rPr lang="en-US" altLang="zh-CN" i="1" dirty="0" smtClean="0"/>
              <a:t>, … , w</a:t>
            </a:r>
            <a:r>
              <a:rPr lang="en-US" altLang="zh-CN" i="1" baseline="-25000" dirty="0" smtClean="0"/>
              <a:t>k</a:t>
            </a:r>
            <a:r>
              <a:rPr lang="en-US" altLang="zh-CN" dirty="0" smtClean="0"/>
              <a:t> be the vertices adjacent to </a:t>
            </a:r>
            <a:r>
              <a:rPr lang="en-US" altLang="zh-CN" i="1" dirty="0" smtClean="0"/>
              <a:t>v</a:t>
            </a:r>
            <a:r>
              <a:rPr lang="en-US" altLang="zh-CN" dirty="0" smtClean="0"/>
              <a:t>. Then we shall next visit </a:t>
            </a:r>
            <a:r>
              <a:rPr lang="en-US" altLang="zh-CN" i="1" dirty="0" smtClean="0"/>
              <a:t>w</a:t>
            </a:r>
            <a:r>
              <a:rPr lang="en-US" altLang="zh-CN" i="1" baseline="-25000" dirty="0" smtClean="0"/>
              <a:t>1</a:t>
            </a:r>
            <a:r>
              <a:rPr lang="en-US" altLang="zh-CN" dirty="0" smtClean="0"/>
              <a:t> and keep </a:t>
            </a:r>
            <a:r>
              <a:rPr lang="en-US" altLang="zh-CN" i="1" dirty="0" smtClean="0"/>
              <a:t>w</a:t>
            </a:r>
            <a:r>
              <a:rPr lang="en-US" altLang="zh-CN" i="1" baseline="-25000" dirty="0" smtClean="0"/>
              <a:t>2</a:t>
            </a:r>
            <a:r>
              <a:rPr lang="en-US" altLang="zh-CN" i="1" dirty="0" smtClean="0"/>
              <a:t>, … , w</a:t>
            </a:r>
            <a:r>
              <a:rPr lang="en-US" altLang="zh-CN" i="1" baseline="-25000" dirty="0" smtClean="0"/>
              <a:t>k</a:t>
            </a:r>
            <a:r>
              <a:rPr lang="en-US" altLang="zh-CN" dirty="0" smtClean="0"/>
              <a:t> waiting. After visiting </a:t>
            </a:r>
            <a:r>
              <a:rPr lang="en-US" altLang="zh-CN" i="1" dirty="0" smtClean="0"/>
              <a:t>w</a:t>
            </a:r>
            <a:r>
              <a:rPr lang="en-US" altLang="zh-CN" i="1" baseline="-25000" dirty="0" smtClean="0"/>
              <a:t>1</a:t>
            </a:r>
            <a:r>
              <a:rPr lang="en-US" altLang="zh-CN" i="1" dirty="0" smtClean="0"/>
              <a:t>,</a:t>
            </a:r>
            <a:r>
              <a:rPr lang="en-US" altLang="zh-CN" dirty="0" smtClean="0"/>
              <a:t> we traverse all the vertices to which it is adjacent before returning to traverse </a:t>
            </a:r>
            <a:r>
              <a:rPr lang="en-US" altLang="zh-CN" i="1" dirty="0" smtClean="0"/>
              <a:t>w</a:t>
            </a:r>
            <a:r>
              <a:rPr lang="en-US" altLang="zh-CN" i="1" baseline="-25000" dirty="0" smtClean="0"/>
              <a:t>2</a:t>
            </a:r>
            <a:r>
              <a:rPr lang="en-US" altLang="zh-CN" i="1" dirty="0" smtClean="0"/>
              <a:t>, … , w</a:t>
            </a:r>
            <a:r>
              <a:rPr lang="en-US" altLang="zh-CN" i="1" baseline="-25000" dirty="0" smtClean="0"/>
              <a:t>k</a:t>
            </a:r>
            <a:r>
              <a:rPr lang="en-US" altLang="zh-CN" i="1" dirty="0" smtClean="0"/>
              <a:t> .</a:t>
            </a:r>
          </a:p>
          <a:p>
            <a:endParaRPr lang="en-US" altLang="zh-CN" i="1" dirty="0" smtClean="0"/>
          </a:p>
          <a:p>
            <a:endParaRPr lang="zh-CN" altLang="en-US" dirty="0"/>
          </a:p>
        </p:txBody>
      </p:sp>
      <p:pic>
        <p:nvPicPr>
          <p:cNvPr id="4099" name="Picture 3"/>
          <p:cNvPicPr>
            <a:picLocks noChangeAspect="1" noChangeArrowheads="1"/>
          </p:cNvPicPr>
          <p:nvPr/>
        </p:nvPicPr>
        <p:blipFill>
          <a:blip r:embed="rId3" cstate="print"/>
          <a:srcRect/>
          <a:stretch>
            <a:fillRect/>
          </a:stretch>
        </p:blipFill>
        <p:spPr bwMode="auto">
          <a:xfrm>
            <a:off x="6381752" y="2924944"/>
            <a:ext cx="3429024" cy="3362088"/>
          </a:xfrm>
          <a:prstGeom prst="rect">
            <a:avLst/>
          </a:prstGeom>
          <a:noFill/>
          <a:ln w="9525">
            <a:noFill/>
            <a:miter lim="800000"/>
            <a:headEnd/>
            <a:tailEnd/>
          </a:ln>
          <a:effectLst/>
        </p:spPr>
      </p:pic>
      <p:graphicFrame>
        <p:nvGraphicFramePr>
          <p:cNvPr id="109570" name="Object 2"/>
          <p:cNvGraphicFramePr>
            <a:graphicFrameLocks noChangeAspect="1"/>
          </p:cNvGraphicFramePr>
          <p:nvPr>
            <p:extLst>
              <p:ext uri="{D42A27DB-BD31-4B8C-83A1-F6EECF244321}">
                <p14:modId xmlns:p14="http://schemas.microsoft.com/office/powerpoint/2010/main" val="2070506628"/>
              </p:ext>
            </p:extLst>
          </p:nvPr>
        </p:nvGraphicFramePr>
        <p:xfrm>
          <a:off x="2238348" y="3358074"/>
          <a:ext cx="3429000" cy="2381250"/>
        </p:xfrm>
        <a:graphic>
          <a:graphicData uri="http://schemas.openxmlformats.org/presentationml/2006/ole">
            <mc:AlternateContent xmlns:mc="http://schemas.openxmlformats.org/markup-compatibility/2006">
              <mc:Choice xmlns:v="urn:schemas-microsoft-com:vml" Requires="v">
                <p:oleObj spid="_x0000_s1046" name="Image" r:id="rId4" imgW="1458656" imgH="1234442" progId="">
                  <p:embed/>
                </p:oleObj>
              </mc:Choice>
              <mc:Fallback>
                <p:oleObj name="Image" r:id="rId4" imgW="1458656" imgH="1234442"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348" y="3358074"/>
                        <a:ext cx="3429000"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9570"/>
                                        </p:tgtEl>
                                        <p:attrNameLst>
                                          <p:attrName>style.visibility</p:attrName>
                                        </p:attrNameLst>
                                      </p:cBhvr>
                                      <p:to>
                                        <p:strVal val="visible"/>
                                      </p:to>
                                    </p:set>
                                    <p:animEffect transition="in" filter="wipe(up)">
                                      <p:cBhvr>
                                        <p:cTn id="7" dur="500"/>
                                        <p:tgtEl>
                                          <p:spTgt spid="109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Depth-first Traversal</a:t>
            </a:r>
            <a:endParaRPr lang="zh-CN" altLang="en-US" dirty="0"/>
          </a:p>
        </p:txBody>
      </p:sp>
      <p:sp>
        <p:nvSpPr>
          <p:cNvPr id="3" name="内容占位符 2"/>
          <p:cNvSpPr>
            <a:spLocks noGrp="1"/>
          </p:cNvSpPr>
          <p:nvPr>
            <p:ph idx="1"/>
          </p:nvPr>
        </p:nvSpPr>
        <p:spPr/>
        <p:txBody>
          <a:bodyPr/>
          <a:lstStyle/>
          <a:p>
            <a:r>
              <a:rPr lang="en-US" altLang="zh-CN" dirty="0" smtClean="0"/>
              <a:t>In case there are vertices which have not been visited, then chose one vertex and start depth first traversal until all vertices are visited.</a:t>
            </a:r>
            <a:endParaRPr lang="zh-CN" altLang="en-US" dirty="0"/>
          </a:p>
        </p:txBody>
      </p:sp>
      <p:pic>
        <p:nvPicPr>
          <p:cNvPr id="6146" name="Picture 2"/>
          <p:cNvPicPr>
            <a:picLocks noChangeAspect="1" noChangeArrowheads="1"/>
          </p:cNvPicPr>
          <p:nvPr/>
        </p:nvPicPr>
        <p:blipFill>
          <a:blip r:embed="rId2" cstate="print"/>
          <a:srcRect/>
          <a:stretch>
            <a:fillRect/>
          </a:stretch>
        </p:blipFill>
        <p:spPr bwMode="auto">
          <a:xfrm>
            <a:off x="2000251" y="2132856"/>
            <a:ext cx="8191500" cy="3952875"/>
          </a:xfrm>
          <a:prstGeom prst="rect">
            <a:avLst/>
          </a:prstGeom>
          <a:noFill/>
          <a:ln w="9525">
            <a:noFill/>
            <a:miter lim="800000"/>
            <a:headEnd/>
            <a:tailEnd/>
          </a:ln>
          <a:effectLst/>
        </p:spPr>
      </p:pic>
      <p:sp>
        <p:nvSpPr>
          <p:cNvPr id="5" name="矩形标注 4"/>
          <p:cNvSpPr/>
          <p:nvPr/>
        </p:nvSpPr>
        <p:spPr>
          <a:xfrm>
            <a:off x="6238876" y="5286388"/>
            <a:ext cx="3286148" cy="500066"/>
          </a:xfrm>
          <a:prstGeom prst="wedgeRectCallout">
            <a:avLst>
              <a:gd name="adj1" fmla="val -66410"/>
              <a:gd name="adj2" fmla="val -453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Select the non-visited node</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Depth-first Traversal</a:t>
            </a:r>
            <a:endParaRPr lang="zh-CN" altLang="en-US" dirty="0"/>
          </a:p>
        </p:txBody>
      </p:sp>
      <p:sp>
        <p:nvSpPr>
          <p:cNvPr id="3" name="内容占位符 2"/>
          <p:cNvSpPr>
            <a:spLocks noGrp="1"/>
          </p:cNvSpPr>
          <p:nvPr>
            <p:ph idx="1"/>
          </p:nvPr>
        </p:nvSpPr>
        <p:spPr/>
        <p:txBody>
          <a:bodyPr/>
          <a:lstStyle/>
          <a:p>
            <a:r>
              <a:rPr lang="en-US" altLang="zh-CN" dirty="0" smtClean="0"/>
              <a:t>The recursion is performed in an auxiliary function traverse.</a:t>
            </a:r>
            <a:endParaRPr lang="zh-CN" altLang="en-US" dirty="0"/>
          </a:p>
        </p:txBody>
      </p:sp>
      <p:pic>
        <p:nvPicPr>
          <p:cNvPr id="7170" name="Picture 2"/>
          <p:cNvPicPr>
            <a:picLocks noChangeAspect="1" noChangeArrowheads="1"/>
          </p:cNvPicPr>
          <p:nvPr/>
        </p:nvPicPr>
        <p:blipFill>
          <a:blip r:embed="rId2" cstate="print"/>
          <a:srcRect/>
          <a:stretch>
            <a:fillRect/>
          </a:stretch>
        </p:blipFill>
        <p:spPr bwMode="auto">
          <a:xfrm>
            <a:off x="2135560" y="1556792"/>
            <a:ext cx="8072494" cy="4714908"/>
          </a:xfrm>
          <a:prstGeom prst="rect">
            <a:avLst/>
          </a:prstGeom>
          <a:noFill/>
          <a:ln w="9525">
            <a:noFill/>
            <a:miter lim="800000"/>
            <a:headEnd/>
            <a:tailEnd/>
          </a:ln>
          <a:effectLst/>
        </p:spPr>
      </p:pic>
      <p:sp>
        <p:nvSpPr>
          <p:cNvPr id="5" name="圆角矩形标注 4"/>
          <p:cNvSpPr/>
          <p:nvPr/>
        </p:nvSpPr>
        <p:spPr>
          <a:xfrm>
            <a:off x="4952992" y="4572008"/>
            <a:ext cx="3500462" cy="500066"/>
          </a:xfrm>
          <a:prstGeom prst="wedgeRoundRectCallout">
            <a:avLst>
              <a:gd name="adj1" fmla="val -65151"/>
              <a:gd name="adj2" fmla="val 133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The vertex is marked as visited</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Marking Vertices</a:t>
            </a:r>
            <a:endParaRPr lang="zh-CN" altLang="en-US" dirty="0"/>
          </a:p>
        </p:txBody>
      </p:sp>
      <p:sp>
        <p:nvSpPr>
          <p:cNvPr id="3" name="内容占位符 2"/>
          <p:cNvSpPr>
            <a:spLocks noGrp="1"/>
          </p:cNvSpPr>
          <p:nvPr>
            <p:ph idx="1"/>
          </p:nvPr>
        </p:nvSpPr>
        <p:spPr/>
        <p:txBody>
          <a:bodyPr/>
          <a:lstStyle/>
          <a:p>
            <a:r>
              <a:rPr lang="zh-CN" altLang="en-US" dirty="0" smtClean="0"/>
              <a:t>任意结点总处于以下状态中的一种</a:t>
            </a:r>
            <a:r>
              <a:rPr lang="en-US" altLang="zh-CN" dirty="0" smtClean="0"/>
              <a:t>:</a:t>
            </a:r>
          </a:p>
          <a:p>
            <a:pPr lvl="1"/>
            <a:r>
              <a:rPr lang="en-US" altLang="zh-CN" dirty="0" smtClean="0">
                <a:solidFill>
                  <a:srgbClr val="FF0000"/>
                </a:solidFill>
              </a:rPr>
              <a:t>undiscovered</a:t>
            </a:r>
            <a:r>
              <a:rPr lang="en-US" altLang="zh-CN" dirty="0" smtClean="0"/>
              <a:t> – </a:t>
            </a:r>
            <a:r>
              <a:rPr lang="zh-CN" altLang="en-US" dirty="0" smtClean="0"/>
              <a:t>所有结点的初始状态</a:t>
            </a:r>
            <a:r>
              <a:rPr lang="en-US" altLang="zh-CN" dirty="0" smtClean="0"/>
              <a:t>.</a:t>
            </a:r>
          </a:p>
          <a:p>
            <a:pPr lvl="1"/>
            <a:r>
              <a:rPr lang="en-US" altLang="zh-CN" dirty="0" smtClean="0">
                <a:solidFill>
                  <a:srgbClr val="FF0000"/>
                </a:solidFill>
              </a:rPr>
              <a:t>discovered</a:t>
            </a:r>
            <a:r>
              <a:rPr lang="en-US" altLang="zh-CN" dirty="0" smtClean="0"/>
              <a:t> – </a:t>
            </a:r>
            <a:r>
              <a:rPr lang="zh-CN" altLang="en-US" dirty="0" smtClean="0"/>
              <a:t>结点第一次被访问，但它的出边未处理完毕。</a:t>
            </a:r>
          </a:p>
          <a:p>
            <a:pPr lvl="1"/>
            <a:r>
              <a:rPr lang="en-US" altLang="zh-CN" dirty="0" smtClean="0">
                <a:solidFill>
                  <a:srgbClr val="FF0000"/>
                </a:solidFill>
              </a:rPr>
              <a:t>processed</a:t>
            </a:r>
            <a:r>
              <a:rPr lang="en-US" altLang="zh-CN" dirty="0" smtClean="0"/>
              <a:t> – </a:t>
            </a:r>
            <a:r>
              <a:rPr lang="zh-CN" altLang="en-US" dirty="0" smtClean="0"/>
              <a:t>结点的所有出边都已经处理完毕。</a:t>
            </a:r>
          </a:p>
          <a:p>
            <a:endParaRPr lang="zh-CN" altLang="en-US" dirty="0"/>
          </a:p>
        </p:txBody>
      </p:sp>
      <p:pic>
        <p:nvPicPr>
          <p:cNvPr id="4" name="Picture 2"/>
          <p:cNvPicPr>
            <a:picLocks noChangeAspect="1" noChangeArrowheads="1"/>
          </p:cNvPicPr>
          <p:nvPr/>
        </p:nvPicPr>
        <p:blipFill>
          <a:blip r:embed="rId2" cstate="print"/>
          <a:srcRect/>
          <a:stretch>
            <a:fillRect/>
          </a:stretch>
        </p:blipFill>
        <p:spPr bwMode="auto">
          <a:xfrm>
            <a:off x="2095472" y="2554676"/>
            <a:ext cx="7000924" cy="4089035"/>
          </a:xfrm>
          <a:prstGeom prst="rect">
            <a:avLst/>
          </a:prstGeom>
          <a:noFill/>
          <a:ln w="9525">
            <a:noFill/>
            <a:miter lim="800000"/>
            <a:headEnd/>
            <a:tailEnd/>
          </a:ln>
          <a:effectLst/>
        </p:spPr>
      </p:pic>
      <p:sp>
        <p:nvSpPr>
          <p:cNvPr id="5" name="圆角矩形标注 4"/>
          <p:cNvSpPr/>
          <p:nvPr/>
        </p:nvSpPr>
        <p:spPr>
          <a:xfrm>
            <a:off x="4952992" y="4572008"/>
            <a:ext cx="3929090" cy="500066"/>
          </a:xfrm>
          <a:prstGeom prst="wedgeRoundRectCallout">
            <a:avLst>
              <a:gd name="adj1" fmla="val -67641"/>
              <a:gd name="adj2" fmla="val 4232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The vertex v is </a:t>
            </a:r>
            <a:r>
              <a:rPr lang="en-US" altLang="zh-CN" dirty="0">
                <a:solidFill>
                  <a:srgbClr val="FF0000"/>
                </a:solidFill>
              </a:rPr>
              <a:t>undiscovered</a:t>
            </a:r>
            <a:r>
              <a:rPr lang="en-US" altLang="zh-CN" dirty="0">
                <a:solidFill>
                  <a:schemeClr val="tx1"/>
                </a:solidFill>
              </a:rPr>
              <a:t> before</a:t>
            </a:r>
            <a:endParaRPr lang="zh-CN" altLang="en-US" dirty="0">
              <a:solidFill>
                <a:schemeClr val="tx1"/>
              </a:solidFill>
            </a:endParaRPr>
          </a:p>
        </p:txBody>
      </p:sp>
      <p:sp>
        <p:nvSpPr>
          <p:cNvPr id="6" name="圆角矩形标注 5"/>
          <p:cNvSpPr/>
          <p:nvPr/>
        </p:nvSpPr>
        <p:spPr>
          <a:xfrm>
            <a:off x="5453058" y="5286388"/>
            <a:ext cx="3929090" cy="500066"/>
          </a:xfrm>
          <a:prstGeom prst="wedgeRoundRectCallout">
            <a:avLst>
              <a:gd name="adj1" fmla="val -72857"/>
              <a:gd name="adj2" fmla="val 7069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The vertex v is </a:t>
            </a:r>
            <a:r>
              <a:rPr lang="en-US" altLang="zh-CN" dirty="0">
                <a:solidFill>
                  <a:srgbClr val="FF0000"/>
                </a:solidFill>
              </a:rPr>
              <a:t>discovering</a:t>
            </a:r>
            <a:endParaRPr lang="zh-CN" altLang="en-US" dirty="0">
              <a:solidFill>
                <a:schemeClr val="tx1"/>
              </a:solidFill>
            </a:endParaRPr>
          </a:p>
        </p:txBody>
      </p:sp>
      <p:sp>
        <p:nvSpPr>
          <p:cNvPr id="7" name="圆角矩形标注 6"/>
          <p:cNvSpPr/>
          <p:nvPr/>
        </p:nvSpPr>
        <p:spPr>
          <a:xfrm>
            <a:off x="5453058" y="6000768"/>
            <a:ext cx="3929090" cy="500066"/>
          </a:xfrm>
          <a:prstGeom prst="wedgeRoundRectCallout">
            <a:avLst>
              <a:gd name="adj1" fmla="val -98938"/>
              <a:gd name="adj2" fmla="val 4232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The vertex v is </a:t>
            </a:r>
            <a:r>
              <a:rPr lang="en-US" altLang="zh-CN" dirty="0">
                <a:solidFill>
                  <a:srgbClr val="FF0000"/>
                </a:solidFill>
              </a:rPr>
              <a:t>processed</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Breadth-first Traversal</a:t>
            </a:r>
            <a:endParaRPr lang="zh-CN" altLang="en-US" dirty="0"/>
          </a:p>
        </p:txBody>
      </p:sp>
      <p:sp>
        <p:nvSpPr>
          <p:cNvPr id="3" name="内容占位符 2"/>
          <p:cNvSpPr>
            <a:spLocks noGrp="1"/>
          </p:cNvSpPr>
          <p:nvPr>
            <p:ph idx="1"/>
          </p:nvPr>
        </p:nvSpPr>
        <p:spPr/>
        <p:txBody>
          <a:bodyPr/>
          <a:lstStyle/>
          <a:p>
            <a:r>
              <a:rPr lang="en-US" altLang="zh-CN" dirty="0" smtClean="0"/>
              <a:t>It is roughly analogous to </a:t>
            </a:r>
            <a:r>
              <a:rPr lang="en-US" altLang="zh-CN" dirty="0" smtClean="0">
                <a:solidFill>
                  <a:srgbClr val="FF0000"/>
                </a:solidFill>
              </a:rPr>
              <a:t>level-by-level</a:t>
            </a:r>
            <a:r>
              <a:rPr lang="en-US" altLang="zh-CN" dirty="0" smtClean="0"/>
              <a:t> traversal of an ordered tree. If the traversal has just visited a vertex </a:t>
            </a:r>
            <a:r>
              <a:rPr lang="en-US" altLang="zh-CN" i="1" dirty="0" smtClean="0"/>
              <a:t>v,</a:t>
            </a:r>
            <a:r>
              <a:rPr lang="en-US" altLang="zh-CN" dirty="0" smtClean="0"/>
              <a:t> then it next visits all the vertices adjacent to </a:t>
            </a:r>
            <a:r>
              <a:rPr lang="en-US" altLang="zh-CN" i="1" dirty="0" smtClean="0"/>
              <a:t>v</a:t>
            </a:r>
            <a:r>
              <a:rPr lang="en-US" altLang="zh-CN" dirty="0" smtClean="0"/>
              <a:t>, putting the vertices adjacent to these in a waiting list to be traversed after all vertices adjacent to </a:t>
            </a:r>
            <a:r>
              <a:rPr lang="en-US" altLang="zh-CN" i="1" dirty="0" smtClean="0"/>
              <a:t>v</a:t>
            </a:r>
            <a:r>
              <a:rPr lang="en-US" altLang="zh-CN" dirty="0" smtClean="0"/>
              <a:t> have been visited.</a:t>
            </a:r>
          </a:p>
          <a:p>
            <a:endParaRPr lang="zh-CN" altLang="en-US" dirty="0"/>
          </a:p>
        </p:txBody>
      </p:sp>
      <p:pic>
        <p:nvPicPr>
          <p:cNvPr id="5122" name="Picture 2"/>
          <p:cNvPicPr>
            <a:picLocks noChangeAspect="1" noChangeArrowheads="1"/>
          </p:cNvPicPr>
          <p:nvPr/>
        </p:nvPicPr>
        <p:blipFill>
          <a:blip r:embed="rId2" cstate="print"/>
          <a:srcRect/>
          <a:stretch>
            <a:fillRect/>
          </a:stretch>
        </p:blipFill>
        <p:spPr bwMode="auto">
          <a:xfrm>
            <a:off x="3575720" y="2708920"/>
            <a:ext cx="3867150" cy="3057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Breadth-first Traversal</a:t>
            </a:r>
            <a:endParaRPr lang="zh-CN" altLang="en-US" dirty="0"/>
          </a:p>
        </p:txBody>
      </p:sp>
      <p:sp>
        <p:nvSpPr>
          <p:cNvPr id="3" name="内容占位符 2"/>
          <p:cNvSpPr>
            <a:spLocks noGrp="1"/>
          </p:cNvSpPr>
          <p:nvPr>
            <p:ph idx="1"/>
          </p:nvPr>
        </p:nvSpPr>
        <p:spPr/>
        <p:txBody>
          <a:bodyPr/>
          <a:lstStyle/>
          <a:p>
            <a:r>
              <a:rPr lang="en-US" altLang="zh-CN" dirty="0" smtClean="0"/>
              <a:t>Breadth first traversal can be done by using a </a:t>
            </a:r>
            <a:r>
              <a:rPr lang="en-US" altLang="zh-CN" dirty="0" smtClean="0">
                <a:solidFill>
                  <a:srgbClr val="FF0000"/>
                </a:solidFill>
              </a:rPr>
              <a:t>queue</a:t>
            </a:r>
            <a:r>
              <a:rPr lang="en-US" altLang="zh-CN" dirty="0" smtClean="0"/>
              <a:t>. The head is the vertex to be visited. When it is visited, all its adjacent vertices are put in the queue.</a:t>
            </a:r>
          </a:p>
          <a:p>
            <a:r>
              <a:rPr lang="en-US" altLang="zh-CN" dirty="0" smtClean="0"/>
              <a:t>Let v be the first vertex to be visited, and w</a:t>
            </a:r>
            <a:r>
              <a:rPr lang="en-US" altLang="zh-CN" baseline="-25000" dirty="0" smtClean="0"/>
              <a:t>1</a:t>
            </a:r>
            <a:r>
              <a:rPr lang="en-US" altLang="zh-CN" dirty="0" smtClean="0"/>
              <a:t>, …, w</a:t>
            </a:r>
            <a:r>
              <a:rPr lang="en-US" altLang="zh-CN" baseline="-25000" dirty="0" smtClean="0"/>
              <a:t>k</a:t>
            </a:r>
            <a:r>
              <a:rPr lang="en-US" altLang="zh-CN" dirty="0" smtClean="0"/>
              <a:t> be the adjacent vertices of v. We will first put v in the queue. Visit v and put w</a:t>
            </a:r>
            <a:r>
              <a:rPr lang="en-US" altLang="zh-CN" baseline="-25000" dirty="0" smtClean="0"/>
              <a:t>1</a:t>
            </a:r>
            <a:r>
              <a:rPr lang="en-US" altLang="zh-CN" dirty="0" smtClean="0"/>
              <a:t>, …, w</a:t>
            </a:r>
            <a:r>
              <a:rPr lang="en-US" altLang="zh-CN" baseline="-25000" dirty="0" smtClean="0"/>
              <a:t>k</a:t>
            </a:r>
            <a:r>
              <a:rPr lang="en-US" altLang="zh-CN" dirty="0" smtClean="0"/>
              <a:t> in the queue. Then visit w</a:t>
            </a:r>
            <a:r>
              <a:rPr lang="en-US" altLang="zh-CN" baseline="-25000" dirty="0" smtClean="0"/>
              <a:t>1 </a:t>
            </a:r>
            <a:r>
              <a:rPr lang="en-US" altLang="zh-CN" dirty="0" smtClean="0"/>
              <a:t>and put the adjacent vertices of w</a:t>
            </a:r>
            <a:r>
              <a:rPr lang="en-US" altLang="zh-CN" baseline="-25000" dirty="0" smtClean="0"/>
              <a:t>1 </a:t>
            </a:r>
            <a:r>
              <a:rPr lang="en-US" altLang="zh-CN" dirty="0" smtClean="0"/>
              <a:t>into the queue, …, until all the vertices have been visited.</a:t>
            </a:r>
          </a:p>
          <a:p>
            <a:endParaRPr lang="zh-CN" altLang="en-US" dirty="0"/>
          </a:p>
        </p:txBody>
      </p:sp>
      <p:pic>
        <p:nvPicPr>
          <p:cNvPr id="9218" name="Picture 2"/>
          <p:cNvPicPr>
            <a:picLocks noChangeAspect="1" noChangeArrowheads="1"/>
          </p:cNvPicPr>
          <p:nvPr/>
        </p:nvPicPr>
        <p:blipFill>
          <a:blip r:embed="rId2" cstate="print"/>
          <a:srcRect/>
          <a:stretch>
            <a:fillRect/>
          </a:stretch>
        </p:blipFill>
        <p:spPr bwMode="auto">
          <a:xfrm>
            <a:off x="4007768" y="3284984"/>
            <a:ext cx="3286148" cy="286212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Breadth-first Traversal</a:t>
            </a:r>
            <a:endParaRPr lang="zh-CN" altLang="en-US" dirty="0"/>
          </a:p>
        </p:txBody>
      </p:sp>
      <p:pic>
        <p:nvPicPr>
          <p:cNvPr id="8194" name="Picture 2"/>
          <p:cNvPicPr>
            <a:picLocks noChangeAspect="1" noChangeArrowheads="1"/>
          </p:cNvPicPr>
          <p:nvPr/>
        </p:nvPicPr>
        <p:blipFill>
          <a:blip r:embed="rId2" cstate="print"/>
          <a:srcRect/>
          <a:stretch>
            <a:fillRect/>
          </a:stretch>
        </p:blipFill>
        <p:spPr bwMode="auto">
          <a:xfrm>
            <a:off x="2071700" y="928671"/>
            <a:ext cx="7096134" cy="5643602"/>
          </a:xfrm>
          <a:prstGeom prst="rect">
            <a:avLst/>
          </a:prstGeom>
          <a:noFill/>
          <a:ln w="9525">
            <a:noFill/>
            <a:miter lim="800000"/>
            <a:headEnd/>
            <a:tailEnd/>
          </a:ln>
          <a:effectLst/>
        </p:spPr>
      </p:pic>
      <p:sp>
        <p:nvSpPr>
          <p:cNvPr id="6" name="圆角矩形标注 5"/>
          <p:cNvSpPr/>
          <p:nvPr/>
        </p:nvSpPr>
        <p:spPr>
          <a:xfrm>
            <a:off x="5381620" y="3714752"/>
            <a:ext cx="3929090" cy="500066"/>
          </a:xfrm>
          <a:prstGeom prst="wedgeRoundRectCallout">
            <a:avLst>
              <a:gd name="adj1" fmla="val -67641"/>
              <a:gd name="adj2" fmla="val 4232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The vertex w is </a:t>
            </a:r>
            <a:r>
              <a:rPr lang="en-US" altLang="zh-CN" dirty="0">
                <a:solidFill>
                  <a:srgbClr val="FF0000"/>
                </a:solidFill>
              </a:rPr>
              <a:t>undiscovered</a:t>
            </a:r>
            <a:r>
              <a:rPr lang="en-US" altLang="zh-CN" dirty="0">
                <a:solidFill>
                  <a:schemeClr val="tx1"/>
                </a:solidFill>
              </a:rPr>
              <a:t> before</a:t>
            </a:r>
            <a:endParaRPr lang="zh-CN" altLang="en-US" dirty="0">
              <a:solidFill>
                <a:schemeClr val="tx1"/>
              </a:solidFill>
            </a:endParaRPr>
          </a:p>
        </p:txBody>
      </p:sp>
      <p:sp>
        <p:nvSpPr>
          <p:cNvPr id="7" name="圆角矩形标注 6"/>
          <p:cNvSpPr/>
          <p:nvPr/>
        </p:nvSpPr>
        <p:spPr>
          <a:xfrm>
            <a:off x="6238876" y="4714884"/>
            <a:ext cx="3929090" cy="500066"/>
          </a:xfrm>
          <a:prstGeom prst="wedgeRoundRectCallout">
            <a:avLst>
              <a:gd name="adj1" fmla="val -70049"/>
              <a:gd name="adj2" fmla="val 2971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The vertex w is </a:t>
            </a:r>
            <a:r>
              <a:rPr lang="en-US" altLang="zh-CN" dirty="0">
                <a:solidFill>
                  <a:srgbClr val="FF0000"/>
                </a:solidFill>
              </a:rPr>
              <a:t>discovering</a:t>
            </a:r>
            <a:endParaRPr lang="zh-CN" altLang="en-US" dirty="0">
              <a:solidFill>
                <a:schemeClr val="tx1"/>
              </a:solidFill>
            </a:endParaRPr>
          </a:p>
        </p:txBody>
      </p:sp>
      <p:sp>
        <p:nvSpPr>
          <p:cNvPr id="8" name="圆角矩形标注 7"/>
          <p:cNvSpPr/>
          <p:nvPr/>
        </p:nvSpPr>
        <p:spPr>
          <a:xfrm>
            <a:off x="6096000" y="5643578"/>
            <a:ext cx="3929090" cy="500066"/>
          </a:xfrm>
          <a:prstGeom prst="wedgeRoundRectCallout">
            <a:avLst>
              <a:gd name="adj1" fmla="val -97333"/>
              <a:gd name="adj2" fmla="val -1442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The vertex w is </a:t>
            </a:r>
            <a:r>
              <a:rPr lang="en-US" altLang="zh-CN" dirty="0">
                <a:solidFill>
                  <a:srgbClr val="FF0000"/>
                </a:solidFill>
              </a:rPr>
              <a:t>processed</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Finding Paths</a:t>
            </a:r>
            <a:endParaRPr lang="zh-CN" altLang="en-US" dirty="0"/>
          </a:p>
        </p:txBody>
      </p:sp>
      <p:sp>
        <p:nvSpPr>
          <p:cNvPr id="3" name="内容占位符 2"/>
          <p:cNvSpPr>
            <a:spLocks noGrp="1"/>
          </p:cNvSpPr>
          <p:nvPr>
            <p:ph idx="1"/>
          </p:nvPr>
        </p:nvSpPr>
        <p:spPr/>
        <p:txBody>
          <a:bodyPr/>
          <a:lstStyle/>
          <a:p>
            <a:pPr eaLnBrk="1" hangingPunct="1"/>
            <a:r>
              <a:rPr lang="en-US" altLang="zh-CN" dirty="0" smtClean="0"/>
              <a:t>The </a:t>
            </a:r>
            <a:r>
              <a:rPr lang="en-US" altLang="zh-CN" dirty="0" smtClean="0">
                <a:solidFill>
                  <a:schemeClr val="hlink"/>
                </a:solidFill>
              </a:rPr>
              <a:t>parent array</a:t>
            </a:r>
            <a:r>
              <a:rPr lang="en-US" altLang="zh-CN" dirty="0" smtClean="0"/>
              <a:t> set within BFS() is very useful for finding interesting paths through a graph.</a:t>
            </a:r>
          </a:p>
          <a:p>
            <a:pPr eaLnBrk="1" hangingPunct="1"/>
            <a:r>
              <a:rPr lang="en-US" altLang="zh-CN" dirty="0" smtClean="0"/>
              <a:t>The vertex which </a:t>
            </a:r>
            <a:r>
              <a:rPr lang="en-US" altLang="zh-CN" dirty="0" smtClean="0">
                <a:solidFill>
                  <a:schemeClr val="hlink"/>
                </a:solidFill>
              </a:rPr>
              <a:t>discovered</a:t>
            </a:r>
            <a:r>
              <a:rPr lang="en-US" altLang="zh-CN" dirty="0" smtClean="0"/>
              <a:t> vertex </a:t>
            </a:r>
            <a:r>
              <a:rPr lang="en-US" altLang="zh-CN" i="1" dirty="0" err="1" smtClean="0">
                <a:latin typeface="Courier New" pitchFamily="49" charset="0"/>
              </a:rPr>
              <a:t>i</a:t>
            </a:r>
            <a:r>
              <a:rPr lang="en-US" altLang="zh-CN" dirty="0" smtClean="0"/>
              <a:t> is defined as parent[</a:t>
            </a:r>
            <a:r>
              <a:rPr lang="en-US" altLang="zh-CN" i="1" dirty="0" err="1" smtClean="0">
                <a:latin typeface="Courier New" pitchFamily="49" charset="0"/>
              </a:rPr>
              <a:t>i</a:t>
            </a:r>
            <a:r>
              <a:rPr lang="en-US" altLang="zh-CN" dirty="0" smtClean="0"/>
              <a:t>].</a:t>
            </a:r>
          </a:p>
          <a:p>
            <a:pPr eaLnBrk="1" hangingPunct="1"/>
            <a:r>
              <a:rPr lang="en-US" altLang="zh-CN" dirty="0" smtClean="0"/>
              <a:t>The parent relation defines a tree of discovery with the initial search node as the root of the tree.</a:t>
            </a:r>
            <a:endParaRPr lang="zh-CN" altLang="en-US" dirty="0" smtClean="0"/>
          </a:p>
          <a:p>
            <a:endParaRPr lang="zh-CN" altLang="en-US" dirty="0"/>
          </a:p>
        </p:txBody>
      </p:sp>
      <p:pic>
        <p:nvPicPr>
          <p:cNvPr id="4" name="Picture 2"/>
          <p:cNvPicPr>
            <a:picLocks noChangeAspect="1" noChangeArrowheads="1"/>
          </p:cNvPicPr>
          <p:nvPr/>
        </p:nvPicPr>
        <p:blipFill>
          <a:blip r:embed="rId2" cstate="print"/>
          <a:srcRect/>
          <a:stretch>
            <a:fillRect/>
          </a:stretch>
        </p:blipFill>
        <p:spPr bwMode="auto">
          <a:xfrm>
            <a:off x="1952596" y="3429001"/>
            <a:ext cx="3286148" cy="2862129"/>
          </a:xfrm>
          <a:prstGeom prst="rect">
            <a:avLst/>
          </a:prstGeom>
          <a:noFill/>
          <a:ln w="9525">
            <a:noFill/>
            <a:miter lim="800000"/>
            <a:headEnd/>
            <a:tailEnd/>
          </a:ln>
          <a:effectLst/>
        </p:spPr>
      </p:pic>
      <p:graphicFrame>
        <p:nvGraphicFramePr>
          <p:cNvPr id="5" name="Group 157"/>
          <p:cNvGraphicFramePr>
            <a:graphicFrameLocks/>
          </p:cNvGraphicFramePr>
          <p:nvPr/>
        </p:nvGraphicFramePr>
        <p:xfrm>
          <a:off x="5595935" y="3857629"/>
          <a:ext cx="4107155" cy="1925647"/>
        </p:xfrm>
        <a:graphic>
          <a:graphicData uri="http://schemas.openxmlformats.org/drawingml/2006/table">
            <a:tbl>
              <a:tblPr/>
              <a:tblGrid>
                <a:gridCol w="1008380">
                  <a:extLst>
                    <a:ext uri="{9D8B030D-6E8A-4147-A177-3AD203B41FA5}">
                      <a16:colId xmlns:a16="http://schemas.microsoft.com/office/drawing/2014/main" val="20000"/>
                    </a:ext>
                  </a:extLst>
                </a:gridCol>
                <a:gridCol w="500380">
                  <a:extLst>
                    <a:ext uri="{9D8B030D-6E8A-4147-A177-3AD203B41FA5}">
                      <a16:colId xmlns:a16="http://schemas.microsoft.com/office/drawing/2014/main" val="20001"/>
                    </a:ext>
                  </a:extLst>
                </a:gridCol>
                <a:gridCol w="360353">
                  <a:extLst>
                    <a:ext uri="{9D8B030D-6E8A-4147-A177-3AD203B41FA5}">
                      <a16:colId xmlns:a16="http://schemas.microsoft.com/office/drawing/2014/main" val="20002"/>
                    </a:ext>
                  </a:extLst>
                </a:gridCol>
                <a:gridCol w="294067">
                  <a:extLst>
                    <a:ext uri="{9D8B030D-6E8A-4147-A177-3AD203B41FA5}">
                      <a16:colId xmlns:a16="http://schemas.microsoft.com/office/drawing/2014/main" val="20003"/>
                    </a:ext>
                  </a:extLst>
                </a:gridCol>
                <a:gridCol w="324196">
                  <a:extLst>
                    <a:ext uri="{9D8B030D-6E8A-4147-A177-3AD203B41FA5}">
                      <a16:colId xmlns:a16="http://schemas.microsoft.com/office/drawing/2014/main" val="20004"/>
                    </a:ext>
                  </a:extLst>
                </a:gridCol>
                <a:gridCol w="322991">
                  <a:extLst>
                    <a:ext uri="{9D8B030D-6E8A-4147-A177-3AD203B41FA5}">
                      <a16:colId xmlns:a16="http://schemas.microsoft.com/office/drawing/2014/main" val="20005"/>
                    </a:ext>
                  </a:extLst>
                </a:gridCol>
                <a:gridCol w="324197">
                  <a:extLst>
                    <a:ext uri="{9D8B030D-6E8A-4147-A177-3AD203B41FA5}">
                      <a16:colId xmlns:a16="http://schemas.microsoft.com/office/drawing/2014/main" val="20006"/>
                    </a:ext>
                  </a:extLst>
                </a:gridCol>
                <a:gridCol w="324197">
                  <a:extLst>
                    <a:ext uri="{9D8B030D-6E8A-4147-A177-3AD203B41FA5}">
                      <a16:colId xmlns:a16="http://schemas.microsoft.com/office/drawing/2014/main" val="20007"/>
                    </a:ext>
                  </a:extLst>
                </a:gridCol>
                <a:gridCol w="324197">
                  <a:extLst>
                    <a:ext uri="{9D8B030D-6E8A-4147-A177-3AD203B41FA5}">
                      <a16:colId xmlns:a16="http://schemas.microsoft.com/office/drawing/2014/main" val="20008"/>
                    </a:ext>
                  </a:extLst>
                </a:gridCol>
                <a:gridCol w="324197">
                  <a:extLst>
                    <a:ext uri="{9D8B030D-6E8A-4147-A177-3AD203B41FA5}">
                      <a16:colId xmlns:a16="http://schemas.microsoft.com/office/drawing/2014/main" val="20009"/>
                    </a:ext>
                  </a:extLst>
                </a:gridCol>
              </a:tblGrid>
              <a:tr h="655638">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宋体" pitchFamily="2" charset="-122"/>
                          <a:ea typeface="宋体" pitchFamily="2" charset="-122"/>
                        </a:rPr>
                        <a:t>vertex</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mj-ea"/>
                          <a:ea typeface="+mj-ea"/>
                        </a:rPr>
                        <a:t>A</a:t>
                      </a:r>
                      <a:endParaRPr kumimoji="1" lang="en-US" altLang="zh-CN" sz="2000" b="0" i="0" u="none" strike="noStrike" cap="none" normalizeH="0" baseline="0" dirty="0" smtClean="0">
                        <a:ln>
                          <a:noFill/>
                        </a:ln>
                        <a:solidFill>
                          <a:schemeClr val="tx1"/>
                        </a:solidFill>
                        <a:effectLst/>
                        <a:latin typeface="+mj-ea"/>
                        <a:ea typeface="+mj-ea"/>
                      </a:endParaRP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mj-ea"/>
                          <a:ea typeface="+mj-ea"/>
                        </a:rPr>
                        <a:t>B</a:t>
                      </a:r>
                      <a:endParaRPr kumimoji="1" lang="en-US" altLang="zh-CN" sz="2000" b="0" i="0" u="none" strike="noStrike" cap="none" normalizeH="0" baseline="0" dirty="0" smtClean="0">
                        <a:ln>
                          <a:noFill/>
                        </a:ln>
                        <a:solidFill>
                          <a:schemeClr val="tx1"/>
                        </a:solidFill>
                        <a:effectLst/>
                        <a:latin typeface="+mj-ea"/>
                        <a:ea typeface="+mj-ea"/>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mj-ea"/>
                          <a:ea typeface="+mj-ea"/>
                        </a:rPr>
                        <a:t>C</a:t>
                      </a:r>
                      <a:endParaRPr kumimoji="1" lang="en-US" altLang="zh-CN" sz="2000" b="0" i="0" u="none" strike="noStrike" cap="none" normalizeH="0" baseline="0" dirty="0" smtClean="0">
                        <a:ln>
                          <a:noFill/>
                        </a:ln>
                        <a:solidFill>
                          <a:schemeClr val="tx1"/>
                        </a:solidFill>
                        <a:effectLst/>
                        <a:latin typeface="+mj-ea"/>
                        <a:ea typeface="+mj-ea"/>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mj-ea"/>
                          <a:ea typeface="+mj-ea"/>
                        </a:rPr>
                        <a:t>D</a:t>
                      </a:r>
                      <a:endParaRPr kumimoji="1" lang="en-US" altLang="zh-CN" sz="2000" b="0" i="0" u="none" strike="noStrike" cap="none" normalizeH="0" baseline="0" dirty="0" smtClean="0">
                        <a:ln>
                          <a:noFill/>
                        </a:ln>
                        <a:solidFill>
                          <a:schemeClr val="tx1"/>
                        </a:solidFill>
                        <a:effectLst/>
                        <a:latin typeface="+mj-ea"/>
                        <a:ea typeface="+mj-ea"/>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mj-ea"/>
                          <a:ea typeface="+mj-ea"/>
                        </a:rPr>
                        <a:t>E</a:t>
                      </a:r>
                      <a:endParaRPr kumimoji="1" lang="en-US" altLang="zh-CN" sz="2000" b="0" i="0" u="none" strike="noStrike" cap="none" normalizeH="0" baseline="0" dirty="0" smtClean="0">
                        <a:ln>
                          <a:noFill/>
                        </a:ln>
                        <a:solidFill>
                          <a:schemeClr val="tx1"/>
                        </a:solidFill>
                        <a:effectLst/>
                        <a:latin typeface="+mj-ea"/>
                        <a:ea typeface="+mj-ea"/>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mj-ea"/>
                          <a:ea typeface="+mj-ea"/>
                        </a:rPr>
                        <a:t>F</a:t>
                      </a:r>
                      <a:endParaRPr kumimoji="1" lang="en-US" altLang="zh-CN" sz="2000" b="0" i="0" u="none" strike="noStrike" cap="none" normalizeH="0" baseline="0" dirty="0" smtClean="0">
                        <a:ln>
                          <a:noFill/>
                        </a:ln>
                        <a:solidFill>
                          <a:schemeClr val="tx1"/>
                        </a:solidFill>
                        <a:effectLst/>
                        <a:latin typeface="+mj-ea"/>
                        <a:ea typeface="+mj-ea"/>
                      </a:endParaRP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G</a:t>
                      </a: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H</a:t>
                      </a: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I</a:t>
                      </a: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630246">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Index</a:t>
                      </a: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1</a:t>
                      </a: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2</a:t>
                      </a: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3</a:t>
                      </a: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4</a:t>
                      </a: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5</a:t>
                      </a: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6</a:t>
                      </a: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7</a:t>
                      </a: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8</a:t>
                      </a: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9</a:t>
                      </a: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639763">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rgbClr val="000000"/>
                          </a:solidFill>
                          <a:effectLst/>
                          <a:latin typeface="宋体" pitchFamily="2" charset="-122"/>
                          <a:ea typeface="宋体" pitchFamily="2" charset="-122"/>
                        </a:rPr>
                        <a:t>parent</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rgbClr val="000000"/>
                          </a:solidFill>
                          <a:effectLst/>
                          <a:latin typeface="宋体" pitchFamily="2" charset="-122"/>
                          <a:ea typeface="宋体" pitchFamily="2" charset="-122"/>
                        </a:rPr>
                        <a:t>-1</a:t>
                      </a:r>
                      <a:endParaRPr kumimoji="1" lang="en-US" altLang="zh-CN" sz="2400" b="0"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宋体" pitchFamily="2" charset="-122"/>
                          <a:ea typeface="宋体" pitchFamily="2" charset="-122"/>
                        </a:rPr>
                        <a:t>1</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宋体" pitchFamily="2" charset="-122"/>
                          <a:ea typeface="宋体" pitchFamily="2" charset="-122"/>
                        </a:rPr>
                        <a:t>2</a:t>
                      </a:r>
                      <a:endPar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rgbClr val="000000"/>
                          </a:solidFill>
                          <a:effectLst/>
                          <a:latin typeface="+mj-ea"/>
                          <a:ea typeface="+mj-ea"/>
                        </a:rPr>
                        <a:t>3</a:t>
                      </a:r>
                      <a:endParaRPr kumimoji="1" lang="en-US" altLang="zh-CN" sz="2000" b="0" i="0" u="none" strike="noStrike" cap="none" normalizeH="0" baseline="0" dirty="0" smtClean="0">
                        <a:ln>
                          <a:noFill/>
                        </a:ln>
                        <a:solidFill>
                          <a:schemeClr val="tx1"/>
                        </a:solidFill>
                        <a:effectLst/>
                        <a:latin typeface="+mj-ea"/>
                        <a:ea typeface="+mj-ea"/>
                      </a:endParaRP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5</a:t>
                      </a: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6</a:t>
                      </a: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tc>
                  <a:txBody>
                    <a:bodyPr/>
                    <a:lstStyle/>
                    <a:p>
                      <a:pPr marL="342900" marR="0" lvl="0" indent="-342900" algn="r" defTabSz="914400" rtl="0" eaLnBrk="1" fontAlgn="ctr" latinLnBrk="0" hangingPunct="1">
                        <a:lnSpc>
                          <a:spcPct val="100000"/>
                        </a:lnSpc>
                        <a:spcBef>
                          <a:spcPct val="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mj-ea"/>
                          <a:ea typeface="+mj-ea"/>
                        </a:rPr>
                        <a:t>8</a:t>
                      </a:r>
                    </a:p>
                  </a:txBody>
                  <a:tcPr anchor="ctr" horzOverflow="overflow">
                    <a:lnL>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solidFill>
                      <a:srgbClr val="FFFF00"/>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BFS Application</a:t>
            </a:r>
            <a:endParaRPr lang="zh-CN" altLang="en-US" dirty="0"/>
          </a:p>
        </p:txBody>
      </p:sp>
      <p:sp>
        <p:nvSpPr>
          <p:cNvPr id="3" name="内容占位符 2"/>
          <p:cNvSpPr>
            <a:spLocks noGrp="1"/>
          </p:cNvSpPr>
          <p:nvPr>
            <p:ph idx="1"/>
          </p:nvPr>
        </p:nvSpPr>
        <p:spPr/>
        <p:txBody>
          <a:bodyPr/>
          <a:lstStyle/>
          <a:p>
            <a:r>
              <a:rPr lang="en-US" altLang="zh-CN" dirty="0" smtClean="0">
                <a:solidFill>
                  <a:srgbClr val="FF0000"/>
                </a:solidFill>
              </a:rPr>
              <a:t>Shortest Paths in </a:t>
            </a:r>
            <a:r>
              <a:rPr lang="en-US" altLang="zh-CN" dirty="0" err="1" smtClean="0">
                <a:solidFill>
                  <a:srgbClr val="FF0000"/>
                </a:solidFill>
              </a:rPr>
              <a:t>Unweighted</a:t>
            </a:r>
            <a:r>
              <a:rPr lang="en-US" altLang="zh-CN" dirty="0" smtClean="0">
                <a:solidFill>
                  <a:srgbClr val="FF0000"/>
                </a:solidFill>
              </a:rPr>
              <a:t> Graph</a:t>
            </a:r>
          </a:p>
          <a:p>
            <a:pPr eaLnBrk="1" hangingPunct="1"/>
            <a:r>
              <a:rPr lang="en-US" altLang="zh-CN" sz="2200" dirty="0"/>
              <a:t>In BFS, vertices are discovered in the order of increasing distance from the root, so this tree has a very important property.</a:t>
            </a:r>
          </a:p>
          <a:p>
            <a:pPr eaLnBrk="1" hangingPunct="1"/>
            <a:r>
              <a:rPr lang="en-US" altLang="zh-CN" sz="2200" dirty="0"/>
              <a:t>The unique tree path from the root to any node </a:t>
            </a:r>
            <a:r>
              <a:rPr lang="en-US" altLang="zh-CN" sz="2200" dirty="0" err="1"/>
              <a:t>x</a:t>
            </a:r>
            <a:r>
              <a:rPr lang="en-US" altLang="en-US" sz="2200" dirty="0" err="1"/>
              <a:t>∈</a:t>
            </a:r>
            <a:r>
              <a:rPr lang="en-US" altLang="zh-CN" sz="2200" dirty="0" err="1"/>
              <a:t>V</a:t>
            </a:r>
            <a:r>
              <a:rPr lang="en-US" altLang="zh-CN" sz="2200" dirty="0"/>
              <a:t> uses the smallest number of edges (or equivalently, intermediate nodes) possible on any root-to-x path in the graph.</a:t>
            </a:r>
          </a:p>
        </p:txBody>
      </p:sp>
      <p:pic>
        <p:nvPicPr>
          <p:cNvPr id="7" name="图片 6"/>
          <p:cNvPicPr>
            <a:picLocks noChangeAspect="1"/>
          </p:cNvPicPr>
          <p:nvPr/>
        </p:nvPicPr>
        <p:blipFill>
          <a:blip r:embed="rId2"/>
          <a:stretch>
            <a:fillRect/>
          </a:stretch>
        </p:blipFill>
        <p:spPr>
          <a:xfrm>
            <a:off x="1775520" y="2996951"/>
            <a:ext cx="3168352" cy="3515167"/>
          </a:xfrm>
          <a:prstGeom prst="rect">
            <a:avLst/>
          </a:prstGeom>
        </p:spPr>
      </p:pic>
      <p:sp>
        <p:nvSpPr>
          <p:cNvPr id="5" name="矩形标注 4"/>
          <p:cNvSpPr/>
          <p:nvPr/>
        </p:nvSpPr>
        <p:spPr>
          <a:xfrm>
            <a:off x="5735960" y="3140968"/>
            <a:ext cx="3816424" cy="1224136"/>
          </a:xfrm>
          <a:prstGeom prst="wedgeRectCallout">
            <a:avLst>
              <a:gd name="adj1" fmla="val -93625"/>
              <a:gd name="adj2" fmla="val -154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smtClean="0">
                <a:solidFill>
                  <a:schemeClr val="tx2"/>
                </a:solidFill>
              </a:rPr>
              <a:t>d[v]: level of v</a:t>
            </a:r>
          </a:p>
          <a:p>
            <a:endParaRPr lang="en-US" altLang="zh-CN" b="1" dirty="0">
              <a:solidFill>
                <a:schemeClr val="tx2"/>
              </a:solidFill>
            </a:endParaRPr>
          </a:p>
          <a:p>
            <a:r>
              <a:rPr lang="en-US" altLang="zh-CN" b="1" dirty="0" smtClean="0">
                <a:solidFill>
                  <a:schemeClr val="tx2"/>
                </a:solidFill>
              </a:rPr>
              <a:t>trace parent[] to discover a path from the root to a node</a:t>
            </a:r>
            <a:endParaRPr lang="zh-CN" altLang="en-US" b="1" dirty="0">
              <a:solidFill>
                <a:schemeClr val="tx2"/>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BFS Application</a:t>
            </a:r>
            <a:endParaRPr lang="zh-CN" altLang="en-US" dirty="0"/>
          </a:p>
        </p:txBody>
      </p:sp>
      <p:sp>
        <p:nvSpPr>
          <p:cNvPr id="3" name="内容占位符 2"/>
          <p:cNvSpPr>
            <a:spLocks noGrp="1"/>
          </p:cNvSpPr>
          <p:nvPr>
            <p:ph idx="1"/>
          </p:nvPr>
        </p:nvSpPr>
        <p:spPr/>
        <p:txBody>
          <a:bodyPr/>
          <a:lstStyle/>
          <a:p>
            <a:r>
              <a:rPr lang="en-US" altLang="zh-CN" dirty="0" smtClean="0"/>
              <a:t>Connected Components</a:t>
            </a:r>
          </a:p>
          <a:p>
            <a:pPr eaLnBrk="1" hangingPunct="1">
              <a:lnSpc>
                <a:spcPct val="90000"/>
              </a:lnSpc>
            </a:pPr>
            <a:r>
              <a:rPr lang="en-US" altLang="zh-CN" dirty="0" smtClean="0"/>
              <a:t>The </a:t>
            </a:r>
            <a:r>
              <a:rPr lang="en-US" altLang="zh-CN" i="1" dirty="0" smtClean="0">
                <a:solidFill>
                  <a:srgbClr val="FF0000"/>
                </a:solidFill>
              </a:rPr>
              <a:t>connected components</a:t>
            </a:r>
            <a:r>
              <a:rPr lang="en-US" altLang="zh-CN" i="1" dirty="0" smtClean="0"/>
              <a:t> </a:t>
            </a:r>
            <a:r>
              <a:rPr lang="en-US" altLang="zh-CN" dirty="0" smtClean="0"/>
              <a:t>of an </a:t>
            </a:r>
            <a:r>
              <a:rPr lang="en-US" altLang="zh-CN" dirty="0" smtClean="0">
                <a:solidFill>
                  <a:srgbClr val="FF0000"/>
                </a:solidFill>
              </a:rPr>
              <a:t>undirected graph</a:t>
            </a:r>
            <a:r>
              <a:rPr lang="en-US" altLang="zh-CN" dirty="0" smtClean="0"/>
              <a:t> are the separate “pieces” of the graph such that there is no connection between the pieces.</a:t>
            </a:r>
          </a:p>
          <a:p>
            <a:pPr eaLnBrk="1" hangingPunct="1">
              <a:lnSpc>
                <a:spcPct val="90000"/>
              </a:lnSpc>
            </a:pPr>
            <a:r>
              <a:rPr lang="en-US" altLang="zh-CN" dirty="0" smtClean="0"/>
              <a:t>Anything we discover during a BFS must be part of the same connected component. We then repeat the search from any undiscovered vertex (if one exists) to define the next component, until all vertices have been found</a:t>
            </a:r>
            <a:r>
              <a:rPr lang="en-US" altLang="zh-CN" dirty="0"/>
              <a:t>.</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881189" y="1357314"/>
            <a:ext cx="8429625" cy="642937"/>
          </a:xfrm>
          <a:prstGeom prst="rect">
            <a:avLst/>
          </a:prstGeom>
        </p:spPr>
        <p:txBody>
          <a:bodyPr/>
          <a:lstStyle/>
          <a:p>
            <a:pPr algn="ctr">
              <a:defRPr/>
            </a:pPr>
            <a:r>
              <a:rPr lang="en-US" altLang="zh-CN" sz="4400" kern="0" dirty="0">
                <a:solidFill>
                  <a:schemeClr val="tx2"/>
                </a:solidFill>
                <a:latin typeface="+mj-lt"/>
                <a:ea typeface="+mj-ea"/>
                <a:cs typeface="+mj-cs"/>
              </a:rPr>
              <a:t>Thank you!</a:t>
            </a:r>
          </a:p>
        </p:txBody>
      </p:sp>
      <p:pic>
        <p:nvPicPr>
          <p:cNvPr id="5" name="Picture 4"/>
          <p:cNvPicPr>
            <a:picLocks noChangeAspect="1" noChangeArrowheads="1"/>
          </p:cNvPicPr>
          <p:nvPr/>
        </p:nvPicPr>
        <p:blipFill>
          <a:blip r:embed="rId2" cstate="print"/>
          <a:srcRect/>
          <a:stretch>
            <a:fillRect/>
          </a:stretch>
        </p:blipFill>
        <p:spPr bwMode="auto">
          <a:xfrm>
            <a:off x="3738563" y="2714625"/>
            <a:ext cx="4868862" cy="3143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2_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9437</TotalTime>
  <Words>1966</Words>
  <Application>Microsoft Office PowerPoint</Application>
  <PresentationFormat>宽屏</PresentationFormat>
  <Paragraphs>225</Paragraphs>
  <Slides>29</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40" baseType="lpstr">
      <vt:lpstr>黑体</vt:lpstr>
      <vt:lpstr>楷体_GB2312</vt:lpstr>
      <vt:lpstr>宋体</vt:lpstr>
      <vt:lpstr>Arial</vt:lpstr>
      <vt:lpstr>Arial Black</vt:lpstr>
      <vt:lpstr>Calibri</vt:lpstr>
      <vt:lpstr>Courier New</vt:lpstr>
      <vt:lpstr>Times New Roman</vt:lpstr>
      <vt:lpstr>Wingdings</vt:lpstr>
      <vt:lpstr>2_Studio</vt:lpstr>
      <vt:lpstr>Image</vt:lpstr>
      <vt:lpstr>Lecture 19 Graphs (I)</vt:lpstr>
      <vt:lpstr>Graphs: Definitions</vt:lpstr>
      <vt:lpstr>Examples of Graphs</vt:lpstr>
      <vt:lpstr>Graphs: Definitions</vt:lpstr>
      <vt:lpstr>Graphs: Definitions</vt:lpstr>
      <vt:lpstr>Examples of Graphs</vt:lpstr>
      <vt:lpstr>Graphs: Definitions</vt:lpstr>
      <vt:lpstr>Graphs: Definitions</vt:lpstr>
      <vt:lpstr>Graph Representations</vt:lpstr>
      <vt:lpstr> Adjacency Matrix Representation </vt:lpstr>
      <vt:lpstr> Adjacency Matrix Representation </vt:lpstr>
      <vt:lpstr> Adjacency List Representation</vt:lpstr>
      <vt:lpstr> Adjacency List Representation</vt:lpstr>
      <vt:lpstr> Adjacency List Representation</vt:lpstr>
      <vt:lpstr>Adjacency List Representation</vt:lpstr>
      <vt:lpstr>Analysis of Adjacency List Representation</vt:lpstr>
      <vt:lpstr>Comparisons between Adjacency Lists and Matrices</vt:lpstr>
      <vt:lpstr>Graph Traversal</vt:lpstr>
      <vt:lpstr>Depth-first Traversal</vt:lpstr>
      <vt:lpstr>Depth-first Traversal</vt:lpstr>
      <vt:lpstr>Depth-first Traversal</vt:lpstr>
      <vt:lpstr>Marking Vertices</vt:lpstr>
      <vt:lpstr>Breadth-first Traversal</vt:lpstr>
      <vt:lpstr>Breadth-first Traversal</vt:lpstr>
      <vt:lpstr>Breadth-first Traversal</vt:lpstr>
      <vt:lpstr>Finding Paths</vt:lpstr>
      <vt:lpstr>BFS Application</vt:lpstr>
      <vt:lpstr>BFS Application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ZZZ</dc:creator>
  <cp:lastModifiedBy>zzz</cp:lastModifiedBy>
  <cp:revision>1140</cp:revision>
  <dcterms:created xsi:type="dcterms:W3CDTF">2014-09-15T06:27:30Z</dcterms:created>
  <dcterms:modified xsi:type="dcterms:W3CDTF">2025-12-02T06:54:51Z</dcterms:modified>
</cp:coreProperties>
</file>